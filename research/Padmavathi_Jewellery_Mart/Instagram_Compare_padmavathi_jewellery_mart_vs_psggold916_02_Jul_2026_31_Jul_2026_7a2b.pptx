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88952" cy="6858000"/>
  <p:notesSz cx="6858000" cy="12188952"/>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88952" cy="6858000"/>
          </a:xfrm>
          <a:prstGeom prst="rect">
            <a:avLst/>
          </a:prstGeom>
        </p:spPr>
      </p:pic>
      <p:sp>
        <p:nvSpPr>
          <p:cNvPr id="3" name="Text 0"/>
          <p:cNvSpPr/>
          <p:nvPr/>
        </p:nvSpPr>
        <p:spPr>
          <a:xfrm>
            <a:off x="1022094" y="2494926"/>
            <a:ext cx="1455453" cy="126968"/>
          </a:xfrm>
          <a:prstGeom prst="rect">
            <a:avLst/>
          </a:prstGeom>
          <a:ln/>
        </p:spPr>
        <p:txBody>
          <a:bodyPr wrap="none" lIns="0" tIns="0" rIns="0" bIns="0" rtlCol="0" anchor="t"/>
          <a:lstStyle/>
          <a:p>
            <a:pPr algn="l" indent="0" marL="0">
              <a:lnSpc>
                <a:spcPct val="100000"/>
              </a:lnSpc>
              <a:buNone/>
            </a:pPr>
            <a:r>
              <a:rPr lang="en-US" sz="800" dirty="0">
                <a:solidFill>
                  <a:srgbClr val="6D57F6"/>
                </a:solidFill>
                <a:latin typeface="Inter" pitchFamily="34" charset="0"/>
                <a:ea typeface="Inter" pitchFamily="34" charset="-122"/>
                <a:cs typeface="Inter" pitchFamily="34" charset="-120"/>
              </a:rPr>
              <a:t>INSTAGRAM COMPARE</a:t>
            </a:r>
            <a:endParaRPr lang="en-US" sz="800" dirty="0"/>
          </a:p>
        </p:txBody>
      </p:sp>
      <p:sp>
        <p:nvSpPr>
          <p:cNvPr id="4" name="Text 1"/>
          <p:cNvSpPr/>
          <p:nvPr/>
        </p:nvSpPr>
        <p:spPr>
          <a:xfrm>
            <a:off x="933217" y="2856786"/>
            <a:ext cx="3916971" cy="1022094"/>
          </a:xfrm>
          <a:prstGeom prst="rect">
            <a:avLst/>
          </a:prstGeom>
          <a:ln/>
        </p:spPr>
        <p:txBody>
          <a:bodyPr wrap="square" lIns="0" tIns="0" rIns="0" bIns="0" rtlCol="0" anchor="t"/>
          <a:lstStyle/>
          <a:p>
            <a:pPr algn="l" indent="0" marL="0">
              <a:lnSpc>
                <a:spcPct val="100000"/>
              </a:lnSpc>
              <a:buNone/>
            </a:pPr>
            <a:r>
              <a:rPr lang="en-US" sz="3599" b="1" dirty="0">
                <a:solidFill>
                  <a:srgbClr val="FFFFFF"/>
                </a:solidFill>
                <a:latin typeface="Inter" pitchFamily="34" charset="0"/>
                <a:ea typeface="Inter" pitchFamily="34" charset="-122"/>
                <a:cs typeface="Inter" pitchFamily="34" charset="-120"/>
              </a:rPr>
              <a:t>Instagram Compare Report</a:t>
            </a:r>
            <a:endParaRPr lang="en-US" sz="3599" dirty="0"/>
          </a:p>
        </p:txBody>
      </p:sp>
      <p:sp>
        <p:nvSpPr>
          <p:cNvPr id="5" name="Text 2"/>
          <p:cNvSpPr/>
          <p:nvPr/>
        </p:nvSpPr>
        <p:spPr>
          <a:xfrm>
            <a:off x="253937" y="6399200"/>
            <a:ext cx="595697"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BRAND</a:t>
            </a:r>
            <a:endParaRPr lang="en-US" sz="1000" dirty="0"/>
          </a:p>
        </p:txBody>
      </p:sp>
      <p:sp>
        <p:nvSpPr>
          <p:cNvPr id="6" name="Text 3"/>
          <p:cNvSpPr/>
          <p:nvPr/>
        </p:nvSpPr>
        <p:spPr>
          <a:xfrm>
            <a:off x="253937" y="6589652"/>
            <a:ext cx="2898670" cy="152362"/>
          </a:xfrm>
          <a:prstGeom prst="rect">
            <a:avLst/>
          </a:prstGeom>
          <a:ln/>
        </p:spPr>
        <p:txBody>
          <a:bodyPr wrap="none" lIns="0" tIns="0" rIns="0" bIns="0" rtlCol="0" anchor="t"/>
          <a:lstStyle/>
          <a:p>
            <a:pPr algn="l" indent="0" marL="0">
              <a:lnSpc>
                <a:spcPct val="100000"/>
              </a:lnSpc>
              <a:buNone/>
            </a:pPr>
            <a:r>
              <a:rPr lang="en-US" sz="1000" dirty="0">
                <a:solidFill>
                  <a:srgbClr val="DDDCED"/>
                </a:solidFill>
                <a:latin typeface="Inter" pitchFamily="34" charset="0"/>
                <a:ea typeface="Inter" pitchFamily="34" charset="-122"/>
                <a:cs typeface="Inter" pitchFamily="34" charset="-120"/>
              </a:rPr>
              <a:t>@padmavathi_jewellery_mart • @psggold916</a:t>
            </a:r>
            <a:endParaRPr lang="en-US" sz="1000" dirty="0"/>
          </a:p>
        </p:txBody>
      </p:sp>
      <p:sp>
        <p:nvSpPr>
          <p:cNvPr id="7" name="Text 4"/>
          <p:cNvSpPr/>
          <p:nvPr/>
        </p:nvSpPr>
        <p:spPr>
          <a:xfrm>
            <a:off x="3305043" y="6399200"/>
            <a:ext cx="692399"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PERIOD</a:t>
            </a:r>
            <a:endParaRPr lang="en-US" sz="1000" dirty="0"/>
          </a:p>
        </p:txBody>
      </p:sp>
      <p:sp>
        <p:nvSpPr>
          <p:cNvPr id="8" name="Text 5"/>
          <p:cNvSpPr/>
          <p:nvPr/>
        </p:nvSpPr>
        <p:spPr>
          <a:xfrm>
            <a:off x="3305043" y="6589652"/>
            <a:ext cx="1706297" cy="152362"/>
          </a:xfrm>
          <a:prstGeom prst="rect">
            <a:avLst/>
          </a:prstGeom>
          <a:ln/>
        </p:spPr>
        <p:txBody>
          <a:bodyPr wrap="none" lIns="0" tIns="0" rIns="0" bIns="0" rtlCol="0" anchor="t"/>
          <a:lstStyle/>
          <a:p>
            <a:pPr algn="l" indent="0" marL="0">
              <a:lnSpc>
                <a:spcPct val="100000"/>
              </a:lnSpc>
              <a:buNone/>
            </a:pPr>
            <a:r>
              <a:rPr lang="en-US" sz="1000" dirty="0">
                <a:solidFill>
                  <a:srgbClr val="DDDCED"/>
                </a:solidFill>
                <a:latin typeface="Inter" pitchFamily="34" charset="0"/>
                <a:ea typeface="Inter" pitchFamily="34" charset="-122"/>
                <a:cs typeface="Inter" pitchFamily="34" charset="-120"/>
              </a:rPr>
              <a:t>02 Jul 2026 - 31 Jul 2026</a:t>
            </a:r>
            <a:endParaRPr lang="en-US" sz="1000" dirty="0"/>
          </a:p>
        </p:txBody>
      </p:sp>
      <p:sp>
        <p:nvSpPr>
          <p:cNvPr id="9" name="Text 6"/>
          <p:cNvSpPr/>
          <p:nvPr/>
        </p:nvSpPr>
        <p:spPr>
          <a:xfrm>
            <a:off x="5163739" y="6399200"/>
            <a:ext cx="1726235"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COMPARISON PERIOD</a:t>
            </a:r>
            <a:endParaRPr lang="en-US" sz="1000" dirty="0"/>
          </a:p>
        </p:txBody>
      </p:sp>
      <p:sp>
        <p:nvSpPr>
          <p:cNvPr id="10" name="Text 7"/>
          <p:cNvSpPr/>
          <p:nvPr/>
        </p:nvSpPr>
        <p:spPr>
          <a:xfrm>
            <a:off x="5163739" y="6589652"/>
            <a:ext cx="1589124" cy="152362"/>
          </a:xfrm>
          <a:prstGeom prst="rect">
            <a:avLst/>
          </a:prstGeom>
          <a:ln/>
        </p:spPr>
        <p:txBody>
          <a:bodyPr wrap="none" lIns="0" tIns="0" rIns="0" bIns="0" rtlCol="0" anchor="t"/>
          <a:lstStyle/>
          <a:p>
            <a:pPr algn="l" indent="0" marL="0">
              <a:lnSpc>
                <a:spcPct val="100000"/>
              </a:lnSpc>
              <a:buNone/>
            </a:pPr>
            <a:r>
              <a:rPr lang="en-US" sz="1000" dirty="0">
                <a:solidFill>
                  <a:srgbClr val="DDDCED"/>
                </a:solidFill>
                <a:latin typeface="Inter" pitchFamily="34" charset="0"/>
                <a:ea typeface="Inter" pitchFamily="34" charset="-122"/>
                <a:cs typeface="Inter" pitchFamily="34" charset="-120"/>
              </a:rPr>
              <a:t>2 Jun 2026 - 1 Jul 2026</a:t>
            </a:r>
            <a:endParaRPr lang="en-US" sz="1000" dirty="0"/>
          </a:p>
        </p:txBody>
      </p:sp>
      <p:sp>
        <p:nvSpPr>
          <p:cNvPr id="11" name="Text 8"/>
          <p:cNvSpPr/>
          <p:nvPr/>
        </p:nvSpPr>
        <p:spPr>
          <a:xfrm>
            <a:off x="7042373" y="6399200"/>
            <a:ext cx="859342"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CHANNEL</a:t>
            </a:r>
            <a:endParaRPr lang="en-US" sz="1000" dirty="0"/>
          </a:p>
        </p:txBody>
      </p:sp>
      <p:sp>
        <p:nvSpPr>
          <p:cNvPr id="12" name="Text 9"/>
          <p:cNvSpPr/>
          <p:nvPr/>
        </p:nvSpPr>
        <p:spPr>
          <a:xfrm>
            <a:off x="7042373" y="6589652"/>
            <a:ext cx="759739" cy="152362"/>
          </a:xfrm>
          <a:prstGeom prst="rect">
            <a:avLst/>
          </a:prstGeom>
          <a:ln/>
        </p:spPr>
        <p:txBody>
          <a:bodyPr wrap="none" lIns="0" tIns="0" rIns="0" bIns="0" rtlCol="0" anchor="t"/>
          <a:lstStyle/>
          <a:p>
            <a:pPr algn="l" indent="0" marL="0">
              <a:lnSpc>
                <a:spcPct val="100000"/>
              </a:lnSpc>
              <a:buNone/>
            </a:pPr>
            <a:r>
              <a:rPr lang="en-US" sz="1000" dirty="0">
                <a:solidFill>
                  <a:srgbClr val="DDDCED"/>
                </a:solidFill>
                <a:latin typeface="Inter" pitchFamily="34" charset="0"/>
                <a:ea typeface="Inter" pitchFamily="34" charset="-122"/>
                <a:cs typeface="Inter" pitchFamily="34" charset="-120"/>
              </a:rPr>
              <a:t>Instagram</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88952" cy="6858000"/>
          </a:xfrm>
          <a:prstGeom prst="rect">
            <a:avLst/>
          </a:prstGeom>
        </p:spPr>
      </p:pic>
      <p:sp>
        <p:nvSpPr>
          <p:cNvPr id="3" name="Text 0"/>
          <p:cNvSpPr/>
          <p:nvPr/>
        </p:nvSpPr>
        <p:spPr>
          <a:xfrm>
            <a:off x="342814" y="114271"/>
            <a:ext cx="3071863"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Padmavathi Jewellery mart</a:t>
            </a:r>
            <a:endParaRPr lang="en-US" sz="1800" dirty="0"/>
          </a:p>
        </p:txBody>
      </p:sp>
      <p:sp>
        <p:nvSpPr>
          <p:cNvPr id="4" name="Text 1"/>
          <p:cNvSpPr/>
          <p:nvPr/>
        </p:nvSpPr>
        <p:spPr>
          <a:xfrm>
            <a:off x="4834515" y="114271"/>
            <a:ext cx="2672248"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EXECUTIVE SUMMARY</a:t>
            </a:r>
            <a:endParaRPr lang="en-US" sz="1800" dirty="0"/>
          </a:p>
        </p:txBody>
      </p:sp>
      <p:sp>
        <p:nvSpPr>
          <p:cNvPr id="5" name="Text 2"/>
          <p:cNvSpPr/>
          <p:nvPr/>
        </p:nvSpPr>
        <p:spPr>
          <a:xfrm>
            <a:off x="11543497" y="139665"/>
            <a:ext cx="454965" cy="228543"/>
          </a:xfrm>
          <a:prstGeom prst="rect">
            <a:avLst/>
          </a:prstGeom>
          <a:ln/>
        </p:spPr>
        <p:txBody>
          <a:bodyPr wrap="none" lIns="0" tIns="0" rIns="0" bIns="0" rtlCol="0" anchor="t"/>
          <a:lstStyle/>
          <a:p>
            <a:pPr algn="l" indent="0" marL="0">
              <a:lnSpc>
                <a:spcPct val="100000"/>
              </a:lnSpc>
              <a:buNone/>
            </a:pPr>
            <a:r>
              <a:rPr lang="en-US" sz="1500" dirty="0">
                <a:solidFill>
                  <a:srgbClr val="A8A8B4"/>
                </a:solidFill>
                <a:latin typeface="Inter" pitchFamily="34" charset="0"/>
                <a:ea typeface="Inter" pitchFamily="34" charset="-122"/>
                <a:cs typeface="Inter" pitchFamily="34" charset="-120"/>
              </a:rPr>
              <a:t>2/8</a:t>
            </a:r>
            <a:endParaRPr lang="en-US" sz="1500" dirty="0"/>
          </a:p>
        </p:txBody>
      </p:sp>
      <p:sp>
        <p:nvSpPr>
          <p:cNvPr id="6" name="Text 3"/>
          <p:cNvSpPr/>
          <p:nvPr/>
        </p:nvSpPr>
        <p:spPr>
          <a:xfrm>
            <a:off x="469783" y="1333167"/>
            <a:ext cx="5713571" cy="4088378"/>
          </a:xfrm>
          <a:prstGeom prst="rect">
            <a:avLst/>
          </a:prstGeom>
          <a:ln/>
        </p:spPr>
        <p:txBody>
          <a:bodyPr wrap="square" lIns="0" tIns="0" rIns="0" bIns="0" rtlCol="0" anchor="t"/>
          <a:lstStyle/>
          <a:p>
            <a:pPr algn="l" indent="0" marL="0">
              <a:lnSpc>
                <a:spcPct val="100000"/>
              </a:lnSpc>
              <a:buNone/>
            </a:pPr>
            <a:r>
              <a:rPr lang="en-US" sz="1000" dirty="0">
                <a:solidFill>
                  <a:srgbClr val="DDDCED"/>
                </a:solidFill>
                <a:latin typeface="Inter" pitchFamily="34" charset="0"/>
                <a:ea typeface="Inter" pitchFamily="34" charset="-122"/>
                <a:cs typeface="Inter" pitchFamily="34" charset="-120"/>
              </a:rPr>
              <a:t>This comparison between Padmavathi Jewellery Mart and Psg Gold on Instagram from 02 Jul 2026 to 31 Jul 2026 reveals pronounced differences in audience size and engagement. Psg Gold leads substantially in followers with 1.2 million, dwarfing Padmavathi Jewellery Mart's 563 followers.Despite a slight decline in followers for both, Psg Gold's scale remains overwhelmingly larger, providing it with greater organic reach potential. Regarding publishing volume, Psg Gold posted 237 times, 14.49% more than in the previous period, whereas Padmavathi Jewellery Mart posted only 16 times, an 11.11% decrease.Although Psg Gold posts far more frequently, it achieves a higher average engagement per post at 280.85 compared to Padmavathi Jewellery Mart's 3.5, indicating stronger audience interaction per post despite the frequency. Engagement rates by followers are higher for Padmavathi Jewellery Mart at 0.62% but still much below Psg Gold's massive engagement in absolute terms.In terms of reach and impressions, Psg Gold's average post reach of 23,000 and impressions of 36,400 far exceed Padmavathi Jewellery Mart's figures below 300, signifying Psg Gold's superior content visibility. Both brands experienced declines in total reach and impressions, with Padmavathi Jewellery Mart's decreases being more severe.Overall, Psg Gold sustains a dominant position in follower base, post frequency, engagement, and content reach over this analyzed period.</a:t>
            </a:r>
            <a:endParaRPr lang="en-US" sz="1000" dirty="0"/>
          </a:p>
        </p:txBody>
      </p:sp>
      <p:sp>
        <p:nvSpPr>
          <p:cNvPr id="7" name="Text 4"/>
          <p:cNvSpPr/>
          <p:nvPr/>
        </p:nvSpPr>
        <p:spPr>
          <a:xfrm>
            <a:off x="317421" y="6335716"/>
            <a:ext cx="1433328"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Source: Socialinsider</a:t>
            </a:r>
            <a:endParaRPr lang="en-US" sz="1000" dirty="0"/>
          </a:p>
        </p:txBody>
      </p:sp>
      <p:sp>
        <p:nvSpPr>
          <p:cNvPr id="8" name="Text 5"/>
          <p:cNvSpPr/>
          <p:nvPr/>
        </p:nvSpPr>
        <p:spPr>
          <a:xfrm>
            <a:off x="317421" y="6589652"/>
            <a:ext cx="2443060"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Date range: 02 Jul 2026 - 31 Jul 2026</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88952" cy="6858000"/>
          </a:xfrm>
          <a:prstGeom prst="rect">
            <a:avLst/>
          </a:prstGeom>
        </p:spPr>
      </p:pic>
      <p:sp>
        <p:nvSpPr>
          <p:cNvPr id="3" name="Text 0"/>
          <p:cNvSpPr/>
          <p:nvPr/>
        </p:nvSpPr>
        <p:spPr>
          <a:xfrm>
            <a:off x="11681674" y="104749"/>
            <a:ext cx="456453" cy="228543"/>
          </a:xfrm>
          <a:prstGeom prst="rect">
            <a:avLst/>
          </a:prstGeom>
          <a:ln/>
        </p:spPr>
        <p:txBody>
          <a:bodyPr wrap="none" lIns="0" tIns="0" rIns="0" bIns="0" rtlCol="0" anchor="t"/>
          <a:lstStyle/>
          <a:p>
            <a:pPr algn="l" indent="0" marL="0">
              <a:lnSpc>
                <a:spcPct val="100000"/>
              </a:lnSpc>
              <a:buNone/>
            </a:pPr>
            <a:r>
              <a:rPr lang="en-US" sz="1500" dirty="0">
                <a:solidFill>
                  <a:srgbClr val="5B5B69"/>
                </a:solidFill>
                <a:latin typeface="Inter" pitchFamily="34" charset="0"/>
                <a:ea typeface="Inter" pitchFamily="34" charset="-122"/>
                <a:cs typeface="Inter" pitchFamily="34" charset="-120"/>
              </a:rPr>
              <a:t>3/8</a:t>
            </a:r>
            <a:endParaRPr lang="en-US" sz="1500" dirty="0"/>
          </a:p>
        </p:txBody>
      </p:sp>
      <p:sp>
        <p:nvSpPr>
          <p:cNvPr id="4" name="Text 1"/>
          <p:cNvSpPr/>
          <p:nvPr/>
        </p:nvSpPr>
        <p:spPr>
          <a:xfrm>
            <a:off x="374556" y="1485529"/>
            <a:ext cx="4469282" cy="787203"/>
          </a:xfrm>
          <a:prstGeom prst="rect">
            <a:avLst/>
          </a:prstGeom>
          <a:ln/>
        </p:spPr>
        <p:txBody>
          <a:bodyPr wrap="square" lIns="0" tIns="0" rIns="0" bIns="0" rtlCol="0" anchor="t"/>
          <a:lstStyle/>
          <a:p>
            <a:pPr indent="0" marL="0">
              <a:lnSpc>
                <a:spcPct val="82000"/>
              </a:lnSpc>
              <a:buNone/>
            </a:pPr>
            <a:r>
              <a:rPr lang="en-US" sz="2999" b="1" dirty="0">
                <a:solidFill>
                  <a:srgbClr val="DDDCED"/>
                </a:solidFill>
                <a:latin typeface="Inter" pitchFamily="34" charset="0"/>
                <a:ea typeface="Inter" pitchFamily="34" charset="-122"/>
                <a:cs typeface="Inter" pitchFamily="34" charset="-120"/>
              </a:rPr>
              <a:t>Psg Gold leads on 8 of 10 metrics</a:t>
            </a:r>
            <a:endParaRPr lang="en-US" sz="2999" dirty="0"/>
          </a:p>
        </p:txBody>
      </p:sp>
      <p:sp>
        <p:nvSpPr>
          <p:cNvPr id="5" name="Text 2"/>
          <p:cNvSpPr/>
          <p:nvPr/>
        </p:nvSpPr>
        <p:spPr>
          <a:xfrm>
            <a:off x="374556" y="2463184"/>
            <a:ext cx="1640767" cy="126968"/>
          </a:xfrm>
          <a:prstGeom prst="rect">
            <a:avLst/>
          </a:prstGeom>
          <a:ln/>
        </p:spPr>
        <p:txBody>
          <a:bodyPr wrap="none" lIns="0" tIns="0" rIns="0" bIns="0" rtlCol="0" anchor="t"/>
          <a:lstStyle/>
          <a:p>
            <a:pPr algn="l" indent="0" marL="0">
              <a:lnSpc>
                <a:spcPct val="100000"/>
              </a:lnSpc>
              <a:buNone/>
            </a:pPr>
            <a:r>
              <a:rPr lang="en-US" sz="800" dirty="0">
                <a:solidFill>
                  <a:srgbClr val="DDDCED"/>
                </a:solidFill>
                <a:latin typeface="Inter" pitchFamily="34" charset="0"/>
                <a:ea typeface="Inter" pitchFamily="34" charset="-122"/>
                <a:cs typeface="Inter" pitchFamily="34" charset="-120"/>
              </a:rPr>
              <a:t>PERFORMANCE COMPARISON</a:t>
            </a:r>
            <a:endParaRPr lang="en-US" sz="800" dirty="0"/>
          </a:p>
        </p:txBody>
      </p:sp>
      <p:sp>
        <p:nvSpPr>
          <p:cNvPr id="6" name="Text 3"/>
          <p:cNvSpPr/>
          <p:nvPr/>
        </p:nvSpPr>
        <p:spPr>
          <a:xfrm>
            <a:off x="495176" y="2818695"/>
            <a:ext cx="1219044" cy="95226"/>
          </a:xfrm>
          <a:prstGeom prst="rect">
            <a:avLst/>
          </a:prstGeom>
          <a:ln/>
        </p:spPr>
        <p:txBody>
          <a:bodyPr wrap="none" lIns="0" tIns="0" rIns="0" bIns="0" rtlCol="0" anchor="t"/>
          <a:lstStyle/>
          <a:p>
            <a:pPr algn="l" indent="0" marL="0">
              <a:lnSpc>
                <a:spcPct val="100000"/>
              </a:lnSpc>
              <a:buNone/>
            </a:pPr>
            <a:r>
              <a:rPr lang="en-US" sz="600" dirty="0">
                <a:solidFill>
                  <a:srgbClr val="15803D"/>
                </a:solidFill>
                <a:latin typeface="Inter" pitchFamily="34" charset="0"/>
                <a:ea typeface="Inter" pitchFamily="34" charset="-122"/>
                <a:cs typeface="Inter" pitchFamily="34" charset="-120"/>
              </a:rPr>
              <a:t>Psg Gold • OVERALL LEADER</a:t>
            </a:r>
            <a:endParaRPr lang="en-US" sz="600" dirty="0"/>
          </a:p>
        </p:txBody>
      </p:sp>
      <p:sp>
        <p:nvSpPr>
          <p:cNvPr id="7" name="Text 4"/>
          <p:cNvSpPr/>
          <p:nvPr/>
        </p:nvSpPr>
        <p:spPr>
          <a:xfrm>
            <a:off x="533267" y="3459885"/>
            <a:ext cx="1753898" cy="126968"/>
          </a:xfrm>
          <a:prstGeom prst="rect">
            <a:avLst/>
          </a:prstGeom>
          <a:ln/>
        </p:spPr>
        <p:txBody>
          <a:bodyPr wrap="none" lIns="0" tIns="0" rIns="0" bIns="0" rtlCol="0" anchor="t"/>
          <a:lstStyle/>
          <a:p>
            <a:pPr algn="l" indent="0" marL="0">
              <a:lnSpc>
                <a:spcPct val="100000"/>
              </a:lnSpc>
              <a:buNone/>
            </a:pPr>
            <a:r>
              <a:rPr lang="en-US" sz="800" dirty="0">
                <a:solidFill>
                  <a:srgbClr val="DDDCED"/>
                </a:solidFill>
                <a:latin typeface="Inter" pitchFamily="34" charset="0"/>
                <a:ea typeface="Inter" pitchFamily="34" charset="-122"/>
                <a:cs typeface="Inter" pitchFamily="34" charset="-120"/>
              </a:rPr>
              <a:t>PADMAVATHI JEWELLERY MART</a:t>
            </a:r>
            <a:endParaRPr lang="en-US" sz="800" dirty="0"/>
          </a:p>
        </p:txBody>
      </p:sp>
      <p:sp>
        <p:nvSpPr>
          <p:cNvPr id="8" name="Text 5"/>
          <p:cNvSpPr/>
          <p:nvPr/>
        </p:nvSpPr>
        <p:spPr>
          <a:xfrm>
            <a:off x="709237" y="3777305"/>
            <a:ext cx="365356" cy="184104"/>
          </a:xfrm>
          <a:prstGeom prst="rect">
            <a:avLst/>
          </a:prstGeom>
          <a:ln/>
        </p:spPr>
        <p:txBody>
          <a:bodyPr wrap="none" lIns="0" tIns="0" rIns="0" bIns="0" rtlCol="0" anchor="t"/>
          <a:lstStyle/>
          <a:p>
            <a:pPr algn="l" indent="0" marL="0">
              <a:lnSpc>
                <a:spcPct val="100000"/>
              </a:lnSpc>
              <a:buNone/>
            </a:pPr>
            <a:r>
              <a:rPr lang="en-US" sz="1200" dirty="0">
                <a:solidFill>
                  <a:srgbClr val="DDDCED"/>
                </a:solidFill>
                <a:latin typeface="Inter" pitchFamily="34" charset="0"/>
                <a:ea typeface="Inter" pitchFamily="34" charset="-122"/>
                <a:cs typeface="Inter" pitchFamily="34" charset="-120"/>
              </a:rPr>
              <a:t>/10</a:t>
            </a:r>
            <a:endParaRPr lang="en-US" sz="1200" dirty="0"/>
          </a:p>
        </p:txBody>
      </p:sp>
      <p:sp>
        <p:nvSpPr>
          <p:cNvPr id="9" name="Text 6"/>
          <p:cNvSpPr/>
          <p:nvPr/>
        </p:nvSpPr>
        <p:spPr>
          <a:xfrm>
            <a:off x="533267" y="4050287"/>
            <a:ext cx="666577" cy="107923"/>
          </a:xfrm>
          <a:prstGeom prst="rect">
            <a:avLst/>
          </a:prstGeom>
          <a:ln/>
        </p:spPr>
        <p:txBody>
          <a:bodyPr wrap="none" lIns="0" tIns="0" rIns="0" bIns="0" rtlCol="0" anchor="t"/>
          <a:lstStyle/>
          <a:p>
            <a:pPr algn="l" indent="0" marL="0">
              <a:lnSpc>
                <a:spcPct val="100000"/>
              </a:lnSpc>
              <a:buNone/>
            </a:pPr>
            <a:r>
              <a:rPr lang="en-US" sz="700" dirty="0">
                <a:solidFill>
                  <a:srgbClr val="D1D1D8"/>
                </a:solidFill>
                <a:latin typeface="Inter" pitchFamily="34" charset="0"/>
                <a:ea typeface="Inter" pitchFamily="34" charset="-122"/>
                <a:cs typeface="Inter" pitchFamily="34" charset="-120"/>
              </a:rPr>
              <a:t>metrics won</a:t>
            </a:r>
            <a:endParaRPr lang="en-US" sz="700" dirty="0"/>
          </a:p>
        </p:txBody>
      </p:sp>
      <p:sp>
        <p:nvSpPr>
          <p:cNvPr id="10" name="Text 7"/>
          <p:cNvSpPr/>
          <p:nvPr/>
        </p:nvSpPr>
        <p:spPr>
          <a:xfrm>
            <a:off x="2844089" y="3459885"/>
            <a:ext cx="670700" cy="126968"/>
          </a:xfrm>
          <a:prstGeom prst="rect">
            <a:avLst/>
          </a:prstGeom>
          <a:ln/>
        </p:spPr>
        <p:txBody>
          <a:bodyPr wrap="none" lIns="0" tIns="0" rIns="0" bIns="0" rtlCol="0" anchor="t"/>
          <a:lstStyle/>
          <a:p>
            <a:pPr algn="l" indent="0" marL="0">
              <a:lnSpc>
                <a:spcPct val="100000"/>
              </a:lnSpc>
              <a:buNone/>
            </a:pPr>
            <a:r>
              <a:rPr lang="en-US" sz="800" dirty="0">
                <a:solidFill>
                  <a:srgbClr val="DDDCED"/>
                </a:solidFill>
                <a:latin typeface="Inter" pitchFamily="34" charset="0"/>
                <a:ea typeface="Inter" pitchFamily="34" charset="-122"/>
                <a:cs typeface="Inter" pitchFamily="34" charset="-120"/>
              </a:rPr>
              <a:t>PSG GOLD</a:t>
            </a:r>
            <a:endParaRPr lang="en-US" sz="800" dirty="0"/>
          </a:p>
        </p:txBody>
      </p:sp>
      <p:sp>
        <p:nvSpPr>
          <p:cNvPr id="11" name="Text 8"/>
          <p:cNvSpPr/>
          <p:nvPr/>
        </p:nvSpPr>
        <p:spPr>
          <a:xfrm>
            <a:off x="3025911" y="3777305"/>
            <a:ext cx="365356" cy="184104"/>
          </a:xfrm>
          <a:prstGeom prst="rect">
            <a:avLst/>
          </a:prstGeom>
          <a:ln/>
        </p:spPr>
        <p:txBody>
          <a:bodyPr wrap="none" lIns="0" tIns="0" rIns="0" bIns="0" rtlCol="0" anchor="t"/>
          <a:lstStyle/>
          <a:p>
            <a:pPr algn="l" indent="0" marL="0">
              <a:lnSpc>
                <a:spcPct val="100000"/>
              </a:lnSpc>
              <a:buNone/>
            </a:pPr>
            <a:r>
              <a:rPr lang="en-US" sz="1200" dirty="0">
                <a:solidFill>
                  <a:srgbClr val="DDDCED"/>
                </a:solidFill>
                <a:latin typeface="Inter" pitchFamily="34" charset="0"/>
                <a:ea typeface="Inter" pitchFamily="34" charset="-122"/>
                <a:cs typeface="Inter" pitchFamily="34" charset="-120"/>
              </a:rPr>
              <a:t>/10</a:t>
            </a:r>
            <a:endParaRPr lang="en-US" sz="1200" dirty="0"/>
          </a:p>
        </p:txBody>
      </p:sp>
      <p:sp>
        <p:nvSpPr>
          <p:cNvPr id="12" name="Text 9"/>
          <p:cNvSpPr/>
          <p:nvPr/>
        </p:nvSpPr>
        <p:spPr>
          <a:xfrm>
            <a:off x="2844089" y="4050287"/>
            <a:ext cx="666577" cy="107923"/>
          </a:xfrm>
          <a:prstGeom prst="rect">
            <a:avLst/>
          </a:prstGeom>
          <a:ln/>
        </p:spPr>
        <p:txBody>
          <a:bodyPr wrap="none" lIns="0" tIns="0" rIns="0" bIns="0" rtlCol="0" anchor="t"/>
          <a:lstStyle/>
          <a:p>
            <a:pPr algn="l" indent="0" marL="0">
              <a:lnSpc>
                <a:spcPct val="100000"/>
              </a:lnSpc>
              <a:buNone/>
            </a:pPr>
            <a:r>
              <a:rPr lang="en-US" sz="700" dirty="0">
                <a:solidFill>
                  <a:srgbClr val="D1D1D8"/>
                </a:solidFill>
                <a:latin typeface="Inter" pitchFamily="34" charset="0"/>
                <a:ea typeface="Inter" pitchFamily="34" charset="-122"/>
                <a:cs typeface="Inter" pitchFamily="34" charset="-120"/>
              </a:rPr>
              <a:t>metrics won</a:t>
            </a:r>
            <a:endParaRPr lang="en-US" sz="700" dirty="0"/>
          </a:p>
        </p:txBody>
      </p:sp>
      <p:sp>
        <p:nvSpPr>
          <p:cNvPr id="13" name="Text 10"/>
          <p:cNvSpPr/>
          <p:nvPr/>
        </p:nvSpPr>
        <p:spPr>
          <a:xfrm>
            <a:off x="520570" y="4799400"/>
            <a:ext cx="1064134" cy="133317"/>
          </a:xfrm>
          <a:prstGeom prst="rect">
            <a:avLst/>
          </a:prstGeom>
          <a:ln/>
        </p:spPr>
        <p:txBody>
          <a:bodyPr wrap="none" lIns="0" tIns="0" rIns="0" bIns="0" rtlCol="0" anchor="t"/>
          <a:lstStyle/>
          <a:p>
            <a:pPr algn="l" indent="0" marL="0">
              <a:lnSpc>
                <a:spcPct val="100000"/>
              </a:lnSpc>
              <a:buNone/>
            </a:pPr>
            <a:r>
              <a:rPr lang="en-US" sz="900" dirty="0">
                <a:solidFill>
                  <a:srgbClr val="EFEFF4"/>
                </a:solidFill>
                <a:latin typeface="Inter" pitchFamily="34" charset="0"/>
                <a:ea typeface="Inter" pitchFamily="34" charset="-122"/>
                <a:cs typeface="Inter" pitchFamily="34" charset="-120"/>
              </a:rPr>
              <a:t>KEY TAKEAWAY:</a:t>
            </a:r>
            <a:endParaRPr lang="en-US" sz="900" dirty="0"/>
          </a:p>
        </p:txBody>
      </p:sp>
      <p:sp>
        <p:nvSpPr>
          <p:cNvPr id="14" name="Text 11"/>
          <p:cNvSpPr/>
          <p:nvPr/>
        </p:nvSpPr>
        <p:spPr>
          <a:xfrm>
            <a:off x="520570" y="4805748"/>
            <a:ext cx="3721162" cy="285679"/>
          </a:xfrm>
          <a:prstGeom prst="rect">
            <a:avLst/>
          </a:prstGeom>
          <a:ln/>
        </p:spPr>
        <p:txBody>
          <a:bodyPr wrap="square" lIns="0" tIns="0" rIns="0" bIns="0" rtlCol="0" anchor="t"/>
          <a:lstStyle/>
          <a:p>
            <a:pPr algn="l" indent="0" marL="0">
              <a:lnSpc>
                <a:spcPct val="100000"/>
              </a:lnSpc>
              <a:buNone/>
            </a:pPr>
            <a:r>
              <a:rPr lang="en-US" sz="800" dirty="0">
                <a:solidFill>
                  <a:srgbClr val="EFEFF4"/>
                </a:solidFill>
                <a:latin typeface="Inter" pitchFamily="34" charset="0"/>
                <a:ea typeface="Inter" pitchFamily="34" charset="-122"/>
                <a:cs typeface="Inter" pitchFamily="34" charset="-120"/>
              </a:rPr>
              <a:t>Psg Gold is ahead on followers (2090.3x), but Padmavathi Jewellery mart still takes followers growth.</a:t>
            </a:r>
            <a:endParaRPr lang="en-US" sz="800" dirty="0"/>
          </a:p>
        </p:txBody>
      </p:sp>
      <p:sp>
        <p:nvSpPr>
          <p:cNvPr id="15" name="Text 12"/>
          <p:cNvSpPr/>
          <p:nvPr/>
        </p:nvSpPr>
        <p:spPr>
          <a:xfrm>
            <a:off x="5472332" y="1037965"/>
            <a:ext cx="1942317" cy="152362"/>
          </a:xfrm>
          <a:prstGeom prst="rect">
            <a:avLst/>
          </a:prstGeom>
          <a:ln/>
        </p:spPr>
        <p:txBody>
          <a:bodyPr wrap="none" lIns="0" tIns="0" rIns="0" bIns="0" rtlCol="0" anchor="t"/>
          <a:lstStyle/>
          <a:p>
            <a:pPr algn="l" indent="0" marL="0">
              <a:lnSpc>
                <a:spcPct val="100000"/>
              </a:lnSpc>
              <a:buNone/>
            </a:pPr>
            <a:r>
              <a:rPr lang="en-US" sz="1000" b="1" dirty="0">
                <a:solidFill>
                  <a:srgbClr val="2C2362"/>
                </a:solidFill>
                <a:latin typeface="Inter" pitchFamily="34" charset="0"/>
                <a:ea typeface="Inter" pitchFamily="34" charset="-122"/>
                <a:cs typeface="Inter" pitchFamily="34" charset="-120"/>
              </a:rPr>
              <a:t>INSTAGRAM HEAD-TO-HEAD</a:t>
            </a:r>
            <a:endParaRPr lang="en-US" sz="1000" dirty="0"/>
          </a:p>
        </p:txBody>
      </p:sp>
      <p:sp>
        <p:nvSpPr>
          <p:cNvPr id="16" name="Text 13"/>
          <p:cNvSpPr/>
          <p:nvPr/>
        </p:nvSpPr>
        <p:spPr>
          <a:xfrm>
            <a:off x="7262286" y="1057011"/>
            <a:ext cx="1243594" cy="126968"/>
          </a:xfrm>
          <a:prstGeom prst="rect">
            <a:avLst/>
          </a:prstGeom>
          <a:ln/>
        </p:spPr>
        <p:txBody>
          <a:bodyPr wrap="none" lIns="0" tIns="0" rIns="0" bIns="0" rtlCol="0" anchor="t"/>
          <a:lstStyle/>
          <a:p>
            <a:pPr algn="l" indent="0" marL="0">
              <a:lnSpc>
                <a:spcPct val="100000"/>
              </a:lnSpc>
              <a:buNone/>
            </a:pPr>
            <a:r>
              <a:rPr lang="en-US" sz="800" dirty="0">
                <a:solidFill>
                  <a:srgbClr val="A8A8B4"/>
                </a:solidFill>
                <a:latin typeface="Inter" pitchFamily="34" charset="0"/>
                <a:ea typeface="Inter" pitchFamily="34" charset="-122"/>
                <a:cs typeface="Inter" pitchFamily="34" charset="-120"/>
              </a:rPr>
              <a:t>• 10 metrics compared</a:t>
            </a:r>
            <a:endParaRPr lang="en-US" sz="800" dirty="0"/>
          </a:p>
        </p:txBody>
      </p:sp>
      <p:sp>
        <p:nvSpPr>
          <p:cNvPr id="17" name="Text 14"/>
          <p:cNvSpPr/>
          <p:nvPr/>
        </p:nvSpPr>
        <p:spPr>
          <a:xfrm>
            <a:off x="10578935" y="1050662"/>
            <a:ext cx="1387773" cy="126968"/>
          </a:xfrm>
          <a:prstGeom prst="rect">
            <a:avLst/>
          </a:prstGeom>
          <a:ln/>
        </p:spPr>
        <p:txBody>
          <a:bodyPr wrap="none" lIns="0" tIns="0" rIns="0" bIns="0" rtlCol="0" anchor="t"/>
          <a:lstStyle/>
          <a:p>
            <a:pPr algn="r" indent="0" marL="0">
              <a:lnSpc>
                <a:spcPct val="100000"/>
              </a:lnSpc>
              <a:buNone/>
            </a:pPr>
            <a:r>
              <a:rPr lang="en-US" sz="800" dirty="0">
                <a:solidFill>
                  <a:srgbClr val="A8A8B4"/>
                </a:solidFill>
                <a:latin typeface="Inter" pitchFamily="34" charset="0"/>
                <a:ea typeface="Inter" pitchFamily="34" charset="-122"/>
                <a:cs typeface="Inter" pitchFamily="34" charset="-120"/>
              </a:rPr>
              <a:t>02 Jul 2026 - 31 Jul 2026</a:t>
            </a:r>
            <a:endParaRPr lang="en-US" sz="800" dirty="0"/>
          </a:p>
        </p:txBody>
      </p:sp>
      <p:sp>
        <p:nvSpPr>
          <p:cNvPr id="18" name="Text 15"/>
          <p:cNvSpPr/>
          <p:nvPr/>
        </p:nvSpPr>
        <p:spPr>
          <a:xfrm>
            <a:off x="5599300" y="1431567"/>
            <a:ext cx="409380" cy="282504"/>
          </a:xfrm>
          <a:prstGeom prst="rect">
            <a:avLst/>
          </a:prstGeom>
          <a:ln/>
        </p:spPr>
        <p:txBody>
          <a:bodyPr wrap="square" lIns="0" tIns="0" rIns="0" bIns="0" rtlCol="0" anchor="t"/>
          <a:lstStyle/>
          <a:p>
            <a:pPr algn="l" indent="0" marL="0">
              <a:lnSpc>
                <a:spcPct val="100000"/>
              </a:lnSpc>
              <a:buNone/>
            </a:pPr>
            <a:r>
              <a:rPr lang="en-US" sz="650" b="1" dirty="0">
                <a:solidFill>
                  <a:srgbClr val="5B5B69"/>
                </a:solidFill>
                <a:latin typeface="Inter" pitchFamily="34" charset="0"/>
                <a:ea typeface="Inter" pitchFamily="34" charset="-122"/>
                <a:cs typeface="Inter" pitchFamily="34" charset="-120"/>
              </a:rPr>
              <a:t>Metric</a:t>
            </a:r>
            <a:endParaRPr lang="en-US" sz="650" dirty="0"/>
          </a:p>
        </p:txBody>
      </p:sp>
      <p:sp>
        <p:nvSpPr>
          <p:cNvPr id="19" name="Text 16"/>
          <p:cNvSpPr/>
          <p:nvPr/>
        </p:nvSpPr>
        <p:spPr>
          <a:xfrm>
            <a:off x="8445075" y="1431567"/>
            <a:ext cx="1234149" cy="101575"/>
          </a:xfrm>
          <a:prstGeom prst="rect">
            <a:avLst/>
          </a:prstGeom>
          <a:ln/>
        </p:spPr>
        <p:txBody>
          <a:bodyPr wrap="none" lIns="0" tIns="0" rIns="0" bIns="0" rtlCol="0" anchor="t"/>
          <a:lstStyle/>
          <a:p>
            <a:pPr algn="l" indent="0" marL="0">
              <a:lnSpc>
                <a:spcPct val="100000"/>
              </a:lnSpc>
              <a:buNone/>
            </a:pPr>
            <a:r>
              <a:rPr lang="en-US" sz="650" b="1" dirty="0">
                <a:solidFill>
                  <a:srgbClr val="5B5B69"/>
                </a:solidFill>
                <a:latin typeface="Inter" pitchFamily="34" charset="0"/>
                <a:ea typeface="Inter" pitchFamily="34" charset="-122"/>
                <a:cs typeface="Inter" pitchFamily="34" charset="-120"/>
              </a:rPr>
              <a:t>Padmavathi Jewellery mart</a:t>
            </a:r>
            <a:endParaRPr lang="en-US" sz="650" dirty="0"/>
          </a:p>
        </p:txBody>
      </p:sp>
      <p:sp>
        <p:nvSpPr>
          <p:cNvPr id="20" name="Text 17"/>
          <p:cNvSpPr/>
          <p:nvPr/>
        </p:nvSpPr>
        <p:spPr>
          <a:xfrm>
            <a:off x="10869772" y="1431567"/>
            <a:ext cx="508512" cy="101575"/>
          </a:xfrm>
          <a:prstGeom prst="rect">
            <a:avLst/>
          </a:prstGeom>
          <a:ln/>
        </p:spPr>
        <p:txBody>
          <a:bodyPr wrap="none" lIns="0" tIns="0" rIns="0" bIns="0" rtlCol="0" anchor="t"/>
          <a:lstStyle/>
          <a:p>
            <a:pPr algn="l" indent="0" marL="0">
              <a:lnSpc>
                <a:spcPct val="100000"/>
              </a:lnSpc>
              <a:buNone/>
            </a:pPr>
            <a:r>
              <a:rPr lang="en-US" sz="650" b="1" dirty="0">
                <a:solidFill>
                  <a:srgbClr val="5B5B69"/>
                </a:solidFill>
                <a:latin typeface="Inter" pitchFamily="34" charset="0"/>
                <a:ea typeface="Inter" pitchFamily="34" charset="-122"/>
                <a:cs typeface="Inter" pitchFamily="34" charset="-120"/>
              </a:rPr>
              <a:t>Psg Gold</a:t>
            </a:r>
            <a:endParaRPr lang="en-US" sz="650" dirty="0"/>
          </a:p>
        </p:txBody>
      </p:sp>
      <p:sp>
        <p:nvSpPr>
          <p:cNvPr id="21" name="Text 18"/>
          <p:cNvSpPr/>
          <p:nvPr/>
        </p:nvSpPr>
        <p:spPr>
          <a:xfrm>
            <a:off x="5599300" y="1758510"/>
            <a:ext cx="667030" cy="133317"/>
          </a:xfrm>
          <a:prstGeom prst="rect">
            <a:avLst/>
          </a:prstGeom>
          <a:ln/>
        </p:spPr>
        <p:txBody>
          <a:bodyPr wrap="none" lIns="0" tIns="0" rIns="0" bIns="0" rtlCol="0" anchor="t"/>
          <a:lstStyle/>
          <a:p>
            <a:pPr algn="l" indent="0" marL="0">
              <a:lnSpc>
                <a:spcPct val="100000"/>
              </a:lnSpc>
              <a:buNone/>
            </a:pPr>
            <a:r>
              <a:rPr lang="en-US" sz="900" dirty="0">
                <a:solidFill>
                  <a:srgbClr val="080812"/>
                </a:solidFill>
                <a:latin typeface="Inter" pitchFamily="34" charset="0"/>
                <a:ea typeface="Inter" pitchFamily="34" charset="-122"/>
                <a:cs typeface="Inter" pitchFamily="34" charset="-120"/>
              </a:rPr>
              <a:t>Followers</a:t>
            </a:r>
            <a:endParaRPr lang="en-US" sz="900" dirty="0"/>
          </a:p>
        </p:txBody>
      </p:sp>
      <p:sp>
        <p:nvSpPr>
          <p:cNvPr id="22" name="Text 19"/>
          <p:cNvSpPr/>
          <p:nvPr/>
        </p:nvSpPr>
        <p:spPr>
          <a:xfrm>
            <a:off x="8216532" y="1764859"/>
            <a:ext cx="341277" cy="126968"/>
          </a:xfrm>
          <a:prstGeom prst="rect">
            <a:avLst/>
          </a:prstGeom>
          <a:ln/>
        </p:spPr>
        <p:txBody>
          <a:bodyPr wrap="none" lIns="0" tIns="0" rIns="0" bIns="0" rtlCol="0" anchor="t"/>
          <a:lstStyle/>
          <a:p>
            <a:pPr algn="l" indent="0" marL="0">
              <a:lnSpc>
                <a:spcPct val="100000"/>
              </a:lnSpc>
              <a:buNone/>
            </a:pPr>
            <a:r>
              <a:rPr lang="en-US" sz="800" dirty="0">
                <a:solidFill>
                  <a:srgbClr val="080812"/>
                </a:solidFill>
                <a:latin typeface="Inter" pitchFamily="34" charset="0"/>
                <a:ea typeface="Inter" pitchFamily="34" charset="-122"/>
                <a:cs typeface="Inter" pitchFamily="34" charset="-120"/>
              </a:rPr>
              <a:t>563</a:t>
            </a:r>
            <a:endParaRPr lang="en-US" sz="800" dirty="0"/>
          </a:p>
        </p:txBody>
      </p:sp>
      <p:sp>
        <p:nvSpPr>
          <p:cNvPr id="23" name="Text 20"/>
          <p:cNvSpPr/>
          <p:nvPr/>
        </p:nvSpPr>
        <p:spPr>
          <a:xfrm>
            <a:off x="10641229" y="1764859"/>
            <a:ext cx="384674" cy="126968"/>
          </a:xfrm>
          <a:prstGeom prst="rect">
            <a:avLst/>
          </a:prstGeom>
          <a:ln/>
        </p:spPr>
        <p:txBody>
          <a:bodyPr wrap="none" lIns="0" tIns="0" rIns="0" bIns="0" rtlCol="0" anchor="t"/>
          <a:lstStyle/>
          <a:p>
            <a:pPr algn="l" indent="0" marL="0">
              <a:lnSpc>
                <a:spcPct val="100000"/>
              </a:lnSpc>
              <a:buNone/>
            </a:pPr>
            <a:r>
              <a:rPr lang="en-US" sz="800" b="1" dirty="0">
                <a:solidFill>
                  <a:srgbClr val="413494"/>
                </a:solidFill>
                <a:latin typeface="Inter" pitchFamily="34" charset="0"/>
                <a:ea typeface="Inter" pitchFamily="34" charset="-122"/>
                <a:cs typeface="Inter" pitchFamily="34" charset="-120"/>
              </a:rPr>
              <a:t>1.2M</a:t>
            </a:r>
            <a:endParaRPr lang="en-US" sz="800" dirty="0"/>
          </a:p>
        </p:txBody>
      </p:sp>
      <p:sp>
        <p:nvSpPr>
          <p:cNvPr id="24" name="Text 21"/>
          <p:cNvSpPr/>
          <p:nvPr/>
        </p:nvSpPr>
        <p:spPr>
          <a:xfrm>
            <a:off x="5599300" y="2164809"/>
            <a:ext cx="1075293" cy="133317"/>
          </a:xfrm>
          <a:prstGeom prst="rect">
            <a:avLst/>
          </a:prstGeom>
          <a:ln/>
        </p:spPr>
        <p:txBody>
          <a:bodyPr wrap="none" lIns="0" tIns="0" rIns="0" bIns="0" rtlCol="0" anchor="t"/>
          <a:lstStyle/>
          <a:p>
            <a:pPr algn="l" indent="0" marL="0">
              <a:lnSpc>
                <a:spcPct val="100000"/>
              </a:lnSpc>
              <a:buNone/>
            </a:pPr>
            <a:r>
              <a:rPr lang="en-US" sz="900" dirty="0">
                <a:solidFill>
                  <a:srgbClr val="080812"/>
                </a:solidFill>
                <a:latin typeface="Inter" pitchFamily="34" charset="0"/>
                <a:ea typeface="Inter" pitchFamily="34" charset="-122"/>
                <a:cs typeface="Inter" pitchFamily="34" charset="-120"/>
              </a:rPr>
              <a:t>Followers growth</a:t>
            </a:r>
            <a:endParaRPr lang="en-US" sz="900" dirty="0"/>
          </a:p>
        </p:txBody>
      </p:sp>
      <p:sp>
        <p:nvSpPr>
          <p:cNvPr id="25" name="Text 22"/>
          <p:cNvSpPr/>
          <p:nvPr/>
        </p:nvSpPr>
        <p:spPr>
          <a:xfrm>
            <a:off x="8216532" y="2171157"/>
            <a:ext cx="261822" cy="126968"/>
          </a:xfrm>
          <a:prstGeom prst="rect">
            <a:avLst/>
          </a:prstGeom>
          <a:ln/>
        </p:spPr>
        <p:txBody>
          <a:bodyPr wrap="none" lIns="0" tIns="0" rIns="0" bIns="0" rtlCol="0" anchor="t"/>
          <a:lstStyle/>
          <a:p>
            <a:pPr algn="l" indent="0" marL="0">
              <a:lnSpc>
                <a:spcPct val="100000"/>
              </a:lnSpc>
              <a:buNone/>
            </a:pPr>
            <a:r>
              <a:rPr lang="en-US" sz="800" b="1" dirty="0">
                <a:solidFill>
                  <a:srgbClr val="413494"/>
                </a:solidFill>
                <a:latin typeface="Inter" pitchFamily="34" charset="0"/>
                <a:ea typeface="Inter" pitchFamily="34" charset="-122"/>
                <a:cs typeface="Inter" pitchFamily="34" charset="-120"/>
              </a:rPr>
              <a:t>-5</a:t>
            </a:r>
            <a:endParaRPr lang="en-US" sz="800" dirty="0"/>
          </a:p>
        </p:txBody>
      </p:sp>
      <p:sp>
        <p:nvSpPr>
          <p:cNvPr id="26" name="Text 23"/>
          <p:cNvSpPr/>
          <p:nvPr/>
        </p:nvSpPr>
        <p:spPr>
          <a:xfrm>
            <a:off x="10641229" y="2171157"/>
            <a:ext cx="388493" cy="126968"/>
          </a:xfrm>
          <a:prstGeom prst="rect">
            <a:avLst/>
          </a:prstGeom>
          <a:ln/>
        </p:spPr>
        <p:txBody>
          <a:bodyPr wrap="none" lIns="0" tIns="0" rIns="0" bIns="0" rtlCol="0" anchor="t"/>
          <a:lstStyle/>
          <a:p>
            <a:pPr algn="l" indent="0" marL="0">
              <a:lnSpc>
                <a:spcPct val="100000"/>
              </a:lnSpc>
              <a:buNone/>
            </a:pPr>
            <a:r>
              <a:rPr lang="en-US" sz="800" dirty="0">
                <a:solidFill>
                  <a:srgbClr val="080812"/>
                </a:solidFill>
                <a:latin typeface="Inter" pitchFamily="34" charset="0"/>
                <a:ea typeface="Inter" pitchFamily="34" charset="-122"/>
                <a:cs typeface="Inter" pitchFamily="34" charset="-120"/>
              </a:rPr>
              <a:t>-865</a:t>
            </a:r>
            <a:endParaRPr lang="en-US" sz="800" dirty="0"/>
          </a:p>
        </p:txBody>
      </p:sp>
      <p:sp>
        <p:nvSpPr>
          <p:cNvPr id="27" name="Text 24"/>
          <p:cNvSpPr/>
          <p:nvPr/>
        </p:nvSpPr>
        <p:spPr>
          <a:xfrm>
            <a:off x="5599300" y="2571107"/>
            <a:ext cx="743025" cy="133317"/>
          </a:xfrm>
          <a:prstGeom prst="rect">
            <a:avLst/>
          </a:prstGeom>
          <a:ln/>
        </p:spPr>
        <p:txBody>
          <a:bodyPr wrap="none" lIns="0" tIns="0" rIns="0" bIns="0" rtlCol="0" anchor="t"/>
          <a:lstStyle/>
          <a:p>
            <a:pPr algn="l" indent="0" marL="0">
              <a:lnSpc>
                <a:spcPct val="100000"/>
              </a:lnSpc>
              <a:buNone/>
            </a:pPr>
            <a:r>
              <a:rPr lang="en-US" sz="900" dirty="0">
                <a:solidFill>
                  <a:srgbClr val="080812"/>
                </a:solidFill>
                <a:latin typeface="Inter" pitchFamily="34" charset="0"/>
                <a:ea typeface="Inter" pitchFamily="34" charset="-122"/>
                <a:cs typeface="Inter" pitchFamily="34" charset="-120"/>
              </a:rPr>
              <a:t>Total posts</a:t>
            </a:r>
            <a:endParaRPr lang="en-US" sz="900" dirty="0"/>
          </a:p>
        </p:txBody>
      </p:sp>
      <p:sp>
        <p:nvSpPr>
          <p:cNvPr id="28" name="Text 25"/>
          <p:cNvSpPr/>
          <p:nvPr/>
        </p:nvSpPr>
        <p:spPr>
          <a:xfrm>
            <a:off x="8216532" y="2577455"/>
            <a:ext cx="258499" cy="126968"/>
          </a:xfrm>
          <a:prstGeom prst="rect">
            <a:avLst/>
          </a:prstGeom>
          <a:ln/>
        </p:spPr>
        <p:txBody>
          <a:bodyPr wrap="none" lIns="0" tIns="0" rIns="0" bIns="0" rtlCol="0" anchor="t"/>
          <a:lstStyle/>
          <a:p>
            <a:pPr algn="l" indent="0" marL="0">
              <a:lnSpc>
                <a:spcPct val="100000"/>
              </a:lnSpc>
              <a:buNone/>
            </a:pPr>
            <a:r>
              <a:rPr lang="en-US" sz="800" dirty="0">
                <a:solidFill>
                  <a:srgbClr val="080812"/>
                </a:solidFill>
                <a:latin typeface="Inter" pitchFamily="34" charset="0"/>
                <a:ea typeface="Inter" pitchFamily="34" charset="-122"/>
                <a:cs typeface="Inter" pitchFamily="34" charset="-120"/>
              </a:rPr>
              <a:t>16</a:t>
            </a:r>
            <a:endParaRPr lang="en-US" sz="800" dirty="0"/>
          </a:p>
        </p:txBody>
      </p:sp>
      <p:sp>
        <p:nvSpPr>
          <p:cNvPr id="29" name="Text 26"/>
          <p:cNvSpPr/>
          <p:nvPr/>
        </p:nvSpPr>
        <p:spPr>
          <a:xfrm>
            <a:off x="10641229" y="2577455"/>
            <a:ext cx="338797" cy="126968"/>
          </a:xfrm>
          <a:prstGeom prst="rect">
            <a:avLst/>
          </a:prstGeom>
          <a:ln/>
        </p:spPr>
        <p:txBody>
          <a:bodyPr wrap="none" lIns="0" tIns="0" rIns="0" bIns="0" rtlCol="0" anchor="t"/>
          <a:lstStyle/>
          <a:p>
            <a:pPr algn="l" indent="0" marL="0">
              <a:lnSpc>
                <a:spcPct val="100000"/>
              </a:lnSpc>
              <a:buNone/>
            </a:pPr>
            <a:r>
              <a:rPr lang="en-US" sz="800" b="1" dirty="0">
                <a:solidFill>
                  <a:srgbClr val="413494"/>
                </a:solidFill>
                <a:latin typeface="Inter" pitchFamily="34" charset="0"/>
                <a:ea typeface="Inter" pitchFamily="34" charset="-122"/>
                <a:cs typeface="Inter" pitchFamily="34" charset="-120"/>
              </a:rPr>
              <a:t>237</a:t>
            </a:r>
            <a:endParaRPr lang="en-US" sz="800" dirty="0"/>
          </a:p>
        </p:txBody>
      </p:sp>
      <p:sp>
        <p:nvSpPr>
          <p:cNvPr id="30" name="Text 27"/>
          <p:cNvSpPr/>
          <p:nvPr/>
        </p:nvSpPr>
        <p:spPr>
          <a:xfrm>
            <a:off x="5599300" y="2977405"/>
            <a:ext cx="1018102" cy="133317"/>
          </a:xfrm>
          <a:prstGeom prst="rect">
            <a:avLst/>
          </a:prstGeom>
          <a:ln/>
        </p:spPr>
        <p:txBody>
          <a:bodyPr wrap="none" lIns="0" tIns="0" rIns="0" bIns="0" rtlCol="0" anchor="t"/>
          <a:lstStyle/>
          <a:p>
            <a:pPr algn="l" indent="0" marL="0">
              <a:lnSpc>
                <a:spcPct val="100000"/>
              </a:lnSpc>
              <a:buNone/>
            </a:pPr>
            <a:r>
              <a:rPr lang="en-US" sz="900" dirty="0">
                <a:solidFill>
                  <a:srgbClr val="080812"/>
                </a:solidFill>
                <a:latin typeface="Inter" pitchFamily="34" charset="0"/>
                <a:ea typeface="Inter" pitchFamily="34" charset="-122"/>
                <a:cs typeface="Inter" pitchFamily="34" charset="-120"/>
              </a:rPr>
              <a:t>Avg. posts / day</a:t>
            </a:r>
            <a:endParaRPr lang="en-US" sz="900" dirty="0"/>
          </a:p>
        </p:txBody>
      </p:sp>
      <p:sp>
        <p:nvSpPr>
          <p:cNvPr id="31" name="Text 28"/>
          <p:cNvSpPr/>
          <p:nvPr/>
        </p:nvSpPr>
        <p:spPr>
          <a:xfrm>
            <a:off x="8216532" y="2983754"/>
            <a:ext cx="369745" cy="126968"/>
          </a:xfrm>
          <a:prstGeom prst="rect">
            <a:avLst/>
          </a:prstGeom>
          <a:ln/>
        </p:spPr>
        <p:txBody>
          <a:bodyPr wrap="none" lIns="0" tIns="0" rIns="0" bIns="0" rtlCol="0" anchor="t"/>
          <a:lstStyle/>
          <a:p>
            <a:pPr algn="l" indent="0" marL="0">
              <a:lnSpc>
                <a:spcPct val="100000"/>
              </a:lnSpc>
              <a:buNone/>
            </a:pPr>
            <a:r>
              <a:rPr lang="en-US" sz="800" dirty="0">
                <a:solidFill>
                  <a:srgbClr val="080812"/>
                </a:solidFill>
                <a:latin typeface="Inter" pitchFamily="34" charset="0"/>
                <a:ea typeface="Inter" pitchFamily="34" charset="-122"/>
                <a:cs typeface="Inter" pitchFamily="34" charset="-120"/>
              </a:rPr>
              <a:t>0.53</a:t>
            </a:r>
            <a:endParaRPr lang="en-US" sz="800" dirty="0"/>
          </a:p>
        </p:txBody>
      </p:sp>
      <p:sp>
        <p:nvSpPr>
          <p:cNvPr id="32" name="Text 29"/>
          <p:cNvSpPr/>
          <p:nvPr/>
        </p:nvSpPr>
        <p:spPr>
          <a:xfrm>
            <a:off x="10641229" y="2983754"/>
            <a:ext cx="294457" cy="126968"/>
          </a:xfrm>
          <a:prstGeom prst="rect">
            <a:avLst/>
          </a:prstGeom>
          <a:ln/>
        </p:spPr>
        <p:txBody>
          <a:bodyPr wrap="none" lIns="0" tIns="0" rIns="0" bIns="0" rtlCol="0" anchor="t"/>
          <a:lstStyle/>
          <a:p>
            <a:pPr algn="l" indent="0" marL="0">
              <a:lnSpc>
                <a:spcPct val="100000"/>
              </a:lnSpc>
              <a:buNone/>
            </a:pPr>
            <a:r>
              <a:rPr lang="en-US" sz="800" b="1" dirty="0">
                <a:solidFill>
                  <a:srgbClr val="413494"/>
                </a:solidFill>
                <a:latin typeface="Inter" pitchFamily="34" charset="0"/>
                <a:ea typeface="Inter" pitchFamily="34" charset="-122"/>
                <a:cs typeface="Inter" pitchFamily="34" charset="-120"/>
              </a:rPr>
              <a:t>7.9</a:t>
            </a:r>
            <a:endParaRPr lang="en-US" sz="800" dirty="0"/>
          </a:p>
        </p:txBody>
      </p:sp>
      <p:sp>
        <p:nvSpPr>
          <p:cNvPr id="33" name="Text 30"/>
          <p:cNvSpPr/>
          <p:nvPr/>
        </p:nvSpPr>
        <p:spPr>
          <a:xfrm>
            <a:off x="5599300" y="3383704"/>
            <a:ext cx="1124339" cy="133317"/>
          </a:xfrm>
          <a:prstGeom prst="rect">
            <a:avLst/>
          </a:prstGeom>
          <a:ln/>
        </p:spPr>
        <p:txBody>
          <a:bodyPr wrap="none" lIns="0" tIns="0" rIns="0" bIns="0" rtlCol="0" anchor="t"/>
          <a:lstStyle/>
          <a:p>
            <a:pPr algn="l" indent="0" marL="0">
              <a:lnSpc>
                <a:spcPct val="100000"/>
              </a:lnSpc>
              <a:buNone/>
            </a:pPr>
            <a:r>
              <a:rPr lang="en-US" sz="900" dirty="0">
                <a:solidFill>
                  <a:srgbClr val="080812"/>
                </a:solidFill>
                <a:latin typeface="Inter" pitchFamily="34" charset="0"/>
                <a:ea typeface="Inter" pitchFamily="34" charset="-122"/>
                <a:cs typeface="Inter" pitchFamily="34" charset="-120"/>
              </a:rPr>
              <a:t>Total engagement</a:t>
            </a:r>
            <a:endParaRPr lang="en-US" sz="900" dirty="0"/>
          </a:p>
        </p:txBody>
      </p:sp>
      <p:sp>
        <p:nvSpPr>
          <p:cNvPr id="34" name="Text 31"/>
          <p:cNvSpPr/>
          <p:nvPr/>
        </p:nvSpPr>
        <p:spPr>
          <a:xfrm>
            <a:off x="8216532" y="3390052"/>
            <a:ext cx="277594" cy="126968"/>
          </a:xfrm>
          <a:prstGeom prst="rect">
            <a:avLst/>
          </a:prstGeom>
          <a:ln/>
        </p:spPr>
        <p:txBody>
          <a:bodyPr wrap="none" lIns="0" tIns="0" rIns="0" bIns="0" rtlCol="0" anchor="t"/>
          <a:lstStyle/>
          <a:p>
            <a:pPr algn="l" indent="0" marL="0">
              <a:lnSpc>
                <a:spcPct val="100000"/>
              </a:lnSpc>
              <a:buNone/>
            </a:pPr>
            <a:r>
              <a:rPr lang="en-US" sz="800" dirty="0">
                <a:solidFill>
                  <a:srgbClr val="080812"/>
                </a:solidFill>
                <a:latin typeface="Inter" pitchFamily="34" charset="0"/>
                <a:ea typeface="Inter" pitchFamily="34" charset="-122"/>
                <a:cs typeface="Inter" pitchFamily="34" charset="-120"/>
              </a:rPr>
              <a:t>56</a:t>
            </a:r>
            <a:endParaRPr lang="en-US" sz="800" dirty="0"/>
          </a:p>
        </p:txBody>
      </p:sp>
      <p:sp>
        <p:nvSpPr>
          <p:cNvPr id="35" name="Text 32"/>
          <p:cNvSpPr/>
          <p:nvPr/>
        </p:nvSpPr>
        <p:spPr>
          <a:xfrm>
            <a:off x="10641229" y="3390052"/>
            <a:ext cx="445083" cy="126968"/>
          </a:xfrm>
          <a:prstGeom prst="rect">
            <a:avLst/>
          </a:prstGeom>
          <a:ln/>
        </p:spPr>
        <p:txBody>
          <a:bodyPr wrap="none" lIns="0" tIns="0" rIns="0" bIns="0" rtlCol="0" anchor="t"/>
          <a:lstStyle/>
          <a:p>
            <a:pPr algn="l" indent="0" marL="0">
              <a:lnSpc>
                <a:spcPct val="100000"/>
              </a:lnSpc>
              <a:buNone/>
            </a:pPr>
            <a:r>
              <a:rPr lang="en-US" sz="800" b="1" dirty="0">
                <a:solidFill>
                  <a:srgbClr val="413494"/>
                </a:solidFill>
                <a:latin typeface="Inter" pitchFamily="34" charset="0"/>
                <a:ea typeface="Inter" pitchFamily="34" charset="-122"/>
                <a:cs typeface="Inter" pitchFamily="34" charset="-120"/>
              </a:rPr>
              <a:t>66.6K</a:t>
            </a:r>
            <a:endParaRPr lang="en-US" sz="800" dirty="0"/>
          </a:p>
        </p:txBody>
      </p:sp>
      <p:sp>
        <p:nvSpPr>
          <p:cNvPr id="36" name="Text 33"/>
          <p:cNvSpPr/>
          <p:nvPr/>
        </p:nvSpPr>
        <p:spPr>
          <a:xfrm>
            <a:off x="5599300" y="3790002"/>
            <a:ext cx="1586837" cy="133317"/>
          </a:xfrm>
          <a:prstGeom prst="rect">
            <a:avLst/>
          </a:prstGeom>
          <a:ln/>
        </p:spPr>
        <p:txBody>
          <a:bodyPr wrap="none" lIns="0" tIns="0" rIns="0" bIns="0" rtlCol="0" anchor="t"/>
          <a:lstStyle/>
          <a:p>
            <a:pPr algn="l" indent="0" marL="0">
              <a:lnSpc>
                <a:spcPct val="100000"/>
              </a:lnSpc>
              <a:buNone/>
            </a:pPr>
            <a:r>
              <a:rPr lang="en-US" sz="900" dirty="0">
                <a:solidFill>
                  <a:srgbClr val="080812"/>
                </a:solidFill>
                <a:latin typeface="Inter" pitchFamily="34" charset="0"/>
                <a:ea typeface="Inter" pitchFamily="34" charset="-122"/>
                <a:cs typeface="Inter" pitchFamily="34" charset="-120"/>
              </a:rPr>
              <a:t>Avg. eng. rate by followers</a:t>
            </a:r>
            <a:endParaRPr lang="en-US" sz="900" dirty="0"/>
          </a:p>
        </p:txBody>
      </p:sp>
      <p:sp>
        <p:nvSpPr>
          <p:cNvPr id="37" name="Text 34"/>
          <p:cNvSpPr/>
          <p:nvPr/>
        </p:nvSpPr>
        <p:spPr>
          <a:xfrm>
            <a:off x="8216532" y="3796351"/>
            <a:ext cx="476379" cy="126968"/>
          </a:xfrm>
          <a:prstGeom prst="rect">
            <a:avLst/>
          </a:prstGeom>
          <a:ln/>
        </p:spPr>
        <p:txBody>
          <a:bodyPr wrap="none" lIns="0" tIns="0" rIns="0" bIns="0" rtlCol="0" anchor="t"/>
          <a:lstStyle/>
          <a:p>
            <a:pPr algn="l" indent="0" marL="0">
              <a:lnSpc>
                <a:spcPct val="100000"/>
              </a:lnSpc>
              <a:buNone/>
            </a:pPr>
            <a:r>
              <a:rPr lang="en-US" sz="800" b="1" dirty="0">
                <a:solidFill>
                  <a:srgbClr val="413494"/>
                </a:solidFill>
                <a:latin typeface="Inter" pitchFamily="34" charset="0"/>
                <a:ea typeface="Inter" pitchFamily="34" charset="-122"/>
                <a:cs typeface="Inter" pitchFamily="34" charset="-120"/>
              </a:rPr>
              <a:t>0.62%</a:t>
            </a:r>
            <a:endParaRPr lang="en-US" sz="800" dirty="0"/>
          </a:p>
        </p:txBody>
      </p:sp>
      <p:sp>
        <p:nvSpPr>
          <p:cNvPr id="38" name="Text 35"/>
          <p:cNvSpPr/>
          <p:nvPr/>
        </p:nvSpPr>
        <p:spPr>
          <a:xfrm>
            <a:off x="10641229" y="3796351"/>
            <a:ext cx="472312" cy="126968"/>
          </a:xfrm>
          <a:prstGeom prst="rect">
            <a:avLst/>
          </a:prstGeom>
          <a:ln/>
        </p:spPr>
        <p:txBody>
          <a:bodyPr wrap="none" lIns="0" tIns="0" rIns="0" bIns="0" rtlCol="0" anchor="t"/>
          <a:lstStyle/>
          <a:p>
            <a:pPr algn="l" indent="0" marL="0">
              <a:lnSpc>
                <a:spcPct val="100000"/>
              </a:lnSpc>
              <a:buNone/>
            </a:pPr>
            <a:r>
              <a:rPr lang="en-US" sz="800" dirty="0">
                <a:solidFill>
                  <a:srgbClr val="080812"/>
                </a:solidFill>
                <a:latin typeface="Inter" pitchFamily="34" charset="0"/>
                <a:ea typeface="Inter" pitchFamily="34" charset="-122"/>
                <a:cs typeface="Inter" pitchFamily="34" charset="-120"/>
              </a:rPr>
              <a:t>0.02%</a:t>
            </a:r>
            <a:endParaRPr lang="en-US" sz="800" dirty="0"/>
          </a:p>
        </p:txBody>
      </p:sp>
      <p:sp>
        <p:nvSpPr>
          <p:cNvPr id="39" name="Text 36"/>
          <p:cNvSpPr/>
          <p:nvPr/>
        </p:nvSpPr>
        <p:spPr>
          <a:xfrm>
            <a:off x="5599300" y="4196301"/>
            <a:ext cx="1438920" cy="133317"/>
          </a:xfrm>
          <a:prstGeom prst="rect">
            <a:avLst/>
          </a:prstGeom>
          <a:ln/>
        </p:spPr>
        <p:txBody>
          <a:bodyPr wrap="none" lIns="0" tIns="0" rIns="0" bIns="0" rtlCol="0" anchor="t"/>
          <a:lstStyle/>
          <a:p>
            <a:pPr algn="l" indent="0" marL="0">
              <a:lnSpc>
                <a:spcPct val="100000"/>
              </a:lnSpc>
              <a:buNone/>
            </a:pPr>
            <a:r>
              <a:rPr lang="en-US" sz="900" dirty="0">
                <a:solidFill>
                  <a:srgbClr val="080812"/>
                </a:solidFill>
                <a:latin typeface="Inter" pitchFamily="34" charset="0"/>
                <a:ea typeface="Inter" pitchFamily="34" charset="-122"/>
                <a:cs typeface="Inter" pitchFamily="34" charset="-120"/>
              </a:rPr>
              <a:t>Avg. engagement / post</a:t>
            </a:r>
            <a:endParaRPr lang="en-US" sz="900" dirty="0"/>
          </a:p>
        </p:txBody>
      </p:sp>
      <p:sp>
        <p:nvSpPr>
          <p:cNvPr id="40" name="Text 37"/>
          <p:cNvSpPr/>
          <p:nvPr/>
        </p:nvSpPr>
        <p:spPr>
          <a:xfrm>
            <a:off x="8216532" y="4202649"/>
            <a:ext cx="304674" cy="126968"/>
          </a:xfrm>
          <a:prstGeom prst="rect">
            <a:avLst/>
          </a:prstGeom>
          <a:ln/>
        </p:spPr>
        <p:txBody>
          <a:bodyPr wrap="none" lIns="0" tIns="0" rIns="0" bIns="0" rtlCol="0" anchor="t"/>
          <a:lstStyle/>
          <a:p>
            <a:pPr algn="l" indent="0" marL="0">
              <a:lnSpc>
                <a:spcPct val="100000"/>
              </a:lnSpc>
              <a:buNone/>
            </a:pPr>
            <a:r>
              <a:rPr lang="en-US" sz="800" dirty="0">
                <a:solidFill>
                  <a:srgbClr val="080812"/>
                </a:solidFill>
                <a:latin typeface="Inter" pitchFamily="34" charset="0"/>
                <a:ea typeface="Inter" pitchFamily="34" charset="-122"/>
                <a:cs typeface="Inter" pitchFamily="34" charset="-120"/>
              </a:rPr>
              <a:t>3.5</a:t>
            </a:r>
            <a:endParaRPr lang="en-US" sz="800" dirty="0"/>
          </a:p>
        </p:txBody>
      </p:sp>
      <p:sp>
        <p:nvSpPr>
          <p:cNvPr id="41" name="Text 38"/>
          <p:cNvSpPr/>
          <p:nvPr/>
        </p:nvSpPr>
        <p:spPr>
          <a:xfrm>
            <a:off x="10641229" y="4202649"/>
            <a:ext cx="501773" cy="126968"/>
          </a:xfrm>
          <a:prstGeom prst="rect">
            <a:avLst/>
          </a:prstGeom>
          <a:ln/>
        </p:spPr>
        <p:txBody>
          <a:bodyPr wrap="none" lIns="0" tIns="0" rIns="0" bIns="0" rtlCol="0" anchor="t"/>
          <a:lstStyle/>
          <a:p>
            <a:pPr algn="l" indent="0" marL="0">
              <a:lnSpc>
                <a:spcPct val="100000"/>
              </a:lnSpc>
              <a:buNone/>
            </a:pPr>
            <a:r>
              <a:rPr lang="en-US" sz="800" b="1" dirty="0">
                <a:solidFill>
                  <a:srgbClr val="413494"/>
                </a:solidFill>
                <a:latin typeface="Inter" pitchFamily="34" charset="0"/>
                <a:ea typeface="Inter" pitchFamily="34" charset="-122"/>
                <a:cs typeface="Inter" pitchFamily="34" charset="-120"/>
              </a:rPr>
              <a:t>280.85</a:t>
            </a:r>
            <a:endParaRPr lang="en-US" sz="800" dirty="0"/>
          </a:p>
        </p:txBody>
      </p:sp>
      <p:sp>
        <p:nvSpPr>
          <p:cNvPr id="42" name="Text 39"/>
          <p:cNvSpPr/>
          <p:nvPr/>
        </p:nvSpPr>
        <p:spPr>
          <a:xfrm>
            <a:off x="5599300" y="4602599"/>
            <a:ext cx="1068096" cy="133317"/>
          </a:xfrm>
          <a:prstGeom prst="rect">
            <a:avLst/>
          </a:prstGeom>
          <a:ln/>
        </p:spPr>
        <p:txBody>
          <a:bodyPr wrap="none" lIns="0" tIns="0" rIns="0" bIns="0" rtlCol="0" anchor="t"/>
          <a:lstStyle/>
          <a:p>
            <a:pPr algn="l" indent="0" marL="0">
              <a:lnSpc>
                <a:spcPct val="100000"/>
              </a:lnSpc>
              <a:buNone/>
            </a:pPr>
            <a:r>
              <a:rPr lang="en-US" sz="900" dirty="0">
                <a:solidFill>
                  <a:srgbClr val="080812"/>
                </a:solidFill>
                <a:latin typeface="Inter" pitchFamily="34" charset="0"/>
                <a:ea typeface="Inter" pitchFamily="34" charset="-122"/>
                <a:cs typeface="Inter" pitchFamily="34" charset="-120"/>
              </a:rPr>
              <a:t>Avg. reach / post</a:t>
            </a:r>
            <a:endParaRPr lang="en-US" sz="900" dirty="0"/>
          </a:p>
        </p:txBody>
      </p:sp>
      <p:sp>
        <p:nvSpPr>
          <p:cNvPr id="43" name="Text 40"/>
          <p:cNvSpPr/>
          <p:nvPr/>
        </p:nvSpPr>
        <p:spPr>
          <a:xfrm>
            <a:off x="8216532" y="4608947"/>
            <a:ext cx="480198" cy="126968"/>
          </a:xfrm>
          <a:prstGeom prst="rect">
            <a:avLst/>
          </a:prstGeom>
          <a:ln/>
        </p:spPr>
        <p:txBody>
          <a:bodyPr wrap="none" lIns="0" tIns="0" rIns="0" bIns="0" rtlCol="0" anchor="t"/>
          <a:lstStyle/>
          <a:p>
            <a:pPr algn="l" indent="0" marL="0">
              <a:lnSpc>
                <a:spcPct val="100000"/>
              </a:lnSpc>
              <a:buNone/>
            </a:pPr>
            <a:r>
              <a:rPr lang="en-US" sz="800" dirty="0">
                <a:solidFill>
                  <a:srgbClr val="080812"/>
                </a:solidFill>
                <a:latin typeface="Inter" pitchFamily="34" charset="0"/>
                <a:ea typeface="Inter" pitchFamily="34" charset="-122"/>
                <a:cs typeface="Inter" pitchFamily="34" charset="-120"/>
              </a:rPr>
              <a:t>247.56</a:t>
            </a:r>
            <a:endParaRPr lang="en-US" sz="800" dirty="0"/>
          </a:p>
        </p:txBody>
      </p:sp>
      <p:sp>
        <p:nvSpPr>
          <p:cNvPr id="44" name="Text 41"/>
          <p:cNvSpPr/>
          <p:nvPr/>
        </p:nvSpPr>
        <p:spPr>
          <a:xfrm>
            <a:off x="10641229" y="4608947"/>
            <a:ext cx="446075" cy="126968"/>
          </a:xfrm>
          <a:prstGeom prst="rect">
            <a:avLst/>
          </a:prstGeom>
          <a:ln/>
        </p:spPr>
        <p:txBody>
          <a:bodyPr wrap="none" lIns="0" tIns="0" rIns="0" bIns="0" rtlCol="0" anchor="t"/>
          <a:lstStyle/>
          <a:p>
            <a:pPr algn="l" indent="0" marL="0">
              <a:lnSpc>
                <a:spcPct val="100000"/>
              </a:lnSpc>
              <a:buNone/>
            </a:pPr>
            <a:r>
              <a:rPr lang="en-US" sz="800" b="1" dirty="0">
                <a:solidFill>
                  <a:srgbClr val="413494"/>
                </a:solidFill>
                <a:latin typeface="Inter" pitchFamily="34" charset="0"/>
                <a:ea typeface="Inter" pitchFamily="34" charset="-122"/>
                <a:cs typeface="Inter" pitchFamily="34" charset="-120"/>
              </a:rPr>
              <a:t>23.0K</a:t>
            </a:r>
            <a:endParaRPr lang="en-US" sz="800" dirty="0"/>
          </a:p>
        </p:txBody>
      </p:sp>
      <p:sp>
        <p:nvSpPr>
          <p:cNvPr id="45" name="Text 42"/>
          <p:cNvSpPr/>
          <p:nvPr/>
        </p:nvSpPr>
        <p:spPr>
          <a:xfrm>
            <a:off x="5599300" y="5008897"/>
            <a:ext cx="1072504" cy="133317"/>
          </a:xfrm>
          <a:prstGeom prst="rect">
            <a:avLst/>
          </a:prstGeom>
          <a:ln/>
        </p:spPr>
        <p:txBody>
          <a:bodyPr wrap="none" lIns="0" tIns="0" rIns="0" bIns="0" rtlCol="0" anchor="t"/>
          <a:lstStyle/>
          <a:p>
            <a:pPr algn="l" indent="0" marL="0">
              <a:lnSpc>
                <a:spcPct val="100000"/>
              </a:lnSpc>
              <a:buNone/>
            </a:pPr>
            <a:r>
              <a:rPr lang="en-US" sz="900" dirty="0">
                <a:solidFill>
                  <a:srgbClr val="080812"/>
                </a:solidFill>
                <a:latin typeface="Inter" pitchFamily="34" charset="0"/>
                <a:ea typeface="Inter" pitchFamily="34" charset="-122"/>
                <a:cs typeface="Inter" pitchFamily="34" charset="-120"/>
              </a:rPr>
              <a:t>Avg. views / post</a:t>
            </a:r>
            <a:endParaRPr lang="en-US" sz="900" dirty="0"/>
          </a:p>
        </p:txBody>
      </p:sp>
      <p:sp>
        <p:nvSpPr>
          <p:cNvPr id="46" name="Text 43"/>
          <p:cNvSpPr/>
          <p:nvPr/>
        </p:nvSpPr>
        <p:spPr>
          <a:xfrm>
            <a:off x="8216532" y="5015246"/>
            <a:ext cx="475883" cy="126968"/>
          </a:xfrm>
          <a:prstGeom prst="rect">
            <a:avLst/>
          </a:prstGeom>
          <a:ln/>
        </p:spPr>
        <p:txBody>
          <a:bodyPr wrap="none" lIns="0" tIns="0" rIns="0" bIns="0" rtlCol="0" anchor="t"/>
          <a:lstStyle/>
          <a:p>
            <a:pPr algn="l" indent="0" marL="0">
              <a:lnSpc>
                <a:spcPct val="100000"/>
              </a:lnSpc>
              <a:buNone/>
            </a:pPr>
            <a:r>
              <a:rPr lang="en-US" sz="800" dirty="0">
                <a:solidFill>
                  <a:srgbClr val="080812"/>
                </a:solidFill>
                <a:latin typeface="Inter" pitchFamily="34" charset="0"/>
                <a:ea typeface="Inter" pitchFamily="34" charset="-122"/>
                <a:cs typeface="Inter" pitchFamily="34" charset="-120"/>
              </a:rPr>
              <a:t>281.56</a:t>
            </a:r>
            <a:endParaRPr lang="en-US" sz="800" dirty="0"/>
          </a:p>
        </p:txBody>
      </p:sp>
      <p:sp>
        <p:nvSpPr>
          <p:cNvPr id="47" name="Text 44"/>
          <p:cNvSpPr/>
          <p:nvPr/>
        </p:nvSpPr>
        <p:spPr>
          <a:xfrm>
            <a:off x="10641229" y="5015246"/>
            <a:ext cx="450241" cy="126968"/>
          </a:xfrm>
          <a:prstGeom prst="rect">
            <a:avLst/>
          </a:prstGeom>
          <a:ln/>
        </p:spPr>
        <p:txBody>
          <a:bodyPr wrap="none" lIns="0" tIns="0" rIns="0" bIns="0" rtlCol="0" anchor="t"/>
          <a:lstStyle/>
          <a:p>
            <a:pPr algn="l" indent="0" marL="0">
              <a:lnSpc>
                <a:spcPct val="100000"/>
              </a:lnSpc>
              <a:buNone/>
            </a:pPr>
            <a:r>
              <a:rPr lang="en-US" sz="800" b="1" dirty="0">
                <a:solidFill>
                  <a:srgbClr val="413494"/>
                </a:solidFill>
                <a:latin typeface="Inter" pitchFamily="34" charset="0"/>
                <a:ea typeface="Inter" pitchFamily="34" charset="-122"/>
                <a:cs typeface="Inter" pitchFamily="34" charset="-120"/>
              </a:rPr>
              <a:t>36.4K</a:t>
            </a:r>
            <a:endParaRPr lang="en-US" sz="800" dirty="0"/>
          </a:p>
        </p:txBody>
      </p:sp>
      <p:sp>
        <p:nvSpPr>
          <p:cNvPr id="48" name="Text 45"/>
          <p:cNvSpPr/>
          <p:nvPr/>
        </p:nvSpPr>
        <p:spPr>
          <a:xfrm>
            <a:off x="5599300" y="5415196"/>
            <a:ext cx="991598" cy="133317"/>
          </a:xfrm>
          <a:prstGeom prst="rect">
            <a:avLst/>
          </a:prstGeom>
          <a:ln/>
        </p:spPr>
        <p:txBody>
          <a:bodyPr wrap="none" lIns="0" tIns="0" rIns="0" bIns="0" rtlCol="0" anchor="t"/>
          <a:lstStyle/>
          <a:p>
            <a:pPr algn="l" indent="0" marL="0">
              <a:lnSpc>
                <a:spcPct val="100000"/>
              </a:lnSpc>
              <a:buNone/>
            </a:pPr>
            <a:r>
              <a:rPr lang="en-US" sz="900" dirty="0">
                <a:solidFill>
                  <a:srgbClr val="080812"/>
                </a:solidFill>
                <a:latin typeface="Inter" pitchFamily="34" charset="0"/>
                <a:ea typeface="Inter" pitchFamily="34" charset="-122"/>
                <a:cs typeface="Inter" pitchFamily="34" charset="-120"/>
              </a:rPr>
              <a:t>Avg. reel length</a:t>
            </a:r>
            <a:endParaRPr lang="en-US" sz="900" dirty="0"/>
          </a:p>
        </p:txBody>
      </p:sp>
      <p:sp>
        <p:nvSpPr>
          <p:cNvPr id="49" name="Text 46"/>
          <p:cNvSpPr/>
          <p:nvPr/>
        </p:nvSpPr>
        <p:spPr>
          <a:xfrm>
            <a:off x="8216532" y="5421544"/>
            <a:ext cx="270750" cy="126968"/>
          </a:xfrm>
          <a:prstGeom prst="rect">
            <a:avLst/>
          </a:prstGeom>
          <a:ln/>
        </p:spPr>
        <p:txBody>
          <a:bodyPr wrap="none" lIns="0" tIns="0" rIns="0" bIns="0" rtlCol="0" anchor="t"/>
          <a:lstStyle/>
          <a:p>
            <a:pPr algn="l" indent="0" marL="0">
              <a:lnSpc>
                <a:spcPct val="100000"/>
              </a:lnSpc>
              <a:buNone/>
            </a:pPr>
            <a:r>
              <a:rPr lang="en-US" sz="800" dirty="0">
                <a:solidFill>
                  <a:srgbClr val="080812"/>
                </a:solidFill>
                <a:latin typeface="Inter" pitchFamily="34" charset="0"/>
                <a:ea typeface="Inter" pitchFamily="34" charset="-122"/>
                <a:cs typeface="Inter" pitchFamily="34" charset="-120"/>
              </a:rPr>
              <a:t>3s</a:t>
            </a:r>
            <a:endParaRPr lang="en-US" sz="800" dirty="0"/>
          </a:p>
        </p:txBody>
      </p:sp>
      <p:sp>
        <p:nvSpPr>
          <p:cNvPr id="50" name="Text 47"/>
          <p:cNvSpPr/>
          <p:nvPr/>
        </p:nvSpPr>
        <p:spPr>
          <a:xfrm>
            <a:off x="10641229" y="5421544"/>
            <a:ext cx="262666" cy="126968"/>
          </a:xfrm>
          <a:prstGeom prst="rect">
            <a:avLst/>
          </a:prstGeom>
          <a:ln/>
        </p:spPr>
        <p:txBody>
          <a:bodyPr wrap="none" lIns="0" tIns="0" rIns="0" bIns="0" rtlCol="0" anchor="t"/>
          <a:lstStyle/>
          <a:p>
            <a:pPr algn="l" indent="0" marL="0">
              <a:lnSpc>
                <a:spcPct val="100000"/>
              </a:lnSpc>
              <a:buNone/>
            </a:pPr>
            <a:r>
              <a:rPr lang="en-US" sz="800" b="1" dirty="0">
                <a:solidFill>
                  <a:srgbClr val="413494"/>
                </a:solidFill>
                <a:latin typeface="Inter" pitchFamily="34" charset="0"/>
                <a:ea typeface="Inter" pitchFamily="34" charset="-122"/>
                <a:cs typeface="Inter" pitchFamily="34" charset="-120"/>
              </a:rPr>
              <a:t>7s</a:t>
            </a:r>
            <a:endParaRPr lang="en-US" sz="800" dirty="0"/>
          </a:p>
        </p:txBody>
      </p:sp>
      <p:sp>
        <p:nvSpPr>
          <p:cNvPr id="51" name="Text 48"/>
          <p:cNvSpPr/>
          <p:nvPr/>
        </p:nvSpPr>
        <p:spPr>
          <a:xfrm>
            <a:off x="317421" y="6389677"/>
            <a:ext cx="1433328"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Source: Socialinsider</a:t>
            </a:r>
            <a:endParaRPr lang="en-US" sz="1000" dirty="0"/>
          </a:p>
        </p:txBody>
      </p:sp>
      <p:sp>
        <p:nvSpPr>
          <p:cNvPr id="52" name="Text 49"/>
          <p:cNvSpPr/>
          <p:nvPr/>
        </p:nvSpPr>
        <p:spPr>
          <a:xfrm>
            <a:off x="317421" y="6592826"/>
            <a:ext cx="2443060"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Date range: 02 Jul 2026 - 31 Jul 2026</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88952" cy="6858000"/>
          </a:xfrm>
          <a:prstGeom prst="rect">
            <a:avLst/>
          </a:prstGeom>
        </p:spPr>
      </p:pic>
      <p:sp>
        <p:nvSpPr>
          <p:cNvPr id="3" name="Text 0"/>
          <p:cNvSpPr/>
          <p:nvPr/>
        </p:nvSpPr>
        <p:spPr>
          <a:xfrm>
            <a:off x="342814" y="114271"/>
            <a:ext cx="3071863"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Padmavathi Jewellery mart</a:t>
            </a:r>
            <a:endParaRPr lang="en-US" sz="1800" dirty="0"/>
          </a:p>
        </p:txBody>
      </p:sp>
      <p:sp>
        <p:nvSpPr>
          <p:cNvPr id="4" name="Text 1"/>
          <p:cNvSpPr/>
          <p:nvPr/>
        </p:nvSpPr>
        <p:spPr>
          <a:xfrm>
            <a:off x="4818197" y="114271"/>
            <a:ext cx="2704833"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POSTS PERFORMANCE</a:t>
            </a:r>
            <a:endParaRPr lang="en-US" sz="1800" dirty="0"/>
          </a:p>
        </p:txBody>
      </p:sp>
      <p:sp>
        <p:nvSpPr>
          <p:cNvPr id="5" name="Text 2"/>
          <p:cNvSpPr/>
          <p:nvPr/>
        </p:nvSpPr>
        <p:spPr>
          <a:xfrm>
            <a:off x="11536653" y="139665"/>
            <a:ext cx="461847" cy="228543"/>
          </a:xfrm>
          <a:prstGeom prst="rect">
            <a:avLst/>
          </a:prstGeom>
          <a:ln/>
        </p:spPr>
        <p:txBody>
          <a:bodyPr wrap="none" lIns="0" tIns="0" rIns="0" bIns="0" rtlCol="0" anchor="t"/>
          <a:lstStyle/>
          <a:p>
            <a:pPr algn="l" indent="0" marL="0">
              <a:lnSpc>
                <a:spcPct val="100000"/>
              </a:lnSpc>
              <a:buNone/>
            </a:pPr>
            <a:r>
              <a:rPr lang="en-US" sz="1500" dirty="0">
                <a:solidFill>
                  <a:srgbClr val="A8A8B4"/>
                </a:solidFill>
                <a:latin typeface="Inter" pitchFamily="34" charset="0"/>
                <a:ea typeface="Inter" pitchFamily="34" charset="-122"/>
                <a:cs typeface="Inter" pitchFamily="34" charset="-120"/>
              </a:rPr>
              <a:t>4/8</a:t>
            </a:r>
            <a:endParaRPr lang="en-US" sz="1500" dirty="0"/>
          </a:p>
        </p:txBody>
      </p:sp>
      <p:sp>
        <p:nvSpPr>
          <p:cNvPr id="6" name="Text 3"/>
          <p:cNvSpPr/>
          <p:nvPr/>
        </p:nvSpPr>
        <p:spPr>
          <a:xfrm>
            <a:off x="374556" y="1136366"/>
            <a:ext cx="1719254" cy="152362"/>
          </a:xfrm>
          <a:prstGeom prst="rect">
            <a:avLst/>
          </a:prstGeom>
          <a:ln/>
        </p:spPr>
        <p:txBody>
          <a:bodyPr wrap="none" lIns="0" tIns="0" rIns="0" bIns="0" rtlCol="0" anchor="t"/>
          <a:lstStyle/>
          <a:p>
            <a:pPr algn="l" indent="0" marL="0">
              <a:lnSpc>
                <a:spcPct val="100000"/>
              </a:lnSpc>
              <a:buNone/>
            </a:pPr>
            <a:r>
              <a:rPr lang="en-US" sz="1000" b="1" dirty="0">
                <a:solidFill>
                  <a:srgbClr val="A8A8B4"/>
                </a:solidFill>
                <a:latin typeface="Inter" pitchFamily="34" charset="0"/>
                <a:ea typeface="Inter" pitchFamily="34" charset="-122"/>
                <a:cs typeface="Inter" pitchFamily="34" charset="-120"/>
              </a:rPr>
              <a:t>POSTS TO ENGAGEMENT</a:t>
            </a:r>
            <a:endParaRPr lang="en-US" sz="1000" dirty="0"/>
          </a:p>
        </p:txBody>
      </p:sp>
      <p:sp>
        <p:nvSpPr>
          <p:cNvPr id="7" name="Text 4"/>
          <p:cNvSpPr/>
          <p:nvPr/>
        </p:nvSpPr>
        <p:spPr>
          <a:xfrm>
            <a:off x="374556" y="1409348"/>
            <a:ext cx="11439839" cy="1022094"/>
          </a:xfrm>
          <a:prstGeom prst="rect">
            <a:avLst/>
          </a:prstGeom>
          <a:ln/>
        </p:spPr>
        <p:txBody>
          <a:bodyPr wrap="square" lIns="0" tIns="0" rIns="0" bIns="0" rtlCol="0" anchor="t"/>
          <a:lstStyle/>
          <a:p>
            <a:pPr algn="l" indent="0" marL="0">
              <a:lnSpc>
                <a:spcPct val="82000"/>
              </a:lnSpc>
              <a:buNone/>
            </a:pPr>
            <a:r>
              <a:rPr lang="en-US" sz="3599" b="1" dirty="0">
                <a:solidFill>
                  <a:srgbClr val="080812"/>
                </a:solidFill>
                <a:latin typeface="Inter" pitchFamily="34" charset="0"/>
                <a:ea typeface="Inter" pitchFamily="34" charset="-122"/>
                <a:cs typeface="Inter" pitchFamily="34" charset="-120"/>
              </a:rPr>
              <a:t>Padmavathi Jewellery mart posted 11.11% less, and engagement followed.</a:t>
            </a:r>
            <a:endParaRPr lang="en-US" sz="3599" dirty="0"/>
          </a:p>
        </p:txBody>
      </p:sp>
      <p:sp>
        <p:nvSpPr>
          <p:cNvPr id="8" name="Text 5"/>
          <p:cNvSpPr/>
          <p:nvPr/>
        </p:nvSpPr>
        <p:spPr>
          <a:xfrm>
            <a:off x="501525" y="3942364"/>
            <a:ext cx="1037866" cy="457086"/>
          </a:xfrm>
          <a:prstGeom prst="rect">
            <a:avLst/>
          </a:prstGeom>
          <a:ln/>
        </p:spPr>
        <p:txBody>
          <a:bodyPr wrap="square" lIns="0" tIns="0" rIns="0" bIns="0" rtlCol="0" anchor="t"/>
          <a:lstStyle/>
          <a:p>
            <a:pPr algn="l" indent="0" marL="0">
              <a:lnSpc>
                <a:spcPct val="100000"/>
              </a:lnSpc>
              <a:buNone/>
            </a:pPr>
            <a:r>
              <a:rPr lang="en-US" sz="1200" dirty="0">
                <a:solidFill>
                  <a:srgbClr val="A8A8B4"/>
                </a:solidFill>
                <a:latin typeface="Inter" pitchFamily="34" charset="0"/>
                <a:ea typeface="Inter" pitchFamily="34" charset="-122"/>
                <a:cs typeface="Inter" pitchFamily="34" charset="-120"/>
              </a:rPr>
              <a:t>TOTAL POSTS</a:t>
            </a:r>
            <a:endParaRPr lang="en-US" sz="1200" dirty="0"/>
          </a:p>
        </p:txBody>
      </p:sp>
      <p:sp>
        <p:nvSpPr>
          <p:cNvPr id="9" name="Text 6"/>
          <p:cNvSpPr/>
          <p:nvPr/>
        </p:nvSpPr>
        <p:spPr>
          <a:xfrm>
            <a:off x="501525" y="4520070"/>
            <a:ext cx="550378" cy="457086"/>
          </a:xfrm>
          <a:prstGeom prst="rect">
            <a:avLst/>
          </a:prstGeom>
          <a:ln/>
        </p:spPr>
        <p:txBody>
          <a:bodyPr wrap="none" lIns="0" tIns="0" rIns="0" bIns="0" rtlCol="0" anchor="t"/>
          <a:lstStyle/>
          <a:p>
            <a:pPr algn="l" indent="0" marL="0">
              <a:lnSpc>
                <a:spcPct val="100000"/>
              </a:lnSpc>
              <a:buNone/>
            </a:pPr>
            <a:r>
              <a:rPr lang="en-US" sz="2999" dirty="0">
                <a:solidFill>
                  <a:srgbClr val="080812"/>
                </a:solidFill>
                <a:latin typeface="Inter" pitchFamily="34" charset="0"/>
                <a:ea typeface="Inter" pitchFamily="34" charset="-122"/>
                <a:cs typeface="Inter" pitchFamily="34" charset="-120"/>
              </a:rPr>
              <a:t>16</a:t>
            </a:r>
            <a:endParaRPr lang="en-US" sz="2999" dirty="0"/>
          </a:p>
        </p:txBody>
      </p:sp>
      <p:sp>
        <p:nvSpPr>
          <p:cNvPr id="10" name="Text 7"/>
          <p:cNvSpPr/>
          <p:nvPr/>
        </p:nvSpPr>
        <p:spPr>
          <a:xfrm>
            <a:off x="691977" y="5104124"/>
            <a:ext cx="698704" cy="228543"/>
          </a:xfrm>
          <a:prstGeom prst="rect">
            <a:avLst/>
          </a:prstGeom>
          <a:ln/>
        </p:spPr>
        <p:txBody>
          <a:bodyPr wrap="none" lIns="0" tIns="0" rIns="0" bIns="0" rtlCol="0" anchor="t"/>
          <a:lstStyle/>
          <a:p>
            <a:pPr algn="l" indent="0" marL="0">
              <a:lnSpc>
                <a:spcPct val="100000"/>
              </a:lnSpc>
              <a:buNone/>
            </a:pPr>
            <a:r>
              <a:rPr lang="en-US" sz="1500" dirty="0">
                <a:solidFill>
                  <a:srgbClr val="F24E6B"/>
                </a:solidFill>
                <a:latin typeface="Inter" pitchFamily="34" charset="0"/>
                <a:ea typeface="Inter" pitchFamily="34" charset="-122"/>
                <a:cs typeface="Inter" pitchFamily="34" charset="-120"/>
              </a:rPr>
              <a:t>11.11%</a:t>
            </a:r>
            <a:endParaRPr lang="en-US" sz="1500" dirty="0"/>
          </a:p>
        </p:txBody>
      </p:sp>
      <p:sp>
        <p:nvSpPr>
          <p:cNvPr id="11" name="Text 8"/>
          <p:cNvSpPr/>
          <p:nvPr/>
        </p:nvSpPr>
        <p:spPr>
          <a:xfrm>
            <a:off x="3399575" y="3942364"/>
            <a:ext cx="1599205" cy="457086"/>
          </a:xfrm>
          <a:prstGeom prst="rect">
            <a:avLst/>
          </a:prstGeom>
          <a:ln/>
        </p:spPr>
        <p:txBody>
          <a:bodyPr wrap="square" lIns="0" tIns="0" rIns="0" bIns="0" rtlCol="0" anchor="t"/>
          <a:lstStyle/>
          <a:p>
            <a:pPr algn="l" indent="0" marL="0">
              <a:lnSpc>
                <a:spcPct val="100000"/>
              </a:lnSpc>
              <a:buNone/>
            </a:pPr>
            <a:r>
              <a:rPr lang="en-US" sz="1200" dirty="0">
                <a:solidFill>
                  <a:srgbClr val="A8A8B4"/>
                </a:solidFill>
                <a:latin typeface="Inter" pitchFamily="34" charset="0"/>
                <a:ea typeface="Inter" pitchFamily="34" charset="-122"/>
                <a:cs typeface="Inter" pitchFamily="34" charset="-120"/>
              </a:rPr>
              <a:t>TOTAL ENGAGEMENT</a:t>
            </a:r>
            <a:endParaRPr lang="en-US" sz="1200" dirty="0"/>
          </a:p>
        </p:txBody>
      </p:sp>
      <p:sp>
        <p:nvSpPr>
          <p:cNvPr id="12" name="Text 9"/>
          <p:cNvSpPr/>
          <p:nvPr/>
        </p:nvSpPr>
        <p:spPr>
          <a:xfrm>
            <a:off x="3399575" y="4520070"/>
            <a:ext cx="621983" cy="457086"/>
          </a:xfrm>
          <a:prstGeom prst="rect">
            <a:avLst/>
          </a:prstGeom>
          <a:ln/>
        </p:spPr>
        <p:txBody>
          <a:bodyPr wrap="none" lIns="0" tIns="0" rIns="0" bIns="0" rtlCol="0" anchor="t"/>
          <a:lstStyle/>
          <a:p>
            <a:pPr algn="l" indent="0" marL="0">
              <a:lnSpc>
                <a:spcPct val="100000"/>
              </a:lnSpc>
              <a:buNone/>
            </a:pPr>
            <a:r>
              <a:rPr lang="en-US" sz="2999" dirty="0">
                <a:solidFill>
                  <a:srgbClr val="080812"/>
                </a:solidFill>
                <a:latin typeface="Inter" pitchFamily="34" charset="0"/>
                <a:ea typeface="Inter" pitchFamily="34" charset="-122"/>
                <a:cs typeface="Inter" pitchFamily="34" charset="-120"/>
              </a:rPr>
              <a:t>56</a:t>
            </a:r>
            <a:endParaRPr lang="en-US" sz="2999" dirty="0"/>
          </a:p>
        </p:txBody>
      </p:sp>
      <p:sp>
        <p:nvSpPr>
          <p:cNvPr id="13" name="Text 10"/>
          <p:cNvSpPr/>
          <p:nvPr/>
        </p:nvSpPr>
        <p:spPr>
          <a:xfrm>
            <a:off x="3590027" y="5104124"/>
            <a:ext cx="854748" cy="228543"/>
          </a:xfrm>
          <a:prstGeom prst="rect">
            <a:avLst/>
          </a:prstGeom>
          <a:ln/>
        </p:spPr>
        <p:txBody>
          <a:bodyPr wrap="none" lIns="0" tIns="0" rIns="0" bIns="0" rtlCol="0" anchor="t"/>
          <a:lstStyle/>
          <a:p>
            <a:pPr algn="l" indent="0" marL="0">
              <a:lnSpc>
                <a:spcPct val="100000"/>
              </a:lnSpc>
              <a:buNone/>
            </a:pPr>
            <a:r>
              <a:rPr lang="en-US" sz="1500" dirty="0">
                <a:solidFill>
                  <a:srgbClr val="F24E6B"/>
                </a:solidFill>
                <a:latin typeface="Inter" pitchFamily="34" charset="0"/>
                <a:ea typeface="Inter" pitchFamily="34" charset="-122"/>
                <a:cs typeface="Inter" pitchFamily="34" charset="-120"/>
              </a:rPr>
              <a:t>73.83%</a:t>
            </a:r>
            <a:endParaRPr lang="en-US" sz="1500" dirty="0"/>
          </a:p>
        </p:txBody>
      </p:sp>
      <p:sp>
        <p:nvSpPr>
          <p:cNvPr id="14" name="Text 11"/>
          <p:cNvSpPr/>
          <p:nvPr/>
        </p:nvSpPr>
        <p:spPr>
          <a:xfrm>
            <a:off x="6297625" y="3942364"/>
            <a:ext cx="1974356" cy="457086"/>
          </a:xfrm>
          <a:prstGeom prst="rect">
            <a:avLst/>
          </a:prstGeom>
          <a:ln/>
        </p:spPr>
        <p:txBody>
          <a:bodyPr wrap="square" lIns="0" tIns="0" rIns="0" bIns="0" rtlCol="0" anchor="t"/>
          <a:lstStyle/>
          <a:p>
            <a:pPr algn="l" indent="0" marL="0">
              <a:lnSpc>
                <a:spcPct val="100000"/>
              </a:lnSpc>
              <a:buNone/>
            </a:pPr>
            <a:r>
              <a:rPr lang="en-US" sz="1200" dirty="0">
                <a:solidFill>
                  <a:srgbClr val="A8A8B4"/>
                </a:solidFill>
                <a:latin typeface="Inter" pitchFamily="34" charset="0"/>
                <a:ea typeface="Inter" pitchFamily="34" charset="-122"/>
                <a:cs typeface="Inter" pitchFamily="34" charset="-120"/>
              </a:rPr>
              <a:t>AVG ENGAGEMENT / POST</a:t>
            </a:r>
            <a:endParaRPr lang="en-US" sz="1200" dirty="0"/>
          </a:p>
        </p:txBody>
      </p:sp>
      <p:sp>
        <p:nvSpPr>
          <p:cNvPr id="15" name="Text 12"/>
          <p:cNvSpPr/>
          <p:nvPr/>
        </p:nvSpPr>
        <p:spPr>
          <a:xfrm>
            <a:off x="6297625" y="4520070"/>
            <a:ext cx="723533" cy="457086"/>
          </a:xfrm>
          <a:prstGeom prst="rect">
            <a:avLst/>
          </a:prstGeom>
          <a:ln/>
        </p:spPr>
        <p:txBody>
          <a:bodyPr wrap="none" lIns="0" tIns="0" rIns="0" bIns="0" rtlCol="0" anchor="t"/>
          <a:lstStyle/>
          <a:p>
            <a:pPr algn="l" indent="0" marL="0">
              <a:lnSpc>
                <a:spcPct val="100000"/>
              </a:lnSpc>
              <a:buNone/>
            </a:pPr>
            <a:r>
              <a:rPr lang="en-US" sz="2999" dirty="0">
                <a:solidFill>
                  <a:srgbClr val="080812"/>
                </a:solidFill>
                <a:latin typeface="Inter" pitchFamily="34" charset="0"/>
                <a:ea typeface="Inter" pitchFamily="34" charset="-122"/>
                <a:cs typeface="Inter" pitchFamily="34" charset="-120"/>
              </a:rPr>
              <a:t>3.5</a:t>
            </a:r>
            <a:endParaRPr lang="en-US" sz="2999" dirty="0"/>
          </a:p>
        </p:txBody>
      </p:sp>
      <p:sp>
        <p:nvSpPr>
          <p:cNvPr id="16" name="Text 13"/>
          <p:cNvSpPr/>
          <p:nvPr/>
        </p:nvSpPr>
        <p:spPr>
          <a:xfrm>
            <a:off x="6488078" y="5104124"/>
            <a:ext cx="855492" cy="228543"/>
          </a:xfrm>
          <a:prstGeom prst="rect">
            <a:avLst/>
          </a:prstGeom>
          <a:ln/>
        </p:spPr>
        <p:txBody>
          <a:bodyPr wrap="none" lIns="0" tIns="0" rIns="0" bIns="0" rtlCol="0" anchor="t"/>
          <a:lstStyle/>
          <a:p>
            <a:pPr algn="l" indent="0" marL="0">
              <a:lnSpc>
                <a:spcPct val="100000"/>
              </a:lnSpc>
              <a:buNone/>
            </a:pPr>
            <a:r>
              <a:rPr lang="en-US" sz="1500" dirty="0">
                <a:solidFill>
                  <a:srgbClr val="F24E6B"/>
                </a:solidFill>
                <a:latin typeface="Inter" pitchFamily="34" charset="0"/>
                <a:ea typeface="Inter" pitchFamily="34" charset="-122"/>
                <a:cs typeface="Inter" pitchFamily="34" charset="-120"/>
              </a:rPr>
              <a:t>70.56%</a:t>
            </a:r>
            <a:endParaRPr lang="en-US" sz="1500" dirty="0"/>
          </a:p>
        </p:txBody>
      </p:sp>
      <p:sp>
        <p:nvSpPr>
          <p:cNvPr id="17" name="Text 14"/>
          <p:cNvSpPr/>
          <p:nvPr/>
        </p:nvSpPr>
        <p:spPr>
          <a:xfrm>
            <a:off x="9195676" y="3942364"/>
            <a:ext cx="1869806" cy="457086"/>
          </a:xfrm>
          <a:prstGeom prst="rect">
            <a:avLst/>
          </a:prstGeom>
          <a:ln/>
        </p:spPr>
        <p:txBody>
          <a:bodyPr wrap="square" lIns="0" tIns="0" rIns="0" bIns="0" rtlCol="0" anchor="t"/>
          <a:lstStyle/>
          <a:p>
            <a:pPr algn="l" indent="0" marL="0">
              <a:lnSpc>
                <a:spcPct val="100000"/>
              </a:lnSpc>
              <a:buNone/>
            </a:pPr>
            <a:r>
              <a:rPr lang="en-US" sz="1200" dirty="0">
                <a:solidFill>
                  <a:srgbClr val="A8A8B4"/>
                </a:solidFill>
                <a:latin typeface="Inter" pitchFamily="34" charset="0"/>
                <a:ea typeface="Inter" pitchFamily="34" charset="-122"/>
                <a:cs typeface="Inter" pitchFamily="34" charset="-120"/>
              </a:rPr>
              <a:t>AVG ENGAGEMENT / DAY</a:t>
            </a:r>
            <a:endParaRPr lang="en-US" sz="1200" dirty="0"/>
          </a:p>
        </p:txBody>
      </p:sp>
      <p:sp>
        <p:nvSpPr>
          <p:cNvPr id="18" name="Text 15"/>
          <p:cNvSpPr/>
          <p:nvPr/>
        </p:nvSpPr>
        <p:spPr>
          <a:xfrm>
            <a:off x="9195676" y="4520070"/>
            <a:ext cx="662529" cy="457086"/>
          </a:xfrm>
          <a:prstGeom prst="rect">
            <a:avLst/>
          </a:prstGeom>
          <a:ln/>
        </p:spPr>
        <p:txBody>
          <a:bodyPr wrap="none" lIns="0" tIns="0" rIns="0" bIns="0" rtlCol="0" anchor="t"/>
          <a:lstStyle/>
          <a:p>
            <a:pPr algn="l" indent="0" marL="0">
              <a:lnSpc>
                <a:spcPct val="100000"/>
              </a:lnSpc>
              <a:buNone/>
            </a:pPr>
            <a:r>
              <a:rPr lang="en-US" sz="2999" dirty="0">
                <a:solidFill>
                  <a:srgbClr val="080812"/>
                </a:solidFill>
                <a:latin typeface="Inter" pitchFamily="34" charset="0"/>
                <a:ea typeface="Inter" pitchFamily="34" charset="-122"/>
                <a:cs typeface="Inter" pitchFamily="34" charset="-120"/>
              </a:rPr>
              <a:t>1.9</a:t>
            </a:r>
            <a:endParaRPr lang="en-US" sz="2999" dirty="0"/>
          </a:p>
        </p:txBody>
      </p:sp>
      <p:sp>
        <p:nvSpPr>
          <p:cNvPr id="19" name="Text 16"/>
          <p:cNvSpPr/>
          <p:nvPr/>
        </p:nvSpPr>
        <p:spPr>
          <a:xfrm>
            <a:off x="9386128" y="5104124"/>
            <a:ext cx="854748" cy="228543"/>
          </a:xfrm>
          <a:prstGeom prst="rect">
            <a:avLst/>
          </a:prstGeom>
          <a:ln/>
        </p:spPr>
        <p:txBody>
          <a:bodyPr wrap="none" lIns="0" tIns="0" rIns="0" bIns="0" rtlCol="0" anchor="t"/>
          <a:lstStyle/>
          <a:p>
            <a:pPr algn="l" indent="0" marL="0">
              <a:lnSpc>
                <a:spcPct val="100000"/>
              </a:lnSpc>
              <a:buNone/>
            </a:pPr>
            <a:r>
              <a:rPr lang="en-US" sz="1500" dirty="0">
                <a:solidFill>
                  <a:srgbClr val="F24E6B"/>
                </a:solidFill>
                <a:latin typeface="Inter" pitchFamily="34" charset="0"/>
                <a:ea typeface="Inter" pitchFamily="34" charset="-122"/>
                <a:cs typeface="Inter" pitchFamily="34" charset="-120"/>
              </a:rPr>
              <a:t>73.83%</a:t>
            </a:r>
            <a:endParaRPr lang="en-US" sz="1500" dirty="0"/>
          </a:p>
        </p:txBody>
      </p:sp>
      <p:sp>
        <p:nvSpPr>
          <p:cNvPr id="20" name="Text 17"/>
          <p:cNvSpPr/>
          <p:nvPr/>
        </p:nvSpPr>
        <p:spPr>
          <a:xfrm>
            <a:off x="317421" y="6335716"/>
            <a:ext cx="1433328"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Source: Socialinsider</a:t>
            </a:r>
            <a:endParaRPr lang="en-US" sz="1000" dirty="0"/>
          </a:p>
        </p:txBody>
      </p:sp>
      <p:sp>
        <p:nvSpPr>
          <p:cNvPr id="21" name="Text 18"/>
          <p:cNvSpPr/>
          <p:nvPr/>
        </p:nvSpPr>
        <p:spPr>
          <a:xfrm>
            <a:off x="317421" y="6589652"/>
            <a:ext cx="2443060"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Date range: 02 Jul 2026 - 31 Jul 2026</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88952" cy="6858000"/>
          </a:xfrm>
          <a:prstGeom prst="rect">
            <a:avLst/>
          </a:prstGeom>
        </p:spPr>
      </p:pic>
      <p:sp>
        <p:nvSpPr>
          <p:cNvPr id="3" name="Text 0"/>
          <p:cNvSpPr/>
          <p:nvPr/>
        </p:nvSpPr>
        <p:spPr>
          <a:xfrm>
            <a:off x="342814" y="114271"/>
            <a:ext cx="1126236"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Psg Gold</a:t>
            </a:r>
            <a:endParaRPr lang="en-US" sz="1800" dirty="0"/>
          </a:p>
        </p:txBody>
      </p:sp>
      <p:sp>
        <p:nvSpPr>
          <p:cNvPr id="4" name="Text 1"/>
          <p:cNvSpPr/>
          <p:nvPr/>
        </p:nvSpPr>
        <p:spPr>
          <a:xfrm>
            <a:off x="4818197" y="114271"/>
            <a:ext cx="2704833"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POSTS PERFORMANCE</a:t>
            </a:r>
            <a:endParaRPr lang="en-US" sz="1800" dirty="0"/>
          </a:p>
        </p:txBody>
      </p:sp>
      <p:sp>
        <p:nvSpPr>
          <p:cNvPr id="5" name="Text 2"/>
          <p:cNvSpPr/>
          <p:nvPr/>
        </p:nvSpPr>
        <p:spPr>
          <a:xfrm>
            <a:off x="11546671" y="139665"/>
            <a:ext cx="451804" cy="228543"/>
          </a:xfrm>
          <a:prstGeom prst="rect">
            <a:avLst/>
          </a:prstGeom>
          <a:ln/>
        </p:spPr>
        <p:txBody>
          <a:bodyPr wrap="none" lIns="0" tIns="0" rIns="0" bIns="0" rtlCol="0" anchor="t"/>
          <a:lstStyle/>
          <a:p>
            <a:pPr algn="l" indent="0" marL="0">
              <a:lnSpc>
                <a:spcPct val="100000"/>
              </a:lnSpc>
              <a:buNone/>
            </a:pPr>
            <a:r>
              <a:rPr lang="en-US" sz="1500" dirty="0">
                <a:solidFill>
                  <a:srgbClr val="A8A8B4"/>
                </a:solidFill>
                <a:latin typeface="Inter" pitchFamily="34" charset="0"/>
                <a:ea typeface="Inter" pitchFamily="34" charset="-122"/>
                <a:cs typeface="Inter" pitchFamily="34" charset="-120"/>
              </a:rPr>
              <a:t>5/8</a:t>
            </a:r>
            <a:endParaRPr lang="en-US" sz="1500" dirty="0"/>
          </a:p>
        </p:txBody>
      </p:sp>
      <p:sp>
        <p:nvSpPr>
          <p:cNvPr id="6" name="Text 3"/>
          <p:cNvSpPr/>
          <p:nvPr/>
        </p:nvSpPr>
        <p:spPr>
          <a:xfrm>
            <a:off x="374556" y="1136366"/>
            <a:ext cx="1719254" cy="152362"/>
          </a:xfrm>
          <a:prstGeom prst="rect">
            <a:avLst/>
          </a:prstGeom>
          <a:ln/>
        </p:spPr>
        <p:txBody>
          <a:bodyPr wrap="none" lIns="0" tIns="0" rIns="0" bIns="0" rtlCol="0" anchor="t"/>
          <a:lstStyle/>
          <a:p>
            <a:pPr algn="l" indent="0" marL="0">
              <a:lnSpc>
                <a:spcPct val="100000"/>
              </a:lnSpc>
              <a:buNone/>
            </a:pPr>
            <a:r>
              <a:rPr lang="en-US" sz="1000" b="1" dirty="0">
                <a:solidFill>
                  <a:srgbClr val="A8A8B4"/>
                </a:solidFill>
                <a:latin typeface="Inter" pitchFamily="34" charset="0"/>
                <a:ea typeface="Inter" pitchFamily="34" charset="-122"/>
                <a:cs typeface="Inter" pitchFamily="34" charset="-120"/>
              </a:rPr>
              <a:t>POSTS TO ENGAGEMENT</a:t>
            </a:r>
            <a:endParaRPr lang="en-US" sz="1000" dirty="0"/>
          </a:p>
        </p:txBody>
      </p:sp>
      <p:sp>
        <p:nvSpPr>
          <p:cNvPr id="7" name="Text 4"/>
          <p:cNvSpPr/>
          <p:nvPr/>
        </p:nvSpPr>
        <p:spPr>
          <a:xfrm>
            <a:off x="374556" y="1409348"/>
            <a:ext cx="11439839" cy="1022094"/>
          </a:xfrm>
          <a:prstGeom prst="rect">
            <a:avLst/>
          </a:prstGeom>
          <a:ln/>
        </p:spPr>
        <p:txBody>
          <a:bodyPr wrap="square" lIns="0" tIns="0" rIns="0" bIns="0" rtlCol="0" anchor="t"/>
          <a:lstStyle/>
          <a:p>
            <a:pPr algn="l" indent="0" marL="0">
              <a:lnSpc>
                <a:spcPct val="82000"/>
              </a:lnSpc>
              <a:buNone/>
            </a:pPr>
            <a:r>
              <a:rPr lang="en-US" sz="3599" b="1" dirty="0">
                <a:solidFill>
                  <a:srgbClr val="080812"/>
                </a:solidFill>
                <a:latin typeface="Inter" pitchFamily="34" charset="0"/>
                <a:ea typeface="Inter" pitchFamily="34" charset="-122"/>
                <a:cs typeface="Inter" pitchFamily="34" charset="-120"/>
              </a:rPr>
              <a:t>Psg Gold posted 14.49% more, but engagement dropped 10.40%.</a:t>
            </a:r>
            <a:endParaRPr lang="en-US" sz="3599" dirty="0"/>
          </a:p>
        </p:txBody>
      </p:sp>
      <p:sp>
        <p:nvSpPr>
          <p:cNvPr id="8" name="Text 5"/>
          <p:cNvSpPr/>
          <p:nvPr/>
        </p:nvSpPr>
        <p:spPr>
          <a:xfrm>
            <a:off x="374556" y="2558410"/>
            <a:ext cx="4430622" cy="133317"/>
          </a:xfrm>
          <a:prstGeom prst="rect">
            <a:avLst/>
          </a:prstGeom>
          <a:ln/>
        </p:spPr>
        <p:txBody>
          <a:bodyPr wrap="none" lIns="0" tIns="0" rIns="0" bIns="0" rtlCol="0" anchor="t"/>
          <a:lstStyle/>
          <a:p>
            <a:pPr algn="l" indent="0" marL="0">
              <a:lnSpc>
                <a:spcPct val="100000"/>
              </a:lnSpc>
              <a:buNone/>
            </a:pPr>
            <a:r>
              <a:rPr lang="en-US" sz="900" dirty="0">
                <a:solidFill>
                  <a:srgbClr val="5B5B69"/>
                </a:solidFill>
                <a:latin typeface="Inter" pitchFamily="34" charset="0"/>
                <a:ea typeface="Inter" pitchFamily="34" charset="-122"/>
                <a:cs typeface="Inter" pitchFamily="34" charset="-120"/>
              </a:rPr>
              <a:t>More posts produced less engagement — review content quality or frequency.</a:t>
            </a:r>
            <a:endParaRPr lang="en-US" sz="900" dirty="0"/>
          </a:p>
        </p:txBody>
      </p:sp>
      <p:sp>
        <p:nvSpPr>
          <p:cNvPr id="9" name="Text 6"/>
          <p:cNvSpPr/>
          <p:nvPr/>
        </p:nvSpPr>
        <p:spPr>
          <a:xfrm>
            <a:off x="501525" y="4107423"/>
            <a:ext cx="1037866" cy="457086"/>
          </a:xfrm>
          <a:prstGeom prst="rect">
            <a:avLst/>
          </a:prstGeom>
          <a:ln/>
        </p:spPr>
        <p:txBody>
          <a:bodyPr wrap="square" lIns="0" tIns="0" rIns="0" bIns="0" rtlCol="0" anchor="t"/>
          <a:lstStyle/>
          <a:p>
            <a:pPr algn="l" indent="0" marL="0">
              <a:lnSpc>
                <a:spcPct val="100000"/>
              </a:lnSpc>
              <a:buNone/>
            </a:pPr>
            <a:r>
              <a:rPr lang="en-US" sz="1200" dirty="0">
                <a:solidFill>
                  <a:srgbClr val="A8A8B4"/>
                </a:solidFill>
                <a:latin typeface="Inter" pitchFamily="34" charset="0"/>
                <a:ea typeface="Inter" pitchFamily="34" charset="-122"/>
                <a:cs typeface="Inter" pitchFamily="34" charset="-120"/>
              </a:rPr>
              <a:t>TOTAL POSTS</a:t>
            </a:r>
            <a:endParaRPr lang="en-US" sz="1200" dirty="0"/>
          </a:p>
        </p:txBody>
      </p:sp>
      <p:sp>
        <p:nvSpPr>
          <p:cNvPr id="10" name="Text 7"/>
          <p:cNvSpPr/>
          <p:nvPr/>
        </p:nvSpPr>
        <p:spPr>
          <a:xfrm>
            <a:off x="501525" y="4685128"/>
            <a:ext cx="843496" cy="457086"/>
          </a:xfrm>
          <a:prstGeom prst="rect">
            <a:avLst/>
          </a:prstGeom>
          <a:ln/>
        </p:spPr>
        <p:txBody>
          <a:bodyPr wrap="none" lIns="0" tIns="0" rIns="0" bIns="0" rtlCol="0" anchor="t"/>
          <a:lstStyle/>
          <a:p>
            <a:pPr algn="l" indent="0" marL="0">
              <a:lnSpc>
                <a:spcPct val="100000"/>
              </a:lnSpc>
              <a:buNone/>
            </a:pPr>
            <a:r>
              <a:rPr lang="en-US" sz="2999" dirty="0">
                <a:solidFill>
                  <a:srgbClr val="080812"/>
                </a:solidFill>
                <a:latin typeface="Inter" pitchFamily="34" charset="0"/>
                <a:ea typeface="Inter" pitchFamily="34" charset="-122"/>
                <a:cs typeface="Inter" pitchFamily="34" charset="-120"/>
              </a:rPr>
              <a:t>237</a:t>
            </a:r>
            <a:endParaRPr lang="en-US" sz="2999" dirty="0"/>
          </a:p>
        </p:txBody>
      </p:sp>
      <p:sp>
        <p:nvSpPr>
          <p:cNvPr id="11" name="Text 8"/>
          <p:cNvSpPr/>
          <p:nvPr/>
        </p:nvSpPr>
        <p:spPr>
          <a:xfrm>
            <a:off x="691977" y="5269182"/>
            <a:ext cx="841822" cy="228543"/>
          </a:xfrm>
          <a:prstGeom prst="rect">
            <a:avLst/>
          </a:prstGeom>
          <a:ln/>
        </p:spPr>
        <p:txBody>
          <a:bodyPr wrap="none" lIns="0" tIns="0" rIns="0" bIns="0" rtlCol="0" anchor="t"/>
          <a:lstStyle/>
          <a:p>
            <a:pPr algn="l" indent="0" marL="0">
              <a:lnSpc>
                <a:spcPct val="100000"/>
              </a:lnSpc>
              <a:buNone/>
            </a:pPr>
            <a:r>
              <a:rPr lang="en-US" sz="1500" dirty="0">
                <a:solidFill>
                  <a:srgbClr val="57BCBD"/>
                </a:solidFill>
                <a:latin typeface="Inter" pitchFamily="34" charset="0"/>
                <a:ea typeface="Inter" pitchFamily="34" charset="-122"/>
                <a:cs typeface="Inter" pitchFamily="34" charset="-120"/>
              </a:rPr>
              <a:t>14.49%</a:t>
            </a:r>
            <a:endParaRPr lang="en-US" sz="1500" dirty="0"/>
          </a:p>
        </p:txBody>
      </p:sp>
      <p:sp>
        <p:nvSpPr>
          <p:cNvPr id="12" name="Text 9"/>
          <p:cNvSpPr/>
          <p:nvPr/>
        </p:nvSpPr>
        <p:spPr>
          <a:xfrm>
            <a:off x="3399575" y="4107423"/>
            <a:ext cx="1599205" cy="457086"/>
          </a:xfrm>
          <a:prstGeom prst="rect">
            <a:avLst/>
          </a:prstGeom>
          <a:ln/>
        </p:spPr>
        <p:txBody>
          <a:bodyPr wrap="square" lIns="0" tIns="0" rIns="0" bIns="0" rtlCol="0" anchor="t"/>
          <a:lstStyle/>
          <a:p>
            <a:pPr algn="l" indent="0" marL="0">
              <a:lnSpc>
                <a:spcPct val="100000"/>
              </a:lnSpc>
              <a:buNone/>
            </a:pPr>
            <a:r>
              <a:rPr lang="en-US" sz="1200" dirty="0">
                <a:solidFill>
                  <a:srgbClr val="A8A8B4"/>
                </a:solidFill>
                <a:latin typeface="Inter" pitchFamily="34" charset="0"/>
                <a:ea typeface="Inter" pitchFamily="34" charset="-122"/>
                <a:cs typeface="Inter" pitchFamily="34" charset="-120"/>
              </a:rPr>
              <a:t>TOTAL ENGAGEMENT</a:t>
            </a:r>
            <a:endParaRPr lang="en-US" sz="1200" dirty="0"/>
          </a:p>
        </p:txBody>
      </p:sp>
      <p:sp>
        <p:nvSpPr>
          <p:cNvPr id="13" name="Text 10"/>
          <p:cNvSpPr/>
          <p:nvPr/>
        </p:nvSpPr>
        <p:spPr>
          <a:xfrm>
            <a:off x="3399575" y="4685128"/>
            <a:ext cx="1227004" cy="457086"/>
          </a:xfrm>
          <a:prstGeom prst="rect">
            <a:avLst/>
          </a:prstGeom>
          <a:ln/>
        </p:spPr>
        <p:txBody>
          <a:bodyPr wrap="none" lIns="0" tIns="0" rIns="0" bIns="0" rtlCol="0" anchor="t"/>
          <a:lstStyle/>
          <a:p>
            <a:pPr algn="l" indent="0" marL="0">
              <a:lnSpc>
                <a:spcPct val="100000"/>
              </a:lnSpc>
              <a:buNone/>
            </a:pPr>
            <a:r>
              <a:rPr lang="en-US" sz="2999" dirty="0">
                <a:solidFill>
                  <a:srgbClr val="080812"/>
                </a:solidFill>
                <a:latin typeface="Inter" pitchFamily="34" charset="0"/>
                <a:ea typeface="Inter" pitchFamily="34" charset="-122"/>
                <a:cs typeface="Inter" pitchFamily="34" charset="-120"/>
              </a:rPr>
              <a:t>66.6K</a:t>
            </a:r>
            <a:endParaRPr lang="en-US" sz="2999" dirty="0"/>
          </a:p>
        </p:txBody>
      </p:sp>
      <p:sp>
        <p:nvSpPr>
          <p:cNvPr id="14" name="Text 11"/>
          <p:cNvSpPr/>
          <p:nvPr/>
        </p:nvSpPr>
        <p:spPr>
          <a:xfrm>
            <a:off x="3590027" y="5269182"/>
            <a:ext cx="721115" cy="228543"/>
          </a:xfrm>
          <a:prstGeom prst="rect">
            <a:avLst/>
          </a:prstGeom>
          <a:ln/>
        </p:spPr>
        <p:txBody>
          <a:bodyPr wrap="none" lIns="0" tIns="0" rIns="0" bIns="0" rtlCol="0" anchor="t"/>
          <a:lstStyle/>
          <a:p>
            <a:pPr algn="l" indent="0" marL="0">
              <a:lnSpc>
                <a:spcPct val="100000"/>
              </a:lnSpc>
              <a:buNone/>
            </a:pPr>
            <a:r>
              <a:rPr lang="en-US" sz="1500" dirty="0">
                <a:solidFill>
                  <a:srgbClr val="F24E6B"/>
                </a:solidFill>
                <a:latin typeface="Inter" pitchFamily="34" charset="0"/>
                <a:ea typeface="Inter" pitchFamily="34" charset="-122"/>
                <a:cs typeface="Inter" pitchFamily="34" charset="-120"/>
              </a:rPr>
              <a:t>10.4%</a:t>
            </a:r>
            <a:endParaRPr lang="en-US" sz="1500" dirty="0"/>
          </a:p>
        </p:txBody>
      </p:sp>
      <p:sp>
        <p:nvSpPr>
          <p:cNvPr id="15" name="Text 12"/>
          <p:cNvSpPr/>
          <p:nvPr/>
        </p:nvSpPr>
        <p:spPr>
          <a:xfrm>
            <a:off x="6297625" y="4107423"/>
            <a:ext cx="1974356" cy="457086"/>
          </a:xfrm>
          <a:prstGeom prst="rect">
            <a:avLst/>
          </a:prstGeom>
          <a:ln/>
        </p:spPr>
        <p:txBody>
          <a:bodyPr wrap="square" lIns="0" tIns="0" rIns="0" bIns="0" rtlCol="0" anchor="t"/>
          <a:lstStyle/>
          <a:p>
            <a:pPr algn="l" indent="0" marL="0">
              <a:lnSpc>
                <a:spcPct val="100000"/>
              </a:lnSpc>
              <a:buNone/>
            </a:pPr>
            <a:r>
              <a:rPr lang="en-US" sz="1200" dirty="0">
                <a:solidFill>
                  <a:srgbClr val="A8A8B4"/>
                </a:solidFill>
                <a:latin typeface="Inter" pitchFamily="34" charset="0"/>
                <a:ea typeface="Inter" pitchFamily="34" charset="-122"/>
                <a:cs typeface="Inter" pitchFamily="34" charset="-120"/>
              </a:rPr>
              <a:t>AVG ENGAGEMENT / POST</a:t>
            </a:r>
            <a:endParaRPr lang="en-US" sz="1200" dirty="0"/>
          </a:p>
        </p:txBody>
      </p:sp>
      <p:sp>
        <p:nvSpPr>
          <p:cNvPr id="16" name="Text 13"/>
          <p:cNvSpPr/>
          <p:nvPr/>
        </p:nvSpPr>
        <p:spPr>
          <a:xfrm>
            <a:off x="6297625" y="4685128"/>
            <a:ext cx="1214543" cy="457086"/>
          </a:xfrm>
          <a:prstGeom prst="rect">
            <a:avLst/>
          </a:prstGeom>
          <a:ln/>
        </p:spPr>
        <p:txBody>
          <a:bodyPr wrap="none" lIns="0" tIns="0" rIns="0" bIns="0" rtlCol="0" anchor="t"/>
          <a:lstStyle/>
          <a:p>
            <a:pPr algn="l" indent="0" marL="0">
              <a:lnSpc>
                <a:spcPct val="100000"/>
              </a:lnSpc>
              <a:buNone/>
            </a:pPr>
            <a:r>
              <a:rPr lang="en-US" sz="2999" dirty="0">
                <a:solidFill>
                  <a:srgbClr val="080812"/>
                </a:solidFill>
                <a:latin typeface="Inter" pitchFamily="34" charset="0"/>
                <a:ea typeface="Inter" pitchFamily="34" charset="-122"/>
                <a:cs typeface="Inter" pitchFamily="34" charset="-120"/>
              </a:rPr>
              <a:t>280.9</a:t>
            </a:r>
            <a:endParaRPr lang="en-US" sz="2999" dirty="0"/>
          </a:p>
        </p:txBody>
      </p:sp>
      <p:sp>
        <p:nvSpPr>
          <p:cNvPr id="17" name="Text 14"/>
          <p:cNvSpPr/>
          <p:nvPr/>
        </p:nvSpPr>
        <p:spPr>
          <a:xfrm>
            <a:off x="6488078" y="5269182"/>
            <a:ext cx="814017" cy="228543"/>
          </a:xfrm>
          <a:prstGeom prst="rect">
            <a:avLst/>
          </a:prstGeom>
          <a:ln/>
        </p:spPr>
        <p:txBody>
          <a:bodyPr wrap="none" lIns="0" tIns="0" rIns="0" bIns="0" rtlCol="0" anchor="t"/>
          <a:lstStyle/>
          <a:p>
            <a:pPr algn="l" indent="0" marL="0">
              <a:lnSpc>
                <a:spcPct val="100000"/>
              </a:lnSpc>
              <a:buNone/>
            </a:pPr>
            <a:r>
              <a:rPr lang="en-US" sz="1500" dirty="0">
                <a:solidFill>
                  <a:srgbClr val="F24E6B"/>
                </a:solidFill>
                <a:latin typeface="Inter" pitchFamily="34" charset="0"/>
                <a:ea typeface="Inter" pitchFamily="34" charset="-122"/>
                <a:cs typeface="Inter" pitchFamily="34" charset="-120"/>
              </a:rPr>
              <a:t>21.75%</a:t>
            </a:r>
            <a:endParaRPr lang="en-US" sz="1500" dirty="0"/>
          </a:p>
        </p:txBody>
      </p:sp>
      <p:sp>
        <p:nvSpPr>
          <p:cNvPr id="18" name="Text 15"/>
          <p:cNvSpPr/>
          <p:nvPr/>
        </p:nvSpPr>
        <p:spPr>
          <a:xfrm>
            <a:off x="9195676" y="4107423"/>
            <a:ext cx="1869806" cy="457086"/>
          </a:xfrm>
          <a:prstGeom prst="rect">
            <a:avLst/>
          </a:prstGeom>
          <a:ln/>
        </p:spPr>
        <p:txBody>
          <a:bodyPr wrap="square" lIns="0" tIns="0" rIns="0" bIns="0" rtlCol="0" anchor="t"/>
          <a:lstStyle/>
          <a:p>
            <a:pPr algn="l" indent="0" marL="0">
              <a:lnSpc>
                <a:spcPct val="100000"/>
              </a:lnSpc>
              <a:buNone/>
            </a:pPr>
            <a:r>
              <a:rPr lang="en-US" sz="1200" dirty="0">
                <a:solidFill>
                  <a:srgbClr val="A8A8B4"/>
                </a:solidFill>
                <a:latin typeface="Inter" pitchFamily="34" charset="0"/>
                <a:ea typeface="Inter" pitchFamily="34" charset="-122"/>
                <a:cs typeface="Inter" pitchFamily="34" charset="-120"/>
              </a:rPr>
              <a:t>AVG ENGAGEMENT / DAY</a:t>
            </a:r>
            <a:endParaRPr lang="en-US" sz="1200" dirty="0"/>
          </a:p>
        </p:txBody>
      </p:sp>
      <p:sp>
        <p:nvSpPr>
          <p:cNvPr id="19" name="Text 16"/>
          <p:cNvSpPr/>
          <p:nvPr/>
        </p:nvSpPr>
        <p:spPr>
          <a:xfrm>
            <a:off x="9195676" y="4685128"/>
            <a:ext cx="1135312" cy="457086"/>
          </a:xfrm>
          <a:prstGeom prst="rect">
            <a:avLst/>
          </a:prstGeom>
          <a:ln/>
        </p:spPr>
        <p:txBody>
          <a:bodyPr wrap="none" lIns="0" tIns="0" rIns="0" bIns="0" rtlCol="0" anchor="t"/>
          <a:lstStyle/>
          <a:p>
            <a:pPr algn="l" indent="0" marL="0">
              <a:lnSpc>
                <a:spcPct val="100000"/>
              </a:lnSpc>
              <a:buNone/>
            </a:pPr>
            <a:r>
              <a:rPr lang="en-US" sz="2999" dirty="0">
                <a:solidFill>
                  <a:srgbClr val="080812"/>
                </a:solidFill>
                <a:latin typeface="Inter" pitchFamily="34" charset="0"/>
                <a:ea typeface="Inter" pitchFamily="34" charset="-122"/>
                <a:cs typeface="Inter" pitchFamily="34" charset="-120"/>
              </a:rPr>
              <a:t>2,219</a:t>
            </a:r>
            <a:endParaRPr lang="en-US" sz="2999" dirty="0"/>
          </a:p>
        </p:txBody>
      </p:sp>
      <p:sp>
        <p:nvSpPr>
          <p:cNvPr id="20" name="Text 17"/>
          <p:cNvSpPr/>
          <p:nvPr/>
        </p:nvSpPr>
        <p:spPr>
          <a:xfrm>
            <a:off x="9386128" y="5269182"/>
            <a:ext cx="721115" cy="228543"/>
          </a:xfrm>
          <a:prstGeom prst="rect">
            <a:avLst/>
          </a:prstGeom>
          <a:ln/>
        </p:spPr>
        <p:txBody>
          <a:bodyPr wrap="none" lIns="0" tIns="0" rIns="0" bIns="0" rtlCol="0" anchor="t"/>
          <a:lstStyle/>
          <a:p>
            <a:pPr algn="l" indent="0" marL="0">
              <a:lnSpc>
                <a:spcPct val="100000"/>
              </a:lnSpc>
              <a:buNone/>
            </a:pPr>
            <a:r>
              <a:rPr lang="en-US" sz="1500" dirty="0">
                <a:solidFill>
                  <a:srgbClr val="F24E6B"/>
                </a:solidFill>
                <a:latin typeface="Inter" pitchFamily="34" charset="0"/>
                <a:ea typeface="Inter" pitchFamily="34" charset="-122"/>
                <a:cs typeface="Inter" pitchFamily="34" charset="-120"/>
              </a:rPr>
              <a:t>10.4%</a:t>
            </a:r>
            <a:endParaRPr lang="en-US" sz="1500" dirty="0"/>
          </a:p>
        </p:txBody>
      </p:sp>
      <p:sp>
        <p:nvSpPr>
          <p:cNvPr id="21" name="Text 18"/>
          <p:cNvSpPr/>
          <p:nvPr/>
        </p:nvSpPr>
        <p:spPr>
          <a:xfrm>
            <a:off x="317421" y="6335716"/>
            <a:ext cx="1433328"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Source: Socialinsider</a:t>
            </a:r>
            <a:endParaRPr lang="en-US" sz="1000" dirty="0"/>
          </a:p>
        </p:txBody>
      </p:sp>
      <p:sp>
        <p:nvSpPr>
          <p:cNvPr id="22" name="Text 19"/>
          <p:cNvSpPr/>
          <p:nvPr/>
        </p:nvSpPr>
        <p:spPr>
          <a:xfrm>
            <a:off x="317421" y="6589652"/>
            <a:ext cx="2443060"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Date range: 02 Jul 2026 - 31 Jul 2026</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88952" cy="6858000"/>
          </a:xfrm>
          <a:prstGeom prst="rect">
            <a:avLst/>
          </a:prstGeom>
        </p:spPr>
      </p:pic>
      <p:sp>
        <p:nvSpPr>
          <p:cNvPr id="3" name="Text 0"/>
          <p:cNvSpPr/>
          <p:nvPr/>
        </p:nvSpPr>
        <p:spPr>
          <a:xfrm>
            <a:off x="342814" y="114271"/>
            <a:ext cx="3071863"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Padmavathi Jewellery mart</a:t>
            </a:r>
            <a:endParaRPr lang="en-US" sz="1800" dirty="0"/>
          </a:p>
        </p:txBody>
      </p:sp>
      <p:sp>
        <p:nvSpPr>
          <p:cNvPr id="4" name="Text 1"/>
          <p:cNvSpPr/>
          <p:nvPr/>
        </p:nvSpPr>
        <p:spPr>
          <a:xfrm>
            <a:off x="5272357" y="114271"/>
            <a:ext cx="1796576"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TOP CONTENT</a:t>
            </a:r>
            <a:endParaRPr lang="en-US" sz="1800" dirty="0"/>
          </a:p>
        </p:txBody>
      </p:sp>
      <p:sp>
        <p:nvSpPr>
          <p:cNvPr id="5" name="Text 2"/>
          <p:cNvSpPr/>
          <p:nvPr/>
        </p:nvSpPr>
        <p:spPr>
          <a:xfrm>
            <a:off x="11541513" y="139665"/>
            <a:ext cx="456918" cy="228543"/>
          </a:xfrm>
          <a:prstGeom prst="rect">
            <a:avLst/>
          </a:prstGeom>
          <a:ln/>
        </p:spPr>
        <p:txBody>
          <a:bodyPr wrap="none" lIns="0" tIns="0" rIns="0" bIns="0" rtlCol="0" anchor="t"/>
          <a:lstStyle/>
          <a:p>
            <a:pPr algn="l" indent="0" marL="0">
              <a:lnSpc>
                <a:spcPct val="100000"/>
              </a:lnSpc>
              <a:buNone/>
            </a:pPr>
            <a:r>
              <a:rPr lang="en-US" sz="1500" dirty="0">
                <a:solidFill>
                  <a:srgbClr val="A8A8B4"/>
                </a:solidFill>
                <a:latin typeface="Inter" pitchFamily="34" charset="0"/>
                <a:ea typeface="Inter" pitchFamily="34" charset="-122"/>
                <a:cs typeface="Inter" pitchFamily="34" charset="-120"/>
              </a:rPr>
              <a:t>6/8</a:t>
            </a:r>
            <a:endParaRPr lang="en-US" sz="1500" dirty="0"/>
          </a:p>
        </p:txBody>
      </p:sp>
      <p:sp>
        <p:nvSpPr>
          <p:cNvPr id="6" name="Text 3"/>
          <p:cNvSpPr/>
          <p:nvPr/>
        </p:nvSpPr>
        <p:spPr>
          <a:xfrm>
            <a:off x="1422044" y="1015746"/>
            <a:ext cx="1335312" cy="152362"/>
          </a:xfrm>
          <a:prstGeom prst="rect">
            <a:avLst/>
          </a:prstGeom>
          <a:ln/>
        </p:spPr>
        <p:txBody>
          <a:bodyPr wrap="none" lIns="0" tIns="0" rIns="0" bIns="0" rtlCol="0" anchor="t"/>
          <a:lstStyle/>
          <a:p>
            <a:pPr algn="l" indent="0" marL="0">
              <a:lnSpc>
                <a:spcPct val="100000"/>
              </a:lnSpc>
              <a:buNone/>
            </a:pPr>
            <a:r>
              <a:rPr lang="en-US" sz="1000" dirty="0">
                <a:solidFill>
                  <a:srgbClr val="080812"/>
                </a:solidFill>
                <a:latin typeface="Inter" pitchFamily="34" charset="0"/>
                <a:ea typeface="Inter" pitchFamily="34" charset="-122"/>
                <a:cs typeface="Inter" pitchFamily="34" charset="-120"/>
              </a:rPr>
              <a:t>Padmavathi Jewe...</a:t>
            </a:r>
            <a:endParaRPr lang="en-US" sz="1000" dirty="0"/>
          </a:p>
        </p:txBody>
      </p:sp>
      <p:sp>
        <p:nvSpPr>
          <p:cNvPr id="7" name="Text 4"/>
          <p:cNvSpPr/>
          <p:nvPr/>
        </p:nvSpPr>
        <p:spPr>
          <a:xfrm>
            <a:off x="1422044" y="1187153"/>
            <a:ext cx="681066" cy="101575"/>
          </a:xfrm>
          <a:prstGeom prst="rect">
            <a:avLst/>
          </a:prstGeom>
          <a:ln/>
        </p:spPr>
        <p:txBody>
          <a:bodyPr wrap="none" lIns="0" tIns="0" rIns="0" bIns="0" rtlCol="0" anchor="t"/>
          <a:lstStyle/>
          <a:p>
            <a:pPr algn="l" indent="0" marL="0">
              <a:lnSpc>
                <a:spcPct val="100000"/>
              </a:lnSpc>
              <a:buNone/>
            </a:pPr>
            <a:r>
              <a:rPr lang="en-US" sz="650" dirty="0">
                <a:solidFill>
                  <a:srgbClr val="777786"/>
                </a:solidFill>
                <a:latin typeface="Inter" pitchFamily="34" charset="0"/>
                <a:ea typeface="Inter" pitchFamily="34" charset="-122"/>
                <a:cs typeface="Inter" pitchFamily="34" charset="-120"/>
              </a:rPr>
              <a:t>563 followers</a:t>
            </a:r>
            <a:endParaRPr lang="en-US" sz="650" dirty="0"/>
          </a:p>
        </p:txBody>
      </p:sp>
      <p:sp>
        <p:nvSpPr>
          <p:cNvPr id="8" name="Text 5"/>
          <p:cNvSpPr/>
          <p:nvPr/>
        </p:nvSpPr>
        <p:spPr>
          <a:xfrm>
            <a:off x="3064299" y="1022094"/>
            <a:ext cx="762603" cy="126968"/>
          </a:xfrm>
          <a:prstGeom prst="rect">
            <a:avLst/>
          </a:prstGeom>
          <a:ln/>
        </p:spPr>
        <p:txBody>
          <a:bodyPr wrap="none" lIns="0" tIns="0" rIns="0" bIns="0" rtlCol="0" anchor="t"/>
          <a:lstStyle/>
          <a:p>
            <a:pPr algn="l" indent="0" marL="0">
              <a:lnSpc>
                <a:spcPct val="100000"/>
              </a:lnSpc>
              <a:buNone/>
            </a:pPr>
            <a:r>
              <a:rPr lang="en-US" sz="800" dirty="0">
                <a:solidFill>
                  <a:srgbClr val="080812"/>
                </a:solidFill>
                <a:latin typeface="Inter" pitchFamily="34" charset="0"/>
                <a:ea typeface="Inter" pitchFamily="34" charset="-122"/>
                <a:cs typeface="Inter" pitchFamily="34" charset="-120"/>
              </a:rPr>
              <a:t>Jul 20, 2026</a:t>
            </a:r>
            <a:endParaRPr lang="en-US" sz="800" dirty="0"/>
          </a:p>
        </p:txBody>
      </p:sp>
      <p:sp>
        <p:nvSpPr>
          <p:cNvPr id="9" name="Text 6"/>
          <p:cNvSpPr/>
          <p:nvPr/>
        </p:nvSpPr>
        <p:spPr>
          <a:xfrm>
            <a:off x="3181646" y="1180805"/>
            <a:ext cx="542603" cy="101575"/>
          </a:xfrm>
          <a:prstGeom prst="rect">
            <a:avLst/>
          </a:prstGeom>
          <a:ln/>
        </p:spPr>
        <p:txBody>
          <a:bodyPr wrap="none" lIns="0" tIns="0" rIns="0" bIns="0" rtlCol="0" anchor="t"/>
          <a:lstStyle/>
          <a:p>
            <a:pPr algn="l" indent="0" marL="0">
              <a:lnSpc>
                <a:spcPct val="100000"/>
              </a:lnSpc>
              <a:buNone/>
            </a:pPr>
            <a:r>
              <a:rPr lang="en-US" sz="650" dirty="0">
                <a:solidFill>
                  <a:srgbClr val="777786"/>
                </a:solidFill>
                <a:latin typeface="Inter" pitchFamily="34" charset="0"/>
                <a:ea typeface="Inter" pitchFamily="34" charset="-122"/>
                <a:cs typeface="Inter" pitchFamily="34" charset="-120"/>
              </a:rPr>
              <a:t>View post</a:t>
            </a:r>
            <a:endParaRPr lang="en-US" sz="650" dirty="0"/>
          </a:p>
        </p:txBody>
      </p:sp>
      <p:sp>
        <p:nvSpPr>
          <p:cNvPr id="10" name="Text 7"/>
          <p:cNvSpPr/>
          <p:nvPr/>
        </p:nvSpPr>
        <p:spPr>
          <a:xfrm>
            <a:off x="1142714" y="1479180"/>
            <a:ext cx="311847" cy="107923"/>
          </a:xfrm>
          <a:prstGeom prst="rect">
            <a:avLst/>
          </a:prstGeom>
          <a:ln/>
        </p:spPr>
        <p:txBody>
          <a:bodyPr wrap="none" lIns="0" tIns="0" rIns="0" bIns="0" rtlCol="0" anchor="t"/>
          <a:lstStyle/>
          <a:p>
            <a:pPr algn="l" indent="0" marL="0">
              <a:lnSpc>
                <a:spcPct val="100000"/>
              </a:lnSpc>
              <a:buNone/>
            </a:pPr>
            <a:r>
              <a:rPr lang="en-US" sz="700" dirty="0">
                <a:solidFill>
                  <a:srgbClr val="FFFFFF"/>
                </a:solidFill>
                <a:latin typeface="Inter" pitchFamily="34" charset="0"/>
                <a:ea typeface="Inter" pitchFamily="34" charset="-122"/>
                <a:cs typeface="Inter" pitchFamily="34" charset="-120"/>
              </a:rPr>
              <a:t>reel</a:t>
            </a:r>
            <a:endParaRPr lang="en-US" sz="700" dirty="0"/>
          </a:p>
        </p:txBody>
      </p:sp>
      <p:sp>
        <p:nvSpPr>
          <p:cNvPr id="11" name="Text 8"/>
          <p:cNvSpPr/>
          <p:nvPr/>
        </p:nvSpPr>
        <p:spPr>
          <a:xfrm>
            <a:off x="1091927" y="3510672"/>
            <a:ext cx="2581622" cy="234891"/>
          </a:xfrm>
          <a:prstGeom prst="rect">
            <a:avLst/>
          </a:prstGeom>
          <a:ln/>
        </p:spPr>
        <p:txBody>
          <a:bodyPr wrap="square" lIns="0" tIns="0" rIns="0" bIns="0" rtlCol="0" anchor="t"/>
          <a:lstStyle/>
          <a:p>
            <a:pPr algn="l" indent="0" marL="0">
              <a:lnSpc>
                <a:spcPct val="100000"/>
              </a:lnSpc>
              <a:buNone/>
            </a:pPr>
            <a:r>
              <a:rPr lang="en-US" sz="700" dirty="0">
                <a:solidFill>
                  <a:srgbClr val="080812"/>
                </a:solidFill>
                <a:latin typeface="Inter" pitchFamily="34" charset="0"/>
                <a:ea typeface="Inter" pitchFamily="34" charset="-122"/>
                <a:cs typeface="Inter" pitchFamily="34" charset="-120"/>
              </a:rPr>
              <a:t>Light up your sacred moments with the elegance of silver. ✨ Discover ...</a:t>
            </a:r>
            <a:endParaRPr lang="en-US" sz="700" dirty="0"/>
          </a:p>
        </p:txBody>
      </p:sp>
      <p:sp>
        <p:nvSpPr>
          <p:cNvPr id="12" name="Text 9"/>
          <p:cNvSpPr/>
          <p:nvPr/>
        </p:nvSpPr>
        <p:spPr>
          <a:xfrm>
            <a:off x="1218895" y="3809048"/>
            <a:ext cx="1064270" cy="107923"/>
          </a:xfrm>
          <a:prstGeom prst="rect">
            <a:avLst/>
          </a:prstGeom>
          <a:ln/>
        </p:spPr>
        <p:txBody>
          <a:bodyPr wrap="none" lIns="0" tIns="0" rIns="0" bIns="0" rtlCol="0" anchor="t"/>
          <a:lstStyle/>
          <a:p>
            <a:pPr algn="l" indent="0" marL="0">
              <a:lnSpc>
                <a:spcPct val="100000"/>
              </a:lnSpc>
              <a:buNone/>
            </a:pPr>
            <a:r>
              <a:rPr lang="en-US" sz="700" b="1" dirty="0">
                <a:solidFill>
                  <a:srgbClr val="080812"/>
                </a:solidFill>
                <a:latin typeface="Inter" pitchFamily="34" charset="0"/>
                <a:ea typeface="Inter" pitchFamily="34" charset="-122"/>
                <a:cs typeface="Inter" pitchFamily="34" charset="-120"/>
              </a:rPr>
              <a:t>ENGAGEMENT RATE</a:t>
            </a:r>
            <a:endParaRPr lang="en-US" sz="700" dirty="0"/>
          </a:p>
        </p:txBody>
      </p:sp>
      <p:sp>
        <p:nvSpPr>
          <p:cNvPr id="13" name="Text 10"/>
          <p:cNvSpPr/>
          <p:nvPr/>
        </p:nvSpPr>
        <p:spPr>
          <a:xfrm>
            <a:off x="2966792" y="3796351"/>
            <a:ext cx="498970" cy="133317"/>
          </a:xfrm>
          <a:prstGeom prst="rect">
            <a:avLst/>
          </a:prstGeom>
          <a:ln/>
        </p:spPr>
        <p:txBody>
          <a:bodyPr wrap="none" lIns="0" tIns="0" rIns="0" bIns="0" rtlCol="0" anchor="t"/>
          <a:lstStyle/>
          <a:p>
            <a:pPr algn="l" indent="0" marL="0">
              <a:lnSpc>
                <a:spcPct val="100000"/>
              </a:lnSpc>
              <a:buNone/>
            </a:pPr>
            <a:r>
              <a:rPr lang="en-US" sz="900" b="1" dirty="0">
                <a:solidFill>
                  <a:srgbClr val="080812"/>
                </a:solidFill>
                <a:latin typeface="Inter" pitchFamily="34" charset="0"/>
                <a:ea typeface="Inter" pitchFamily="34" charset="-122"/>
                <a:cs typeface="Inter" pitchFamily="34" charset="-120"/>
              </a:rPr>
              <a:t>2.31%</a:t>
            </a:r>
            <a:endParaRPr lang="en-US" sz="900" dirty="0"/>
          </a:p>
        </p:txBody>
      </p:sp>
      <p:sp>
        <p:nvSpPr>
          <p:cNvPr id="14" name="Text 11"/>
          <p:cNvSpPr/>
          <p:nvPr/>
        </p:nvSpPr>
        <p:spPr>
          <a:xfrm>
            <a:off x="1091927" y="4120120"/>
            <a:ext cx="349411"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246</a:t>
            </a:r>
            <a:endParaRPr lang="en-US" sz="800" dirty="0"/>
          </a:p>
        </p:txBody>
      </p:sp>
      <p:sp>
        <p:nvSpPr>
          <p:cNvPr id="15" name="Text 12"/>
          <p:cNvSpPr/>
          <p:nvPr/>
        </p:nvSpPr>
        <p:spPr>
          <a:xfrm>
            <a:off x="1091927" y="4266133"/>
            <a:ext cx="450675" cy="107923"/>
          </a:xfrm>
          <a:prstGeom prst="rect">
            <a:avLst/>
          </a:prstGeom>
          <a:ln/>
        </p:spPr>
        <p:txBody>
          <a:bodyPr wrap="none" lIns="0" tIns="0" rIns="0" bIns="0" rtlCol="0" anchor="t"/>
          <a:lstStyle/>
          <a:p>
            <a:pPr algn="l" indent="0" marL="0">
              <a:lnSpc>
                <a:spcPct val="100000"/>
              </a:lnSpc>
              <a:buNone/>
            </a:pPr>
            <a:r>
              <a:rPr lang="en-US" sz="700" dirty="0">
                <a:solidFill>
                  <a:srgbClr val="1E1E2B"/>
                </a:solidFill>
                <a:latin typeface="Inter" pitchFamily="34" charset="0"/>
                <a:ea typeface="Inter" pitchFamily="34" charset="-122"/>
                <a:cs typeface="Inter" pitchFamily="34" charset="-120"/>
              </a:rPr>
              <a:t>VIEWS</a:t>
            </a:r>
            <a:endParaRPr lang="en-US" sz="700" dirty="0"/>
          </a:p>
        </p:txBody>
      </p:sp>
      <p:sp>
        <p:nvSpPr>
          <p:cNvPr id="16" name="Text 13"/>
          <p:cNvSpPr/>
          <p:nvPr/>
        </p:nvSpPr>
        <p:spPr>
          <a:xfrm>
            <a:off x="2966792" y="4120120"/>
            <a:ext cx="261723"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13</a:t>
            </a:r>
            <a:endParaRPr lang="en-US" sz="800" dirty="0"/>
          </a:p>
        </p:txBody>
      </p:sp>
      <p:sp>
        <p:nvSpPr>
          <p:cNvPr id="17" name="Text 14"/>
          <p:cNvSpPr/>
          <p:nvPr/>
        </p:nvSpPr>
        <p:spPr>
          <a:xfrm>
            <a:off x="2966792" y="4266133"/>
            <a:ext cx="410055" cy="107923"/>
          </a:xfrm>
          <a:prstGeom prst="rect">
            <a:avLst/>
          </a:prstGeom>
          <a:ln/>
        </p:spPr>
        <p:txBody>
          <a:bodyPr wrap="none" lIns="0" tIns="0" rIns="0" bIns="0" rtlCol="0" anchor="t"/>
          <a:lstStyle/>
          <a:p>
            <a:pPr algn="l" indent="0" marL="0">
              <a:lnSpc>
                <a:spcPct val="100000"/>
              </a:lnSpc>
              <a:buNone/>
            </a:pPr>
            <a:r>
              <a:rPr lang="en-US" sz="700" dirty="0">
                <a:solidFill>
                  <a:srgbClr val="1E1E2B"/>
                </a:solidFill>
                <a:latin typeface="Inter" pitchFamily="34" charset="0"/>
                <a:ea typeface="Inter" pitchFamily="34" charset="-122"/>
                <a:cs typeface="Inter" pitchFamily="34" charset="-120"/>
              </a:rPr>
              <a:t>LIKES</a:t>
            </a:r>
            <a:endParaRPr lang="en-US" sz="700" dirty="0"/>
          </a:p>
        </p:txBody>
      </p:sp>
      <p:sp>
        <p:nvSpPr>
          <p:cNvPr id="18" name="Text 15"/>
          <p:cNvSpPr/>
          <p:nvPr/>
        </p:nvSpPr>
        <p:spPr>
          <a:xfrm>
            <a:off x="1091927" y="4450237"/>
            <a:ext cx="220855"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0</a:t>
            </a:r>
            <a:endParaRPr lang="en-US" sz="800" dirty="0"/>
          </a:p>
        </p:txBody>
      </p:sp>
      <p:sp>
        <p:nvSpPr>
          <p:cNvPr id="19" name="Text 16"/>
          <p:cNvSpPr/>
          <p:nvPr/>
        </p:nvSpPr>
        <p:spPr>
          <a:xfrm>
            <a:off x="1091927" y="4596251"/>
            <a:ext cx="701755" cy="107923"/>
          </a:xfrm>
          <a:prstGeom prst="rect">
            <a:avLst/>
          </a:prstGeom>
          <a:ln/>
        </p:spPr>
        <p:txBody>
          <a:bodyPr wrap="none" lIns="0" tIns="0" rIns="0" bIns="0" rtlCol="0" anchor="t"/>
          <a:lstStyle/>
          <a:p>
            <a:pPr algn="l" indent="0" marL="0">
              <a:lnSpc>
                <a:spcPct val="100000"/>
              </a:lnSpc>
              <a:buNone/>
            </a:pPr>
            <a:r>
              <a:rPr lang="en-US" sz="700" dirty="0">
                <a:solidFill>
                  <a:srgbClr val="1E1E2B"/>
                </a:solidFill>
                <a:latin typeface="Inter" pitchFamily="34" charset="0"/>
                <a:ea typeface="Inter" pitchFamily="34" charset="-122"/>
                <a:cs typeface="Inter" pitchFamily="34" charset="-120"/>
              </a:rPr>
              <a:t>COMMENTS</a:t>
            </a:r>
            <a:endParaRPr lang="en-US" sz="700" dirty="0"/>
          </a:p>
        </p:txBody>
      </p:sp>
      <p:sp>
        <p:nvSpPr>
          <p:cNvPr id="20" name="Text 17"/>
          <p:cNvSpPr/>
          <p:nvPr/>
        </p:nvSpPr>
        <p:spPr>
          <a:xfrm>
            <a:off x="2966792" y="4450237"/>
            <a:ext cx="324910"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153</a:t>
            </a:r>
            <a:endParaRPr lang="en-US" sz="800" dirty="0"/>
          </a:p>
        </p:txBody>
      </p:sp>
      <p:sp>
        <p:nvSpPr>
          <p:cNvPr id="21" name="Text 18"/>
          <p:cNvSpPr/>
          <p:nvPr/>
        </p:nvSpPr>
        <p:spPr>
          <a:xfrm>
            <a:off x="2966792" y="4596251"/>
            <a:ext cx="465778" cy="107923"/>
          </a:xfrm>
          <a:prstGeom prst="rect">
            <a:avLst/>
          </a:prstGeom>
          <a:ln/>
        </p:spPr>
        <p:txBody>
          <a:bodyPr wrap="none" lIns="0" tIns="0" rIns="0" bIns="0" rtlCol="0" anchor="t"/>
          <a:lstStyle/>
          <a:p>
            <a:pPr algn="l" indent="0" marL="0">
              <a:lnSpc>
                <a:spcPct val="100000"/>
              </a:lnSpc>
              <a:buNone/>
            </a:pPr>
            <a:r>
              <a:rPr lang="en-US" sz="700" dirty="0">
                <a:solidFill>
                  <a:srgbClr val="1E1E2B"/>
                </a:solidFill>
                <a:latin typeface="Inter" pitchFamily="34" charset="0"/>
                <a:ea typeface="Inter" pitchFamily="34" charset="-122"/>
                <a:cs typeface="Inter" pitchFamily="34" charset="-120"/>
              </a:rPr>
              <a:t>REACH</a:t>
            </a:r>
            <a:endParaRPr lang="en-US" sz="700" dirty="0"/>
          </a:p>
        </p:txBody>
      </p:sp>
      <p:sp>
        <p:nvSpPr>
          <p:cNvPr id="22" name="Text 19"/>
          <p:cNvSpPr/>
          <p:nvPr/>
        </p:nvSpPr>
        <p:spPr>
          <a:xfrm>
            <a:off x="5133683" y="1015746"/>
            <a:ext cx="1335312" cy="152362"/>
          </a:xfrm>
          <a:prstGeom prst="rect">
            <a:avLst/>
          </a:prstGeom>
          <a:ln/>
        </p:spPr>
        <p:txBody>
          <a:bodyPr wrap="none" lIns="0" tIns="0" rIns="0" bIns="0" rtlCol="0" anchor="t"/>
          <a:lstStyle/>
          <a:p>
            <a:pPr algn="l" indent="0" marL="0">
              <a:lnSpc>
                <a:spcPct val="100000"/>
              </a:lnSpc>
              <a:buNone/>
            </a:pPr>
            <a:r>
              <a:rPr lang="en-US" sz="1000" dirty="0">
                <a:solidFill>
                  <a:srgbClr val="080812"/>
                </a:solidFill>
                <a:latin typeface="Inter" pitchFamily="34" charset="0"/>
                <a:ea typeface="Inter" pitchFamily="34" charset="-122"/>
                <a:cs typeface="Inter" pitchFamily="34" charset="-120"/>
              </a:rPr>
              <a:t>Padmavathi Jewe...</a:t>
            </a:r>
            <a:endParaRPr lang="en-US" sz="1000" dirty="0"/>
          </a:p>
        </p:txBody>
      </p:sp>
      <p:sp>
        <p:nvSpPr>
          <p:cNvPr id="23" name="Text 20"/>
          <p:cNvSpPr/>
          <p:nvPr/>
        </p:nvSpPr>
        <p:spPr>
          <a:xfrm>
            <a:off x="5133683" y="1187153"/>
            <a:ext cx="681066" cy="101575"/>
          </a:xfrm>
          <a:prstGeom prst="rect">
            <a:avLst/>
          </a:prstGeom>
          <a:ln/>
        </p:spPr>
        <p:txBody>
          <a:bodyPr wrap="none" lIns="0" tIns="0" rIns="0" bIns="0" rtlCol="0" anchor="t"/>
          <a:lstStyle/>
          <a:p>
            <a:pPr algn="l" indent="0" marL="0">
              <a:lnSpc>
                <a:spcPct val="100000"/>
              </a:lnSpc>
              <a:buNone/>
            </a:pPr>
            <a:r>
              <a:rPr lang="en-US" sz="650" dirty="0">
                <a:solidFill>
                  <a:srgbClr val="777786"/>
                </a:solidFill>
                <a:latin typeface="Inter" pitchFamily="34" charset="0"/>
                <a:ea typeface="Inter" pitchFamily="34" charset="-122"/>
                <a:cs typeface="Inter" pitchFamily="34" charset="-120"/>
              </a:rPr>
              <a:t>563 followers</a:t>
            </a:r>
            <a:endParaRPr lang="en-US" sz="650" dirty="0"/>
          </a:p>
        </p:txBody>
      </p:sp>
      <p:sp>
        <p:nvSpPr>
          <p:cNvPr id="24" name="Text 21"/>
          <p:cNvSpPr/>
          <p:nvPr/>
        </p:nvSpPr>
        <p:spPr>
          <a:xfrm>
            <a:off x="6797860" y="1022094"/>
            <a:ext cx="740780" cy="126968"/>
          </a:xfrm>
          <a:prstGeom prst="rect">
            <a:avLst/>
          </a:prstGeom>
          <a:ln/>
        </p:spPr>
        <p:txBody>
          <a:bodyPr wrap="none" lIns="0" tIns="0" rIns="0" bIns="0" rtlCol="0" anchor="t"/>
          <a:lstStyle/>
          <a:p>
            <a:pPr algn="l" indent="0" marL="0">
              <a:lnSpc>
                <a:spcPct val="100000"/>
              </a:lnSpc>
              <a:buNone/>
            </a:pPr>
            <a:r>
              <a:rPr lang="en-US" sz="800" dirty="0">
                <a:solidFill>
                  <a:srgbClr val="080812"/>
                </a:solidFill>
                <a:latin typeface="Inter" pitchFamily="34" charset="0"/>
                <a:ea typeface="Inter" pitchFamily="34" charset="-122"/>
                <a:cs typeface="Inter" pitchFamily="34" charset="-120"/>
              </a:rPr>
              <a:t>Jul 13, 2026</a:t>
            </a:r>
            <a:endParaRPr lang="en-US" sz="800" dirty="0"/>
          </a:p>
        </p:txBody>
      </p:sp>
      <p:sp>
        <p:nvSpPr>
          <p:cNvPr id="25" name="Text 22"/>
          <p:cNvSpPr/>
          <p:nvPr/>
        </p:nvSpPr>
        <p:spPr>
          <a:xfrm>
            <a:off x="6893384" y="1180805"/>
            <a:ext cx="542603" cy="101575"/>
          </a:xfrm>
          <a:prstGeom prst="rect">
            <a:avLst/>
          </a:prstGeom>
          <a:ln/>
        </p:spPr>
        <p:txBody>
          <a:bodyPr wrap="none" lIns="0" tIns="0" rIns="0" bIns="0" rtlCol="0" anchor="t"/>
          <a:lstStyle/>
          <a:p>
            <a:pPr algn="l" indent="0" marL="0">
              <a:lnSpc>
                <a:spcPct val="100000"/>
              </a:lnSpc>
              <a:buNone/>
            </a:pPr>
            <a:r>
              <a:rPr lang="en-US" sz="650" dirty="0">
                <a:solidFill>
                  <a:srgbClr val="777786"/>
                </a:solidFill>
                <a:latin typeface="Inter" pitchFamily="34" charset="0"/>
                <a:ea typeface="Inter" pitchFamily="34" charset="-122"/>
                <a:cs typeface="Inter" pitchFamily="34" charset="-120"/>
              </a:rPr>
              <a:t>View post</a:t>
            </a:r>
            <a:endParaRPr lang="en-US" sz="650" dirty="0"/>
          </a:p>
        </p:txBody>
      </p:sp>
      <p:sp>
        <p:nvSpPr>
          <p:cNvPr id="26" name="Text 23"/>
          <p:cNvSpPr/>
          <p:nvPr/>
        </p:nvSpPr>
        <p:spPr>
          <a:xfrm>
            <a:off x="4854353" y="1479180"/>
            <a:ext cx="411444" cy="107923"/>
          </a:xfrm>
          <a:prstGeom prst="rect">
            <a:avLst/>
          </a:prstGeom>
          <a:ln/>
        </p:spPr>
        <p:txBody>
          <a:bodyPr wrap="none" lIns="0" tIns="0" rIns="0" bIns="0" rtlCol="0" anchor="t"/>
          <a:lstStyle/>
          <a:p>
            <a:pPr algn="l" indent="0" marL="0">
              <a:lnSpc>
                <a:spcPct val="100000"/>
              </a:lnSpc>
              <a:buNone/>
            </a:pPr>
            <a:r>
              <a:rPr lang="en-US" sz="700" dirty="0">
                <a:solidFill>
                  <a:srgbClr val="FFFFFF"/>
                </a:solidFill>
                <a:latin typeface="Inter" pitchFamily="34" charset="0"/>
                <a:ea typeface="Inter" pitchFamily="34" charset="-122"/>
                <a:cs typeface="Inter" pitchFamily="34" charset="-120"/>
              </a:rPr>
              <a:t>image</a:t>
            </a:r>
            <a:endParaRPr lang="en-US" sz="700" dirty="0"/>
          </a:p>
        </p:txBody>
      </p:sp>
      <p:sp>
        <p:nvSpPr>
          <p:cNvPr id="27" name="Text 24"/>
          <p:cNvSpPr/>
          <p:nvPr/>
        </p:nvSpPr>
        <p:spPr>
          <a:xfrm>
            <a:off x="4803566" y="3510672"/>
            <a:ext cx="2581721" cy="234891"/>
          </a:xfrm>
          <a:prstGeom prst="rect">
            <a:avLst/>
          </a:prstGeom>
          <a:ln/>
        </p:spPr>
        <p:txBody>
          <a:bodyPr wrap="square" lIns="0" tIns="0" rIns="0" bIns="0" rtlCol="0" anchor="t"/>
          <a:lstStyle/>
          <a:p>
            <a:pPr algn="l" indent="0" marL="0">
              <a:lnSpc>
                <a:spcPct val="100000"/>
              </a:lnSpc>
              <a:buNone/>
            </a:pPr>
            <a:r>
              <a:rPr lang="en-US" sz="700" dirty="0">
                <a:solidFill>
                  <a:srgbClr val="080812"/>
                </a:solidFill>
                <a:latin typeface="Inter" pitchFamily="34" charset="0"/>
                <a:ea typeface="Inter" pitchFamily="34" charset="-122"/>
                <a:cs typeface="Inter" pitchFamily="34" charset="-120"/>
              </a:rPr>
              <a:t>Add a touch of tradition and elegance to every ritual. ✨ Padmavathi J...</a:t>
            </a:r>
            <a:endParaRPr lang="en-US" sz="700" dirty="0"/>
          </a:p>
        </p:txBody>
      </p:sp>
      <p:sp>
        <p:nvSpPr>
          <p:cNvPr id="28" name="Text 25"/>
          <p:cNvSpPr/>
          <p:nvPr/>
        </p:nvSpPr>
        <p:spPr>
          <a:xfrm>
            <a:off x="4930534" y="3809048"/>
            <a:ext cx="1064270" cy="107923"/>
          </a:xfrm>
          <a:prstGeom prst="rect">
            <a:avLst/>
          </a:prstGeom>
          <a:ln/>
        </p:spPr>
        <p:txBody>
          <a:bodyPr wrap="none" lIns="0" tIns="0" rIns="0" bIns="0" rtlCol="0" anchor="t"/>
          <a:lstStyle/>
          <a:p>
            <a:pPr algn="l" indent="0" marL="0">
              <a:lnSpc>
                <a:spcPct val="100000"/>
              </a:lnSpc>
              <a:buNone/>
            </a:pPr>
            <a:r>
              <a:rPr lang="en-US" sz="700" b="1" dirty="0">
                <a:solidFill>
                  <a:srgbClr val="080812"/>
                </a:solidFill>
                <a:latin typeface="Inter" pitchFamily="34" charset="0"/>
                <a:ea typeface="Inter" pitchFamily="34" charset="-122"/>
                <a:cs typeface="Inter" pitchFamily="34" charset="-120"/>
              </a:rPr>
              <a:t>ENGAGEMENT RATE</a:t>
            </a:r>
            <a:endParaRPr lang="en-US" sz="700" dirty="0"/>
          </a:p>
        </p:txBody>
      </p:sp>
      <p:sp>
        <p:nvSpPr>
          <p:cNvPr id="29" name="Text 26"/>
          <p:cNvSpPr/>
          <p:nvPr/>
        </p:nvSpPr>
        <p:spPr>
          <a:xfrm>
            <a:off x="6678431" y="3796351"/>
            <a:ext cx="493781" cy="133317"/>
          </a:xfrm>
          <a:prstGeom prst="rect">
            <a:avLst/>
          </a:prstGeom>
          <a:ln/>
        </p:spPr>
        <p:txBody>
          <a:bodyPr wrap="none" lIns="0" tIns="0" rIns="0" bIns="0" rtlCol="0" anchor="t"/>
          <a:lstStyle/>
          <a:p>
            <a:pPr algn="l" indent="0" marL="0">
              <a:lnSpc>
                <a:spcPct val="100000"/>
              </a:lnSpc>
              <a:buNone/>
            </a:pPr>
            <a:r>
              <a:rPr lang="en-US" sz="900" b="1" dirty="0">
                <a:solidFill>
                  <a:srgbClr val="080812"/>
                </a:solidFill>
                <a:latin typeface="Inter" pitchFamily="34" charset="0"/>
                <a:ea typeface="Inter" pitchFamily="34" charset="-122"/>
                <a:cs typeface="Inter" pitchFamily="34" charset="-120"/>
              </a:rPr>
              <a:t>1.07%</a:t>
            </a:r>
            <a:endParaRPr lang="en-US" sz="900" dirty="0"/>
          </a:p>
        </p:txBody>
      </p:sp>
      <p:sp>
        <p:nvSpPr>
          <p:cNvPr id="30" name="Text 27"/>
          <p:cNvSpPr/>
          <p:nvPr/>
        </p:nvSpPr>
        <p:spPr>
          <a:xfrm>
            <a:off x="4803566" y="4120120"/>
            <a:ext cx="350006"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605</a:t>
            </a:r>
            <a:endParaRPr lang="en-US" sz="800" dirty="0"/>
          </a:p>
        </p:txBody>
      </p:sp>
      <p:sp>
        <p:nvSpPr>
          <p:cNvPr id="31" name="Text 28"/>
          <p:cNvSpPr/>
          <p:nvPr/>
        </p:nvSpPr>
        <p:spPr>
          <a:xfrm>
            <a:off x="4803566" y="4266133"/>
            <a:ext cx="450675" cy="107923"/>
          </a:xfrm>
          <a:prstGeom prst="rect">
            <a:avLst/>
          </a:prstGeom>
          <a:ln/>
        </p:spPr>
        <p:txBody>
          <a:bodyPr wrap="none" lIns="0" tIns="0" rIns="0" bIns="0" rtlCol="0" anchor="t"/>
          <a:lstStyle/>
          <a:p>
            <a:pPr algn="l" indent="0" marL="0">
              <a:lnSpc>
                <a:spcPct val="100000"/>
              </a:lnSpc>
              <a:buNone/>
            </a:pPr>
            <a:r>
              <a:rPr lang="en-US" sz="700" dirty="0">
                <a:solidFill>
                  <a:srgbClr val="1E1E2B"/>
                </a:solidFill>
                <a:latin typeface="Inter" pitchFamily="34" charset="0"/>
                <a:ea typeface="Inter" pitchFamily="34" charset="-122"/>
                <a:cs typeface="Inter" pitchFamily="34" charset="-120"/>
              </a:rPr>
              <a:t>VIEWS</a:t>
            </a:r>
            <a:endParaRPr lang="en-US" sz="700" dirty="0"/>
          </a:p>
        </p:txBody>
      </p:sp>
      <p:sp>
        <p:nvSpPr>
          <p:cNvPr id="32" name="Text 29"/>
          <p:cNvSpPr/>
          <p:nvPr/>
        </p:nvSpPr>
        <p:spPr>
          <a:xfrm>
            <a:off x="6678431" y="4120120"/>
            <a:ext cx="218326"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6</a:t>
            </a:r>
            <a:endParaRPr lang="en-US" sz="800" dirty="0"/>
          </a:p>
        </p:txBody>
      </p:sp>
      <p:sp>
        <p:nvSpPr>
          <p:cNvPr id="33" name="Text 30"/>
          <p:cNvSpPr/>
          <p:nvPr/>
        </p:nvSpPr>
        <p:spPr>
          <a:xfrm>
            <a:off x="6678431" y="4266133"/>
            <a:ext cx="410055" cy="107923"/>
          </a:xfrm>
          <a:prstGeom prst="rect">
            <a:avLst/>
          </a:prstGeom>
          <a:ln/>
        </p:spPr>
        <p:txBody>
          <a:bodyPr wrap="none" lIns="0" tIns="0" rIns="0" bIns="0" rtlCol="0" anchor="t"/>
          <a:lstStyle/>
          <a:p>
            <a:pPr algn="l" indent="0" marL="0">
              <a:lnSpc>
                <a:spcPct val="100000"/>
              </a:lnSpc>
              <a:buNone/>
            </a:pPr>
            <a:r>
              <a:rPr lang="en-US" sz="700" dirty="0">
                <a:solidFill>
                  <a:srgbClr val="1E1E2B"/>
                </a:solidFill>
                <a:latin typeface="Inter" pitchFamily="34" charset="0"/>
                <a:ea typeface="Inter" pitchFamily="34" charset="-122"/>
                <a:cs typeface="Inter" pitchFamily="34" charset="-120"/>
              </a:rPr>
              <a:t>LIKES</a:t>
            </a:r>
            <a:endParaRPr lang="en-US" sz="700" dirty="0"/>
          </a:p>
        </p:txBody>
      </p:sp>
      <p:sp>
        <p:nvSpPr>
          <p:cNvPr id="34" name="Text 31"/>
          <p:cNvSpPr/>
          <p:nvPr/>
        </p:nvSpPr>
        <p:spPr>
          <a:xfrm>
            <a:off x="4803566" y="4450237"/>
            <a:ext cx="220855"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0</a:t>
            </a:r>
            <a:endParaRPr lang="en-US" sz="800" dirty="0"/>
          </a:p>
        </p:txBody>
      </p:sp>
      <p:sp>
        <p:nvSpPr>
          <p:cNvPr id="35" name="Text 32"/>
          <p:cNvSpPr/>
          <p:nvPr/>
        </p:nvSpPr>
        <p:spPr>
          <a:xfrm>
            <a:off x="4803566" y="4596251"/>
            <a:ext cx="701755" cy="107923"/>
          </a:xfrm>
          <a:prstGeom prst="rect">
            <a:avLst/>
          </a:prstGeom>
          <a:ln/>
        </p:spPr>
        <p:txBody>
          <a:bodyPr wrap="none" lIns="0" tIns="0" rIns="0" bIns="0" rtlCol="0" anchor="t"/>
          <a:lstStyle/>
          <a:p>
            <a:pPr algn="l" indent="0" marL="0">
              <a:lnSpc>
                <a:spcPct val="100000"/>
              </a:lnSpc>
              <a:buNone/>
            </a:pPr>
            <a:r>
              <a:rPr lang="en-US" sz="700" dirty="0">
                <a:solidFill>
                  <a:srgbClr val="1E1E2B"/>
                </a:solidFill>
                <a:latin typeface="Inter" pitchFamily="34" charset="0"/>
                <a:ea typeface="Inter" pitchFamily="34" charset="-122"/>
                <a:cs typeface="Inter" pitchFamily="34" charset="-120"/>
              </a:rPr>
              <a:t>COMMENTS</a:t>
            </a:r>
            <a:endParaRPr lang="en-US" sz="700" dirty="0"/>
          </a:p>
        </p:txBody>
      </p:sp>
      <p:sp>
        <p:nvSpPr>
          <p:cNvPr id="36" name="Text 33"/>
          <p:cNvSpPr/>
          <p:nvPr/>
        </p:nvSpPr>
        <p:spPr>
          <a:xfrm>
            <a:off x="6678431" y="4450237"/>
            <a:ext cx="347228"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550</a:t>
            </a:r>
            <a:endParaRPr lang="en-US" sz="800" dirty="0"/>
          </a:p>
        </p:txBody>
      </p:sp>
      <p:sp>
        <p:nvSpPr>
          <p:cNvPr id="37" name="Text 34"/>
          <p:cNvSpPr/>
          <p:nvPr/>
        </p:nvSpPr>
        <p:spPr>
          <a:xfrm>
            <a:off x="6678431" y="4596251"/>
            <a:ext cx="465778" cy="107923"/>
          </a:xfrm>
          <a:prstGeom prst="rect">
            <a:avLst/>
          </a:prstGeom>
          <a:ln/>
        </p:spPr>
        <p:txBody>
          <a:bodyPr wrap="none" lIns="0" tIns="0" rIns="0" bIns="0" rtlCol="0" anchor="t"/>
          <a:lstStyle/>
          <a:p>
            <a:pPr algn="l" indent="0" marL="0">
              <a:lnSpc>
                <a:spcPct val="100000"/>
              </a:lnSpc>
              <a:buNone/>
            </a:pPr>
            <a:r>
              <a:rPr lang="en-US" sz="700" dirty="0">
                <a:solidFill>
                  <a:srgbClr val="1E1E2B"/>
                </a:solidFill>
                <a:latin typeface="Inter" pitchFamily="34" charset="0"/>
                <a:ea typeface="Inter" pitchFamily="34" charset="-122"/>
                <a:cs typeface="Inter" pitchFamily="34" charset="-120"/>
              </a:rPr>
              <a:t>REACH</a:t>
            </a:r>
            <a:endParaRPr lang="en-US" sz="700" dirty="0"/>
          </a:p>
        </p:txBody>
      </p:sp>
      <p:sp>
        <p:nvSpPr>
          <p:cNvPr id="38" name="Text 35"/>
          <p:cNvSpPr/>
          <p:nvPr/>
        </p:nvSpPr>
        <p:spPr>
          <a:xfrm>
            <a:off x="8845422" y="1015746"/>
            <a:ext cx="1335312" cy="152362"/>
          </a:xfrm>
          <a:prstGeom prst="rect">
            <a:avLst/>
          </a:prstGeom>
          <a:ln/>
        </p:spPr>
        <p:txBody>
          <a:bodyPr wrap="none" lIns="0" tIns="0" rIns="0" bIns="0" rtlCol="0" anchor="t"/>
          <a:lstStyle/>
          <a:p>
            <a:pPr algn="l" indent="0" marL="0">
              <a:lnSpc>
                <a:spcPct val="100000"/>
              </a:lnSpc>
              <a:buNone/>
            </a:pPr>
            <a:r>
              <a:rPr lang="en-US" sz="1000" dirty="0">
                <a:solidFill>
                  <a:srgbClr val="080812"/>
                </a:solidFill>
                <a:latin typeface="Inter" pitchFamily="34" charset="0"/>
                <a:ea typeface="Inter" pitchFamily="34" charset="-122"/>
                <a:cs typeface="Inter" pitchFamily="34" charset="-120"/>
              </a:rPr>
              <a:t>Padmavathi Jewe...</a:t>
            </a:r>
            <a:endParaRPr lang="en-US" sz="1000" dirty="0"/>
          </a:p>
        </p:txBody>
      </p:sp>
      <p:sp>
        <p:nvSpPr>
          <p:cNvPr id="39" name="Text 36"/>
          <p:cNvSpPr/>
          <p:nvPr/>
        </p:nvSpPr>
        <p:spPr>
          <a:xfrm>
            <a:off x="8845422" y="1187153"/>
            <a:ext cx="681066" cy="101575"/>
          </a:xfrm>
          <a:prstGeom prst="rect">
            <a:avLst/>
          </a:prstGeom>
          <a:ln/>
        </p:spPr>
        <p:txBody>
          <a:bodyPr wrap="none" lIns="0" tIns="0" rIns="0" bIns="0" rtlCol="0" anchor="t"/>
          <a:lstStyle/>
          <a:p>
            <a:pPr algn="l" indent="0" marL="0">
              <a:lnSpc>
                <a:spcPct val="100000"/>
              </a:lnSpc>
              <a:buNone/>
            </a:pPr>
            <a:r>
              <a:rPr lang="en-US" sz="650" dirty="0">
                <a:solidFill>
                  <a:srgbClr val="777786"/>
                </a:solidFill>
                <a:latin typeface="Inter" pitchFamily="34" charset="0"/>
                <a:ea typeface="Inter" pitchFamily="34" charset="-122"/>
                <a:cs typeface="Inter" pitchFamily="34" charset="-120"/>
              </a:rPr>
              <a:t>563 followers</a:t>
            </a:r>
            <a:endParaRPr lang="en-US" sz="650" dirty="0"/>
          </a:p>
        </p:txBody>
      </p:sp>
      <p:sp>
        <p:nvSpPr>
          <p:cNvPr id="40" name="Text 37"/>
          <p:cNvSpPr/>
          <p:nvPr/>
        </p:nvSpPr>
        <p:spPr>
          <a:xfrm>
            <a:off x="10485098" y="1022094"/>
            <a:ext cx="765331" cy="126968"/>
          </a:xfrm>
          <a:prstGeom prst="rect">
            <a:avLst/>
          </a:prstGeom>
          <a:ln/>
        </p:spPr>
        <p:txBody>
          <a:bodyPr wrap="none" lIns="0" tIns="0" rIns="0" bIns="0" rtlCol="0" anchor="t"/>
          <a:lstStyle/>
          <a:p>
            <a:pPr algn="l" indent="0" marL="0">
              <a:lnSpc>
                <a:spcPct val="100000"/>
              </a:lnSpc>
              <a:buNone/>
            </a:pPr>
            <a:r>
              <a:rPr lang="en-US" sz="800" dirty="0">
                <a:solidFill>
                  <a:srgbClr val="080812"/>
                </a:solidFill>
                <a:latin typeface="Inter" pitchFamily="34" charset="0"/>
                <a:ea typeface="Inter" pitchFamily="34" charset="-122"/>
                <a:cs typeface="Inter" pitchFamily="34" charset="-120"/>
              </a:rPr>
              <a:t>Jul 02, 2026</a:t>
            </a:r>
            <a:endParaRPr lang="en-US" sz="800" dirty="0"/>
          </a:p>
        </p:txBody>
      </p:sp>
      <p:sp>
        <p:nvSpPr>
          <p:cNvPr id="41" name="Text 38"/>
          <p:cNvSpPr/>
          <p:nvPr/>
        </p:nvSpPr>
        <p:spPr>
          <a:xfrm>
            <a:off x="10605122" y="1180805"/>
            <a:ext cx="542603" cy="101575"/>
          </a:xfrm>
          <a:prstGeom prst="rect">
            <a:avLst/>
          </a:prstGeom>
          <a:ln/>
        </p:spPr>
        <p:txBody>
          <a:bodyPr wrap="none" lIns="0" tIns="0" rIns="0" bIns="0" rtlCol="0" anchor="t"/>
          <a:lstStyle/>
          <a:p>
            <a:pPr algn="l" indent="0" marL="0">
              <a:lnSpc>
                <a:spcPct val="100000"/>
              </a:lnSpc>
              <a:buNone/>
            </a:pPr>
            <a:r>
              <a:rPr lang="en-US" sz="650" dirty="0">
                <a:solidFill>
                  <a:srgbClr val="777786"/>
                </a:solidFill>
                <a:latin typeface="Inter" pitchFamily="34" charset="0"/>
                <a:ea typeface="Inter" pitchFamily="34" charset="-122"/>
                <a:cs typeface="Inter" pitchFamily="34" charset="-120"/>
              </a:rPr>
              <a:t>View post</a:t>
            </a:r>
            <a:endParaRPr lang="en-US" sz="650" dirty="0"/>
          </a:p>
        </p:txBody>
      </p:sp>
      <p:sp>
        <p:nvSpPr>
          <p:cNvPr id="42" name="Text 39"/>
          <p:cNvSpPr/>
          <p:nvPr/>
        </p:nvSpPr>
        <p:spPr>
          <a:xfrm>
            <a:off x="8566092" y="1479180"/>
            <a:ext cx="411444" cy="107923"/>
          </a:xfrm>
          <a:prstGeom prst="rect">
            <a:avLst/>
          </a:prstGeom>
          <a:ln/>
        </p:spPr>
        <p:txBody>
          <a:bodyPr wrap="none" lIns="0" tIns="0" rIns="0" bIns="0" rtlCol="0" anchor="t"/>
          <a:lstStyle/>
          <a:p>
            <a:pPr algn="l" indent="0" marL="0">
              <a:lnSpc>
                <a:spcPct val="100000"/>
              </a:lnSpc>
              <a:buNone/>
            </a:pPr>
            <a:r>
              <a:rPr lang="en-US" sz="700" dirty="0">
                <a:solidFill>
                  <a:srgbClr val="FFFFFF"/>
                </a:solidFill>
                <a:latin typeface="Inter" pitchFamily="34" charset="0"/>
                <a:ea typeface="Inter" pitchFamily="34" charset="-122"/>
                <a:cs typeface="Inter" pitchFamily="34" charset="-120"/>
              </a:rPr>
              <a:t>image</a:t>
            </a:r>
            <a:endParaRPr lang="en-US" sz="700" dirty="0"/>
          </a:p>
        </p:txBody>
      </p:sp>
      <p:sp>
        <p:nvSpPr>
          <p:cNvPr id="43" name="Text 40"/>
          <p:cNvSpPr/>
          <p:nvPr/>
        </p:nvSpPr>
        <p:spPr>
          <a:xfrm>
            <a:off x="8515304" y="3510672"/>
            <a:ext cx="2581721" cy="234891"/>
          </a:xfrm>
          <a:prstGeom prst="rect">
            <a:avLst/>
          </a:prstGeom>
          <a:ln/>
        </p:spPr>
        <p:txBody>
          <a:bodyPr wrap="square" lIns="0" tIns="0" rIns="0" bIns="0" rtlCol="0" anchor="t"/>
          <a:lstStyle/>
          <a:p>
            <a:pPr algn="l" indent="0" marL="0">
              <a:lnSpc>
                <a:spcPct val="100000"/>
              </a:lnSpc>
              <a:buNone/>
            </a:pPr>
            <a:r>
              <a:rPr lang="en-US" sz="700" dirty="0">
                <a:solidFill>
                  <a:srgbClr val="080812"/>
                </a:solidFill>
                <a:latin typeface="Inter" pitchFamily="34" charset="0"/>
                <a:ea typeface="Inter" pitchFamily="34" charset="-122"/>
                <a:cs typeface="Inter" pitchFamily="34" charset="-120"/>
              </a:rPr>
              <a:t>Silver that shines with tradition. ✨🤍 Explore premium silver article...</a:t>
            </a:r>
            <a:endParaRPr lang="en-US" sz="700" dirty="0"/>
          </a:p>
        </p:txBody>
      </p:sp>
      <p:sp>
        <p:nvSpPr>
          <p:cNvPr id="44" name="Text 41"/>
          <p:cNvSpPr/>
          <p:nvPr/>
        </p:nvSpPr>
        <p:spPr>
          <a:xfrm>
            <a:off x="8642272" y="3809048"/>
            <a:ext cx="1064270" cy="107923"/>
          </a:xfrm>
          <a:prstGeom prst="rect">
            <a:avLst/>
          </a:prstGeom>
          <a:ln/>
        </p:spPr>
        <p:txBody>
          <a:bodyPr wrap="none" lIns="0" tIns="0" rIns="0" bIns="0" rtlCol="0" anchor="t"/>
          <a:lstStyle/>
          <a:p>
            <a:pPr algn="l" indent="0" marL="0">
              <a:lnSpc>
                <a:spcPct val="100000"/>
              </a:lnSpc>
              <a:buNone/>
            </a:pPr>
            <a:r>
              <a:rPr lang="en-US" sz="700" b="1" dirty="0">
                <a:solidFill>
                  <a:srgbClr val="080812"/>
                </a:solidFill>
                <a:latin typeface="Inter" pitchFamily="34" charset="0"/>
                <a:ea typeface="Inter" pitchFamily="34" charset="-122"/>
                <a:cs typeface="Inter" pitchFamily="34" charset="-120"/>
              </a:rPr>
              <a:t>ENGAGEMENT RATE</a:t>
            </a:r>
            <a:endParaRPr lang="en-US" sz="700" dirty="0"/>
          </a:p>
        </p:txBody>
      </p:sp>
      <p:sp>
        <p:nvSpPr>
          <p:cNvPr id="45" name="Text 42"/>
          <p:cNvSpPr/>
          <p:nvPr/>
        </p:nvSpPr>
        <p:spPr>
          <a:xfrm>
            <a:off x="10390169" y="3796351"/>
            <a:ext cx="525641" cy="133317"/>
          </a:xfrm>
          <a:prstGeom prst="rect">
            <a:avLst/>
          </a:prstGeom>
          <a:ln/>
        </p:spPr>
        <p:txBody>
          <a:bodyPr wrap="none" lIns="0" tIns="0" rIns="0" bIns="0" rtlCol="0" anchor="t"/>
          <a:lstStyle/>
          <a:p>
            <a:pPr algn="l" indent="0" marL="0">
              <a:lnSpc>
                <a:spcPct val="100000"/>
              </a:lnSpc>
              <a:buNone/>
            </a:pPr>
            <a:r>
              <a:rPr lang="en-US" sz="900" b="1" dirty="0">
                <a:solidFill>
                  <a:srgbClr val="080812"/>
                </a:solidFill>
                <a:latin typeface="Inter" pitchFamily="34" charset="0"/>
                <a:ea typeface="Inter" pitchFamily="34" charset="-122"/>
                <a:cs typeface="Inter" pitchFamily="34" charset="-120"/>
              </a:rPr>
              <a:t>0.89%</a:t>
            </a:r>
            <a:endParaRPr lang="en-US" sz="900" dirty="0"/>
          </a:p>
        </p:txBody>
      </p:sp>
      <p:sp>
        <p:nvSpPr>
          <p:cNvPr id="46" name="Text 43"/>
          <p:cNvSpPr/>
          <p:nvPr/>
        </p:nvSpPr>
        <p:spPr>
          <a:xfrm>
            <a:off x="8515304" y="4120120"/>
            <a:ext cx="352734"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504</a:t>
            </a:r>
            <a:endParaRPr lang="en-US" sz="800" dirty="0"/>
          </a:p>
        </p:txBody>
      </p:sp>
      <p:sp>
        <p:nvSpPr>
          <p:cNvPr id="47" name="Text 44"/>
          <p:cNvSpPr/>
          <p:nvPr/>
        </p:nvSpPr>
        <p:spPr>
          <a:xfrm>
            <a:off x="8515304" y="4266133"/>
            <a:ext cx="450675" cy="107923"/>
          </a:xfrm>
          <a:prstGeom prst="rect">
            <a:avLst/>
          </a:prstGeom>
          <a:ln/>
        </p:spPr>
        <p:txBody>
          <a:bodyPr wrap="none" lIns="0" tIns="0" rIns="0" bIns="0" rtlCol="0" anchor="t"/>
          <a:lstStyle/>
          <a:p>
            <a:pPr algn="l" indent="0" marL="0">
              <a:lnSpc>
                <a:spcPct val="100000"/>
              </a:lnSpc>
              <a:buNone/>
            </a:pPr>
            <a:r>
              <a:rPr lang="en-US" sz="700" dirty="0">
                <a:solidFill>
                  <a:srgbClr val="1E1E2B"/>
                </a:solidFill>
                <a:latin typeface="Inter" pitchFamily="34" charset="0"/>
                <a:ea typeface="Inter" pitchFamily="34" charset="-122"/>
                <a:cs typeface="Inter" pitchFamily="34" charset="-120"/>
              </a:rPr>
              <a:t>VIEWS</a:t>
            </a:r>
            <a:endParaRPr lang="en-US" sz="700" dirty="0"/>
          </a:p>
        </p:txBody>
      </p:sp>
      <p:sp>
        <p:nvSpPr>
          <p:cNvPr id="48" name="Text 45"/>
          <p:cNvSpPr/>
          <p:nvPr/>
        </p:nvSpPr>
        <p:spPr>
          <a:xfrm>
            <a:off x="10390169" y="4120120"/>
            <a:ext cx="215548"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5</a:t>
            </a:r>
            <a:endParaRPr lang="en-US" sz="800" dirty="0"/>
          </a:p>
        </p:txBody>
      </p:sp>
      <p:sp>
        <p:nvSpPr>
          <p:cNvPr id="49" name="Text 46"/>
          <p:cNvSpPr/>
          <p:nvPr/>
        </p:nvSpPr>
        <p:spPr>
          <a:xfrm>
            <a:off x="10390169" y="4266133"/>
            <a:ext cx="410055" cy="107923"/>
          </a:xfrm>
          <a:prstGeom prst="rect">
            <a:avLst/>
          </a:prstGeom>
          <a:ln/>
        </p:spPr>
        <p:txBody>
          <a:bodyPr wrap="none" lIns="0" tIns="0" rIns="0" bIns="0" rtlCol="0" anchor="t"/>
          <a:lstStyle/>
          <a:p>
            <a:pPr algn="l" indent="0" marL="0">
              <a:lnSpc>
                <a:spcPct val="100000"/>
              </a:lnSpc>
              <a:buNone/>
            </a:pPr>
            <a:r>
              <a:rPr lang="en-US" sz="700" dirty="0">
                <a:solidFill>
                  <a:srgbClr val="1E1E2B"/>
                </a:solidFill>
                <a:latin typeface="Inter" pitchFamily="34" charset="0"/>
                <a:ea typeface="Inter" pitchFamily="34" charset="-122"/>
                <a:cs typeface="Inter" pitchFamily="34" charset="-120"/>
              </a:rPr>
              <a:t>LIKES</a:t>
            </a:r>
            <a:endParaRPr lang="en-US" sz="700" dirty="0"/>
          </a:p>
        </p:txBody>
      </p:sp>
      <p:sp>
        <p:nvSpPr>
          <p:cNvPr id="50" name="Text 47"/>
          <p:cNvSpPr/>
          <p:nvPr/>
        </p:nvSpPr>
        <p:spPr>
          <a:xfrm>
            <a:off x="8515304" y="4450237"/>
            <a:ext cx="220855"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0</a:t>
            </a:r>
            <a:endParaRPr lang="en-US" sz="800" dirty="0"/>
          </a:p>
        </p:txBody>
      </p:sp>
      <p:sp>
        <p:nvSpPr>
          <p:cNvPr id="51" name="Text 48"/>
          <p:cNvSpPr/>
          <p:nvPr/>
        </p:nvSpPr>
        <p:spPr>
          <a:xfrm>
            <a:off x="8515304" y="4596251"/>
            <a:ext cx="701755" cy="107923"/>
          </a:xfrm>
          <a:prstGeom prst="rect">
            <a:avLst/>
          </a:prstGeom>
          <a:ln/>
        </p:spPr>
        <p:txBody>
          <a:bodyPr wrap="none" lIns="0" tIns="0" rIns="0" bIns="0" rtlCol="0" anchor="t"/>
          <a:lstStyle/>
          <a:p>
            <a:pPr algn="l" indent="0" marL="0">
              <a:lnSpc>
                <a:spcPct val="100000"/>
              </a:lnSpc>
              <a:buNone/>
            </a:pPr>
            <a:r>
              <a:rPr lang="en-US" sz="700" dirty="0">
                <a:solidFill>
                  <a:srgbClr val="1E1E2B"/>
                </a:solidFill>
                <a:latin typeface="Inter" pitchFamily="34" charset="0"/>
                <a:ea typeface="Inter" pitchFamily="34" charset="-122"/>
                <a:cs typeface="Inter" pitchFamily="34" charset="-120"/>
              </a:rPr>
              <a:t>COMMENTS</a:t>
            </a:r>
            <a:endParaRPr lang="en-US" sz="700" dirty="0"/>
          </a:p>
        </p:txBody>
      </p:sp>
      <p:sp>
        <p:nvSpPr>
          <p:cNvPr id="52" name="Text 49"/>
          <p:cNvSpPr/>
          <p:nvPr/>
        </p:nvSpPr>
        <p:spPr>
          <a:xfrm>
            <a:off x="10390169" y="4450237"/>
            <a:ext cx="350353"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458</a:t>
            </a:r>
            <a:endParaRPr lang="en-US" sz="800" dirty="0"/>
          </a:p>
        </p:txBody>
      </p:sp>
      <p:sp>
        <p:nvSpPr>
          <p:cNvPr id="53" name="Text 50"/>
          <p:cNvSpPr/>
          <p:nvPr/>
        </p:nvSpPr>
        <p:spPr>
          <a:xfrm>
            <a:off x="10390169" y="4596251"/>
            <a:ext cx="465778" cy="107923"/>
          </a:xfrm>
          <a:prstGeom prst="rect">
            <a:avLst/>
          </a:prstGeom>
          <a:ln/>
        </p:spPr>
        <p:txBody>
          <a:bodyPr wrap="none" lIns="0" tIns="0" rIns="0" bIns="0" rtlCol="0" anchor="t"/>
          <a:lstStyle/>
          <a:p>
            <a:pPr algn="l" indent="0" marL="0">
              <a:lnSpc>
                <a:spcPct val="100000"/>
              </a:lnSpc>
              <a:buNone/>
            </a:pPr>
            <a:r>
              <a:rPr lang="en-US" sz="700" dirty="0">
                <a:solidFill>
                  <a:srgbClr val="1E1E2B"/>
                </a:solidFill>
                <a:latin typeface="Inter" pitchFamily="34" charset="0"/>
                <a:ea typeface="Inter" pitchFamily="34" charset="-122"/>
                <a:cs typeface="Inter" pitchFamily="34" charset="-120"/>
              </a:rPr>
              <a:t>REACH</a:t>
            </a:r>
            <a:endParaRPr lang="en-US" sz="700" dirty="0"/>
          </a:p>
        </p:txBody>
      </p:sp>
      <p:sp>
        <p:nvSpPr>
          <p:cNvPr id="54" name="Text 51"/>
          <p:cNvSpPr/>
          <p:nvPr/>
        </p:nvSpPr>
        <p:spPr>
          <a:xfrm>
            <a:off x="317421" y="6335716"/>
            <a:ext cx="1433328"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Source: Socialinsider</a:t>
            </a:r>
            <a:endParaRPr lang="en-US" sz="1000" dirty="0"/>
          </a:p>
        </p:txBody>
      </p:sp>
      <p:sp>
        <p:nvSpPr>
          <p:cNvPr id="55" name="Text 52"/>
          <p:cNvSpPr/>
          <p:nvPr/>
        </p:nvSpPr>
        <p:spPr>
          <a:xfrm>
            <a:off x="317421" y="6589652"/>
            <a:ext cx="2443060"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Date range: 02 Jul 2026 - 31 Jul 2026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88952" cy="6858000"/>
          </a:xfrm>
          <a:prstGeom prst="rect">
            <a:avLst/>
          </a:prstGeom>
        </p:spPr>
      </p:pic>
      <p:sp>
        <p:nvSpPr>
          <p:cNvPr id="3" name="Text 0"/>
          <p:cNvSpPr/>
          <p:nvPr/>
        </p:nvSpPr>
        <p:spPr>
          <a:xfrm>
            <a:off x="342814" y="114271"/>
            <a:ext cx="1126236"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Psg Gold</a:t>
            </a:r>
            <a:endParaRPr lang="en-US" sz="1800" dirty="0"/>
          </a:p>
        </p:txBody>
      </p:sp>
      <p:sp>
        <p:nvSpPr>
          <p:cNvPr id="4" name="Text 1"/>
          <p:cNvSpPr/>
          <p:nvPr/>
        </p:nvSpPr>
        <p:spPr>
          <a:xfrm>
            <a:off x="5272357" y="114271"/>
            <a:ext cx="1796576"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TOP CONTENT</a:t>
            </a:r>
            <a:endParaRPr lang="en-US" sz="1800" dirty="0"/>
          </a:p>
        </p:txBody>
      </p:sp>
      <p:sp>
        <p:nvSpPr>
          <p:cNvPr id="5" name="Text 2"/>
          <p:cNvSpPr/>
          <p:nvPr/>
        </p:nvSpPr>
        <p:spPr>
          <a:xfrm>
            <a:off x="11551829" y="139665"/>
            <a:ext cx="446596" cy="228543"/>
          </a:xfrm>
          <a:prstGeom prst="rect">
            <a:avLst/>
          </a:prstGeom>
          <a:ln/>
        </p:spPr>
        <p:txBody>
          <a:bodyPr wrap="none" lIns="0" tIns="0" rIns="0" bIns="0" rtlCol="0" anchor="t"/>
          <a:lstStyle/>
          <a:p>
            <a:pPr algn="l" indent="0" marL="0">
              <a:lnSpc>
                <a:spcPct val="100000"/>
              </a:lnSpc>
              <a:buNone/>
            </a:pPr>
            <a:r>
              <a:rPr lang="en-US" sz="1500" dirty="0">
                <a:solidFill>
                  <a:srgbClr val="A8A8B4"/>
                </a:solidFill>
                <a:latin typeface="Inter" pitchFamily="34" charset="0"/>
                <a:ea typeface="Inter" pitchFamily="34" charset="-122"/>
                <a:cs typeface="Inter" pitchFamily="34" charset="-120"/>
              </a:rPr>
              <a:t>7/8</a:t>
            </a:r>
            <a:endParaRPr lang="en-US" sz="1500" dirty="0"/>
          </a:p>
        </p:txBody>
      </p:sp>
      <p:sp>
        <p:nvSpPr>
          <p:cNvPr id="6" name="Text 3"/>
          <p:cNvSpPr/>
          <p:nvPr/>
        </p:nvSpPr>
        <p:spPr>
          <a:xfrm>
            <a:off x="1422044" y="1015746"/>
            <a:ext cx="696813" cy="152362"/>
          </a:xfrm>
          <a:prstGeom prst="rect">
            <a:avLst/>
          </a:prstGeom>
          <a:ln/>
        </p:spPr>
        <p:txBody>
          <a:bodyPr wrap="none" lIns="0" tIns="0" rIns="0" bIns="0" rtlCol="0" anchor="t"/>
          <a:lstStyle/>
          <a:p>
            <a:pPr algn="l" indent="0" marL="0">
              <a:lnSpc>
                <a:spcPct val="100000"/>
              </a:lnSpc>
              <a:buNone/>
            </a:pPr>
            <a:r>
              <a:rPr lang="en-US" sz="1000" dirty="0">
                <a:solidFill>
                  <a:srgbClr val="080812"/>
                </a:solidFill>
                <a:latin typeface="Inter" pitchFamily="34" charset="0"/>
                <a:ea typeface="Inter" pitchFamily="34" charset="-122"/>
                <a:cs typeface="Inter" pitchFamily="34" charset="-120"/>
              </a:rPr>
              <a:t>Psg Gold</a:t>
            </a:r>
            <a:endParaRPr lang="en-US" sz="1000" dirty="0"/>
          </a:p>
        </p:txBody>
      </p:sp>
      <p:sp>
        <p:nvSpPr>
          <p:cNvPr id="7" name="Text 4"/>
          <p:cNvSpPr/>
          <p:nvPr/>
        </p:nvSpPr>
        <p:spPr>
          <a:xfrm>
            <a:off x="1422044" y="1187153"/>
            <a:ext cx="845762" cy="101575"/>
          </a:xfrm>
          <a:prstGeom prst="rect">
            <a:avLst/>
          </a:prstGeom>
          <a:ln/>
        </p:spPr>
        <p:txBody>
          <a:bodyPr wrap="none" lIns="0" tIns="0" rIns="0" bIns="0" rtlCol="0" anchor="t"/>
          <a:lstStyle/>
          <a:p>
            <a:pPr algn="l" indent="0" marL="0">
              <a:lnSpc>
                <a:spcPct val="100000"/>
              </a:lnSpc>
              <a:buNone/>
            </a:pPr>
            <a:r>
              <a:rPr lang="en-US" sz="650" dirty="0">
                <a:solidFill>
                  <a:srgbClr val="777786"/>
                </a:solidFill>
                <a:latin typeface="Inter" pitchFamily="34" charset="0"/>
                <a:ea typeface="Inter" pitchFamily="34" charset="-122"/>
                <a:cs typeface="Inter" pitchFamily="34" charset="-120"/>
              </a:rPr>
              <a:t>1176850 followers</a:t>
            </a:r>
            <a:endParaRPr lang="en-US" sz="650" dirty="0"/>
          </a:p>
        </p:txBody>
      </p:sp>
      <p:sp>
        <p:nvSpPr>
          <p:cNvPr id="8" name="Text 5"/>
          <p:cNvSpPr/>
          <p:nvPr/>
        </p:nvSpPr>
        <p:spPr>
          <a:xfrm>
            <a:off x="3062712" y="1022094"/>
            <a:ext cx="764190" cy="126968"/>
          </a:xfrm>
          <a:prstGeom prst="rect">
            <a:avLst/>
          </a:prstGeom>
          <a:ln/>
        </p:spPr>
        <p:txBody>
          <a:bodyPr wrap="none" lIns="0" tIns="0" rIns="0" bIns="0" rtlCol="0" anchor="t"/>
          <a:lstStyle/>
          <a:p>
            <a:pPr algn="l" indent="0" marL="0">
              <a:lnSpc>
                <a:spcPct val="100000"/>
              </a:lnSpc>
              <a:buNone/>
            </a:pPr>
            <a:r>
              <a:rPr lang="en-US" sz="800" dirty="0">
                <a:solidFill>
                  <a:srgbClr val="080812"/>
                </a:solidFill>
                <a:latin typeface="Inter" pitchFamily="34" charset="0"/>
                <a:ea typeface="Inter" pitchFamily="34" charset="-122"/>
                <a:cs typeface="Inter" pitchFamily="34" charset="-120"/>
              </a:rPr>
              <a:t>Jul 03, 2026</a:t>
            </a:r>
            <a:endParaRPr lang="en-US" sz="800" dirty="0"/>
          </a:p>
        </p:txBody>
      </p:sp>
      <p:sp>
        <p:nvSpPr>
          <p:cNvPr id="9" name="Text 6"/>
          <p:cNvSpPr/>
          <p:nvPr/>
        </p:nvSpPr>
        <p:spPr>
          <a:xfrm>
            <a:off x="3181646" y="1180805"/>
            <a:ext cx="542603" cy="101575"/>
          </a:xfrm>
          <a:prstGeom prst="rect">
            <a:avLst/>
          </a:prstGeom>
          <a:ln/>
        </p:spPr>
        <p:txBody>
          <a:bodyPr wrap="none" lIns="0" tIns="0" rIns="0" bIns="0" rtlCol="0" anchor="t"/>
          <a:lstStyle/>
          <a:p>
            <a:pPr algn="l" indent="0" marL="0">
              <a:lnSpc>
                <a:spcPct val="100000"/>
              </a:lnSpc>
              <a:buNone/>
            </a:pPr>
            <a:r>
              <a:rPr lang="en-US" sz="650" dirty="0">
                <a:solidFill>
                  <a:srgbClr val="777786"/>
                </a:solidFill>
                <a:latin typeface="Inter" pitchFamily="34" charset="0"/>
                <a:ea typeface="Inter" pitchFamily="34" charset="-122"/>
                <a:cs typeface="Inter" pitchFamily="34" charset="-120"/>
              </a:rPr>
              <a:t>View post</a:t>
            </a:r>
            <a:endParaRPr lang="en-US" sz="650" dirty="0"/>
          </a:p>
        </p:txBody>
      </p:sp>
      <p:sp>
        <p:nvSpPr>
          <p:cNvPr id="10" name="Text 7"/>
          <p:cNvSpPr/>
          <p:nvPr/>
        </p:nvSpPr>
        <p:spPr>
          <a:xfrm>
            <a:off x="1142714" y="1479180"/>
            <a:ext cx="311847" cy="107923"/>
          </a:xfrm>
          <a:prstGeom prst="rect">
            <a:avLst/>
          </a:prstGeom>
          <a:ln/>
        </p:spPr>
        <p:txBody>
          <a:bodyPr wrap="none" lIns="0" tIns="0" rIns="0" bIns="0" rtlCol="0" anchor="t"/>
          <a:lstStyle/>
          <a:p>
            <a:pPr algn="l" indent="0" marL="0">
              <a:lnSpc>
                <a:spcPct val="100000"/>
              </a:lnSpc>
              <a:buNone/>
            </a:pPr>
            <a:r>
              <a:rPr lang="en-US" sz="700" dirty="0">
                <a:solidFill>
                  <a:srgbClr val="FFFFFF"/>
                </a:solidFill>
                <a:latin typeface="Inter" pitchFamily="34" charset="0"/>
                <a:ea typeface="Inter" pitchFamily="34" charset="-122"/>
                <a:cs typeface="Inter" pitchFamily="34" charset="-120"/>
              </a:rPr>
              <a:t>reel</a:t>
            </a:r>
            <a:endParaRPr lang="en-US" sz="700" dirty="0"/>
          </a:p>
        </p:txBody>
      </p:sp>
      <p:sp>
        <p:nvSpPr>
          <p:cNvPr id="11" name="Text 8"/>
          <p:cNvSpPr/>
          <p:nvPr/>
        </p:nvSpPr>
        <p:spPr>
          <a:xfrm>
            <a:off x="1091927" y="3510672"/>
            <a:ext cx="2581622" cy="234891"/>
          </a:xfrm>
          <a:prstGeom prst="rect">
            <a:avLst/>
          </a:prstGeom>
          <a:ln/>
        </p:spPr>
        <p:txBody>
          <a:bodyPr wrap="square" lIns="0" tIns="0" rIns="0" bIns="0" rtlCol="0" anchor="t"/>
          <a:lstStyle/>
          <a:p>
            <a:pPr algn="l" indent="0" marL="0">
              <a:lnSpc>
                <a:spcPct val="100000"/>
              </a:lnSpc>
              <a:buNone/>
            </a:pPr>
            <a:r>
              <a:rPr lang="en-US" sz="700" dirty="0">
                <a:solidFill>
                  <a:srgbClr val="080812"/>
                </a:solidFill>
                <a:latin typeface="Inter" pitchFamily="34" charset="0"/>
                <a:ea typeface="Inter" pitchFamily="34" charset="-122"/>
                <a:cs typeface="Inter" pitchFamily="34" charset="-120"/>
              </a:rPr>
              <a:t>22 CT gold / BIS 916 Hall mark Necklace 13.862 gms Contact No. For ...</a:t>
            </a:r>
            <a:endParaRPr lang="en-US" sz="700" dirty="0"/>
          </a:p>
        </p:txBody>
      </p:sp>
      <p:sp>
        <p:nvSpPr>
          <p:cNvPr id="12" name="Text 9"/>
          <p:cNvSpPr/>
          <p:nvPr/>
        </p:nvSpPr>
        <p:spPr>
          <a:xfrm>
            <a:off x="1218895" y="3809048"/>
            <a:ext cx="1064270" cy="107923"/>
          </a:xfrm>
          <a:prstGeom prst="rect">
            <a:avLst/>
          </a:prstGeom>
          <a:ln/>
        </p:spPr>
        <p:txBody>
          <a:bodyPr wrap="none" lIns="0" tIns="0" rIns="0" bIns="0" rtlCol="0" anchor="t"/>
          <a:lstStyle/>
          <a:p>
            <a:pPr algn="l" indent="0" marL="0">
              <a:lnSpc>
                <a:spcPct val="100000"/>
              </a:lnSpc>
              <a:buNone/>
            </a:pPr>
            <a:r>
              <a:rPr lang="en-US" sz="700" b="1" dirty="0">
                <a:solidFill>
                  <a:srgbClr val="080812"/>
                </a:solidFill>
                <a:latin typeface="Inter" pitchFamily="34" charset="0"/>
                <a:ea typeface="Inter" pitchFamily="34" charset="-122"/>
                <a:cs typeface="Inter" pitchFamily="34" charset="-120"/>
              </a:rPr>
              <a:t>ENGAGEMENT RATE</a:t>
            </a:r>
            <a:endParaRPr lang="en-US" sz="700" dirty="0"/>
          </a:p>
        </p:txBody>
      </p:sp>
      <p:sp>
        <p:nvSpPr>
          <p:cNvPr id="13" name="Text 10"/>
          <p:cNvSpPr/>
          <p:nvPr/>
        </p:nvSpPr>
        <p:spPr>
          <a:xfrm>
            <a:off x="2966792" y="3796351"/>
            <a:ext cx="528654" cy="133317"/>
          </a:xfrm>
          <a:prstGeom prst="rect">
            <a:avLst/>
          </a:prstGeom>
          <a:ln/>
        </p:spPr>
        <p:txBody>
          <a:bodyPr wrap="none" lIns="0" tIns="0" rIns="0" bIns="0" rtlCol="0" anchor="t"/>
          <a:lstStyle/>
          <a:p>
            <a:pPr algn="l" indent="0" marL="0">
              <a:lnSpc>
                <a:spcPct val="100000"/>
              </a:lnSpc>
              <a:buNone/>
            </a:pPr>
            <a:r>
              <a:rPr lang="en-US" sz="900" b="1" dirty="0">
                <a:solidFill>
                  <a:srgbClr val="080812"/>
                </a:solidFill>
                <a:latin typeface="Inter" pitchFamily="34" charset="0"/>
                <a:ea typeface="Inter" pitchFamily="34" charset="-122"/>
                <a:cs typeface="Inter" pitchFamily="34" charset="-120"/>
              </a:rPr>
              <a:t>0.45%</a:t>
            </a:r>
            <a:endParaRPr lang="en-US" sz="900" dirty="0"/>
          </a:p>
        </p:txBody>
      </p:sp>
      <p:sp>
        <p:nvSpPr>
          <p:cNvPr id="14" name="Text 11"/>
          <p:cNvSpPr/>
          <p:nvPr/>
        </p:nvSpPr>
        <p:spPr>
          <a:xfrm>
            <a:off x="1091927" y="4120120"/>
            <a:ext cx="518487"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668.8K</a:t>
            </a:r>
            <a:endParaRPr lang="en-US" sz="800" dirty="0"/>
          </a:p>
        </p:txBody>
      </p:sp>
      <p:sp>
        <p:nvSpPr>
          <p:cNvPr id="15" name="Text 12"/>
          <p:cNvSpPr/>
          <p:nvPr/>
        </p:nvSpPr>
        <p:spPr>
          <a:xfrm>
            <a:off x="1091927" y="4266133"/>
            <a:ext cx="450675" cy="107923"/>
          </a:xfrm>
          <a:prstGeom prst="rect">
            <a:avLst/>
          </a:prstGeom>
          <a:ln/>
        </p:spPr>
        <p:txBody>
          <a:bodyPr wrap="none" lIns="0" tIns="0" rIns="0" bIns="0" rtlCol="0" anchor="t"/>
          <a:lstStyle/>
          <a:p>
            <a:pPr algn="l" indent="0" marL="0">
              <a:lnSpc>
                <a:spcPct val="100000"/>
              </a:lnSpc>
              <a:buNone/>
            </a:pPr>
            <a:r>
              <a:rPr lang="en-US" sz="700" dirty="0">
                <a:solidFill>
                  <a:srgbClr val="1E1E2B"/>
                </a:solidFill>
                <a:latin typeface="Inter" pitchFamily="34" charset="0"/>
                <a:ea typeface="Inter" pitchFamily="34" charset="-122"/>
                <a:cs typeface="Inter" pitchFamily="34" charset="-120"/>
              </a:rPr>
              <a:t>VIEWS</a:t>
            </a:r>
            <a:endParaRPr lang="en-US" sz="700" dirty="0"/>
          </a:p>
        </p:txBody>
      </p:sp>
      <p:sp>
        <p:nvSpPr>
          <p:cNvPr id="16" name="Text 13"/>
          <p:cNvSpPr/>
          <p:nvPr/>
        </p:nvSpPr>
        <p:spPr>
          <a:xfrm>
            <a:off x="2966792" y="4120120"/>
            <a:ext cx="422417"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5,061</a:t>
            </a:r>
            <a:endParaRPr lang="en-US" sz="800" dirty="0"/>
          </a:p>
        </p:txBody>
      </p:sp>
      <p:sp>
        <p:nvSpPr>
          <p:cNvPr id="17" name="Text 14"/>
          <p:cNvSpPr/>
          <p:nvPr/>
        </p:nvSpPr>
        <p:spPr>
          <a:xfrm>
            <a:off x="2966792" y="4266133"/>
            <a:ext cx="410055" cy="107923"/>
          </a:xfrm>
          <a:prstGeom prst="rect">
            <a:avLst/>
          </a:prstGeom>
          <a:ln/>
        </p:spPr>
        <p:txBody>
          <a:bodyPr wrap="none" lIns="0" tIns="0" rIns="0" bIns="0" rtlCol="0" anchor="t"/>
          <a:lstStyle/>
          <a:p>
            <a:pPr algn="l" indent="0" marL="0">
              <a:lnSpc>
                <a:spcPct val="100000"/>
              </a:lnSpc>
              <a:buNone/>
            </a:pPr>
            <a:r>
              <a:rPr lang="en-US" sz="700" dirty="0">
                <a:solidFill>
                  <a:srgbClr val="1E1E2B"/>
                </a:solidFill>
                <a:latin typeface="Inter" pitchFamily="34" charset="0"/>
                <a:ea typeface="Inter" pitchFamily="34" charset="-122"/>
                <a:cs typeface="Inter" pitchFamily="34" charset="-120"/>
              </a:rPr>
              <a:t>LIKES</a:t>
            </a:r>
            <a:endParaRPr lang="en-US" sz="700" dirty="0"/>
          </a:p>
        </p:txBody>
      </p:sp>
      <p:sp>
        <p:nvSpPr>
          <p:cNvPr id="18" name="Text 15"/>
          <p:cNvSpPr/>
          <p:nvPr/>
        </p:nvSpPr>
        <p:spPr>
          <a:xfrm>
            <a:off x="1091927" y="4450237"/>
            <a:ext cx="348816"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220</a:t>
            </a:r>
            <a:endParaRPr lang="en-US" sz="800" dirty="0"/>
          </a:p>
        </p:txBody>
      </p:sp>
      <p:sp>
        <p:nvSpPr>
          <p:cNvPr id="19" name="Text 16"/>
          <p:cNvSpPr/>
          <p:nvPr/>
        </p:nvSpPr>
        <p:spPr>
          <a:xfrm>
            <a:off x="1091927" y="4596251"/>
            <a:ext cx="701755" cy="107923"/>
          </a:xfrm>
          <a:prstGeom prst="rect">
            <a:avLst/>
          </a:prstGeom>
          <a:ln/>
        </p:spPr>
        <p:txBody>
          <a:bodyPr wrap="none" lIns="0" tIns="0" rIns="0" bIns="0" rtlCol="0" anchor="t"/>
          <a:lstStyle/>
          <a:p>
            <a:pPr algn="l" indent="0" marL="0">
              <a:lnSpc>
                <a:spcPct val="100000"/>
              </a:lnSpc>
              <a:buNone/>
            </a:pPr>
            <a:r>
              <a:rPr lang="en-US" sz="700" dirty="0">
                <a:solidFill>
                  <a:srgbClr val="1E1E2B"/>
                </a:solidFill>
                <a:latin typeface="Inter" pitchFamily="34" charset="0"/>
                <a:ea typeface="Inter" pitchFamily="34" charset="-122"/>
                <a:cs typeface="Inter" pitchFamily="34" charset="-120"/>
              </a:rPr>
              <a:t>COMMENTS</a:t>
            </a:r>
            <a:endParaRPr lang="en-US" sz="700" dirty="0"/>
          </a:p>
        </p:txBody>
      </p:sp>
      <p:sp>
        <p:nvSpPr>
          <p:cNvPr id="20" name="Text 17"/>
          <p:cNvSpPr/>
          <p:nvPr/>
        </p:nvSpPr>
        <p:spPr>
          <a:xfrm>
            <a:off x="2966792" y="4450237"/>
            <a:ext cx="487389"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416.7K</a:t>
            </a:r>
            <a:endParaRPr lang="en-US" sz="800" dirty="0"/>
          </a:p>
        </p:txBody>
      </p:sp>
      <p:sp>
        <p:nvSpPr>
          <p:cNvPr id="21" name="Text 18"/>
          <p:cNvSpPr/>
          <p:nvPr/>
        </p:nvSpPr>
        <p:spPr>
          <a:xfrm>
            <a:off x="2966792" y="4596251"/>
            <a:ext cx="465778" cy="107923"/>
          </a:xfrm>
          <a:prstGeom prst="rect">
            <a:avLst/>
          </a:prstGeom>
          <a:ln/>
        </p:spPr>
        <p:txBody>
          <a:bodyPr wrap="none" lIns="0" tIns="0" rIns="0" bIns="0" rtlCol="0" anchor="t"/>
          <a:lstStyle/>
          <a:p>
            <a:pPr algn="l" indent="0" marL="0">
              <a:lnSpc>
                <a:spcPct val="100000"/>
              </a:lnSpc>
              <a:buNone/>
            </a:pPr>
            <a:r>
              <a:rPr lang="en-US" sz="700" dirty="0">
                <a:solidFill>
                  <a:srgbClr val="1E1E2B"/>
                </a:solidFill>
                <a:latin typeface="Inter" pitchFamily="34" charset="0"/>
                <a:ea typeface="Inter" pitchFamily="34" charset="-122"/>
                <a:cs typeface="Inter" pitchFamily="34" charset="-120"/>
              </a:rPr>
              <a:t>REACH</a:t>
            </a:r>
            <a:endParaRPr lang="en-US" sz="700" dirty="0"/>
          </a:p>
        </p:txBody>
      </p:sp>
      <p:sp>
        <p:nvSpPr>
          <p:cNvPr id="22" name="Text 19"/>
          <p:cNvSpPr/>
          <p:nvPr/>
        </p:nvSpPr>
        <p:spPr>
          <a:xfrm>
            <a:off x="5133683" y="1015746"/>
            <a:ext cx="696813" cy="152362"/>
          </a:xfrm>
          <a:prstGeom prst="rect">
            <a:avLst/>
          </a:prstGeom>
          <a:ln/>
        </p:spPr>
        <p:txBody>
          <a:bodyPr wrap="none" lIns="0" tIns="0" rIns="0" bIns="0" rtlCol="0" anchor="t"/>
          <a:lstStyle/>
          <a:p>
            <a:pPr algn="l" indent="0" marL="0">
              <a:lnSpc>
                <a:spcPct val="100000"/>
              </a:lnSpc>
              <a:buNone/>
            </a:pPr>
            <a:r>
              <a:rPr lang="en-US" sz="1000" dirty="0">
                <a:solidFill>
                  <a:srgbClr val="080812"/>
                </a:solidFill>
                <a:latin typeface="Inter" pitchFamily="34" charset="0"/>
                <a:ea typeface="Inter" pitchFamily="34" charset="-122"/>
                <a:cs typeface="Inter" pitchFamily="34" charset="-120"/>
              </a:rPr>
              <a:t>Psg Gold</a:t>
            </a:r>
            <a:endParaRPr lang="en-US" sz="1000" dirty="0"/>
          </a:p>
        </p:txBody>
      </p:sp>
      <p:sp>
        <p:nvSpPr>
          <p:cNvPr id="23" name="Text 20"/>
          <p:cNvSpPr/>
          <p:nvPr/>
        </p:nvSpPr>
        <p:spPr>
          <a:xfrm>
            <a:off x="5133683" y="1187153"/>
            <a:ext cx="845762" cy="101575"/>
          </a:xfrm>
          <a:prstGeom prst="rect">
            <a:avLst/>
          </a:prstGeom>
          <a:ln/>
        </p:spPr>
        <p:txBody>
          <a:bodyPr wrap="none" lIns="0" tIns="0" rIns="0" bIns="0" rtlCol="0" anchor="t"/>
          <a:lstStyle/>
          <a:p>
            <a:pPr algn="l" indent="0" marL="0">
              <a:lnSpc>
                <a:spcPct val="100000"/>
              </a:lnSpc>
              <a:buNone/>
            </a:pPr>
            <a:r>
              <a:rPr lang="en-US" sz="650" dirty="0">
                <a:solidFill>
                  <a:srgbClr val="777786"/>
                </a:solidFill>
                <a:latin typeface="Inter" pitchFamily="34" charset="0"/>
                <a:ea typeface="Inter" pitchFamily="34" charset="-122"/>
                <a:cs typeface="Inter" pitchFamily="34" charset="-120"/>
              </a:rPr>
              <a:t>1176850 followers</a:t>
            </a:r>
            <a:endParaRPr lang="en-US" sz="650" dirty="0"/>
          </a:p>
        </p:txBody>
      </p:sp>
      <p:sp>
        <p:nvSpPr>
          <p:cNvPr id="24" name="Text 21"/>
          <p:cNvSpPr/>
          <p:nvPr/>
        </p:nvSpPr>
        <p:spPr>
          <a:xfrm>
            <a:off x="6775244" y="1022094"/>
            <a:ext cx="763446" cy="126968"/>
          </a:xfrm>
          <a:prstGeom prst="rect">
            <a:avLst/>
          </a:prstGeom>
          <a:ln/>
        </p:spPr>
        <p:txBody>
          <a:bodyPr wrap="none" lIns="0" tIns="0" rIns="0" bIns="0" rtlCol="0" anchor="t"/>
          <a:lstStyle/>
          <a:p>
            <a:pPr algn="l" indent="0" marL="0">
              <a:lnSpc>
                <a:spcPct val="100000"/>
              </a:lnSpc>
              <a:buNone/>
            </a:pPr>
            <a:r>
              <a:rPr lang="en-US" sz="800" dirty="0">
                <a:solidFill>
                  <a:srgbClr val="080812"/>
                </a:solidFill>
                <a:latin typeface="Inter" pitchFamily="34" charset="0"/>
                <a:ea typeface="Inter" pitchFamily="34" charset="-122"/>
                <a:cs typeface="Inter" pitchFamily="34" charset="-120"/>
              </a:rPr>
              <a:t>Jul 06, 2026</a:t>
            </a:r>
            <a:endParaRPr lang="en-US" sz="800" dirty="0"/>
          </a:p>
        </p:txBody>
      </p:sp>
      <p:sp>
        <p:nvSpPr>
          <p:cNvPr id="25" name="Text 22"/>
          <p:cNvSpPr/>
          <p:nvPr/>
        </p:nvSpPr>
        <p:spPr>
          <a:xfrm>
            <a:off x="6893384" y="1180805"/>
            <a:ext cx="542603" cy="101575"/>
          </a:xfrm>
          <a:prstGeom prst="rect">
            <a:avLst/>
          </a:prstGeom>
          <a:ln/>
        </p:spPr>
        <p:txBody>
          <a:bodyPr wrap="none" lIns="0" tIns="0" rIns="0" bIns="0" rtlCol="0" anchor="t"/>
          <a:lstStyle/>
          <a:p>
            <a:pPr algn="l" indent="0" marL="0">
              <a:lnSpc>
                <a:spcPct val="100000"/>
              </a:lnSpc>
              <a:buNone/>
            </a:pPr>
            <a:r>
              <a:rPr lang="en-US" sz="650" dirty="0">
                <a:solidFill>
                  <a:srgbClr val="777786"/>
                </a:solidFill>
                <a:latin typeface="Inter" pitchFamily="34" charset="0"/>
                <a:ea typeface="Inter" pitchFamily="34" charset="-122"/>
                <a:cs typeface="Inter" pitchFamily="34" charset="-120"/>
              </a:rPr>
              <a:t>View post</a:t>
            </a:r>
            <a:endParaRPr lang="en-US" sz="650" dirty="0"/>
          </a:p>
        </p:txBody>
      </p:sp>
      <p:sp>
        <p:nvSpPr>
          <p:cNvPr id="26" name="Text 23"/>
          <p:cNvSpPr/>
          <p:nvPr/>
        </p:nvSpPr>
        <p:spPr>
          <a:xfrm>
            <a:off x="4854353" y="1479180"/>
            <a:ext cx="801196" cy="107923"/>
          </a:xfrm>
          <a:prstGeom prst="rect">
            <a:avLst/>
          </a:prstGeom>
          <a:ln/>
        </p:spPr>
        <p:txBody>
          <a:bodyPr wrap="none" lIns="0" tIns="0" rIns="0" bIns="0" rtlCol="0" anchor="t"/>
          <a:lstStyle/>
          <a:p>
            <a:pPr algn="l" indent="0" marL="0">
              <a:lnSpc>
                <a:spcPct val="100000"/>
              </a:lnSpc>
              <a:buNone/>
            </a:pPr>
            <a:r>
              <a:rPr lang="en-US" sz="700" dirty="0">
                <a:solidFill>
                  <a:srgbClr val="FFFFFF"/>
                </a:solidFill>
                <a:latin typeface="Inter" pitchFamily="34" charset="0"/>
                <a:ea typeface="Inter" pitchFamily="34" charset="-122"/>
                <a:cs typeface="Inter" pitchFamily="34" charset="-120"/>
              </a:rPr>
              <a:t>carousel album</a:t>
            </a:r>
            <a:endParaRPr lang="en-US" sz="700" dirty="0"/>
          </a:p>
        </p:txBody>
      </p:sp>
      <p:sp>
        <p:nvSpPr>
          <p:cNvPr id="27" name="Text 24"/>
          <p:cNvSpPr/>
          <p:nvPr/>
        </p:nvSpPr>
        <p:spPr>
          <a:xfrm>
            <a:off x="4803566" y="3510672"/>
            <a:ext cx="2581721" cy="234891"/>
          </a:xfrm>
          <a:prstGeom prst="rect">
            <a:avLst/>
          </a:prstGeom>
          <a:ln/>
        </p:spPr>
        <p:txBody>
          <a:bodyPr wrap="square" lIns="0" tIns="0" rIns="0" bIns="0" rtlCol="0" anchor="t"/>
          <a:lstStyle/>
          <a:p>
            <a:pPr algn="l" indent="0" marL="0">
              <a:lnSpc>
                <a:spcPct val="100000"/>
              </a:lnSpc>
              <a:buNone/>
            </a:pPr>
            <a:r>
              <a:rPr lang="en-US" sz="700" dirty="0">
                <a:solidFill>
                  <a:srgbClr val="080812"/>
                </a:solidFill>
                <a:latin typeface="Inter" pitchFamily="34" charset="0"/>
                <a:ea typeface="Inter" pitchFamily="34" charset="-122"/>
                <a:cs typeface="Inter" pitchFamily="34" charset="-120"/>
              </a:rPr>
              <a:t>22 CT gold / BIS 916 Hall mark Ring Contact No. For more details 63...</a:t>
            </a:r>
            <a:endParaRPr lang="en-US" sz="700" dirty="0"/>
          </a:p>
        </p:txBody>
      </p:sp>
      <p:sp>
        <p:nvSpPr>
          <p:cNvPr id="28" name="Text 25"/>
          <p:cNvSpPr/>
          <p:nvPr/>
        </p:nvSpPr>
        <p:spPr>
          <a:xfrm>
            <a:off x="4930534" y="3809048"/>
            <a:ext cx="1064270" cy="107923"/>
          </a:xfrm>
          <a:prstGeom prst="rect">
            <a:avLst/>
          </a:prstGeom>
          <a:ln/>
        </p:spPr>
        <p:txBody>
          <a:bodyPr wrap="none" lIns="0" tIns="0" rIns="0" bIns="0" rtlCol="0" anchor="t"/>
          <a:lstStyle/>
          <a:p>
            <a:pPr algn="l" indent="0" marL="0">
              <a:lnSpc>
                <a:spcPct val="100000"/>
              </a:lnSpc>
              <a:buNone/>
            </a:pPr>
            <a:r>
              <a:rPr lang="en-US" sz="700" b="1" dirty="0">
                <a:solidFill>
                  <a:srgbClr val="080812"/>
                </a:solidFill>
                <a:latin typeface="Inter" pitchFamily="34" charset="0"/>
                <a:ea typeface="Inter" pitchFamily="34" charset="-122"/>
                <a:cs typeface="Inter" pitchFamily="34" charset="-120"/>
              </a:rPr>
              <a:t>ENGAGEMENT RATE</a:t>
            </a:r>
            <a:endParaRPr lang="en-US" sz="700" dirty="0"/>
          </a:p>
        </p:txBody>
      </p:sp>
      <p:sp>
        <p:nvSpPr>
          <p:cNvPr id="29" name="Text 26"/>
          <p:cNvSpPr/>
          <p:nvPr/>
        </p:nvSpPr>
        <p:spPr>
          <a:xfrm>
            <a:off x="6678431" y="3796351"/>
            <a:ext cx="493614" cy="133317"/>
          </a:xfrm>
          <a:prstGeom prst="rect">
            <a:avLst/>
          </a:prstGeom>
          <a:ln/>
        </p:spPr>
        <p:txBody>
          <a:bodyPr wrap="none" lIns="0" tIns="0" rIns="0" bIns="0" rtlCol="0" anchor="t"/>
          <a:lstStyle/>
          <a:p>
            <a:pPr algn="l" indent="0" marL="0">
              <a:lnSpc>
                <a:spcPct val="100000"/>
              </a:lnSpc>
              <a:buNone/>
            </a:pPr>
            <a:r>
              <a:rPr lang="en-US" sz="900" b="1" dirty="0">
                <a:solidFill>
                  <a:srgbClr val="080812"/>
                </a:solidFill>
                <a:latin typeface="Inter" pitchFamily="34" charset="0"/>
                <a:ea typeface="Inter" pitchFamily="34" charset="-122"/>
                <a:cs typeface="Inter" pitchFamily="34" charset="-120"/>
              </a:rPr>
              <a:t>0.18%</a:t>
            </a:r>
            <a:endParaRPr lang="en-US" sz="900" dirty="0"/>
          </a:p>
        </p:txBody>
      </p:sp>
      <p:sp>
        <p:nvSpPr>
          <p:cNvPr id="30" name="Text 27"/>
          <p:cNvSpPr/>
          <p:nvPr/>
        </p:nvSpPr>
        <p:spPr>
          <a:xfrm>
            <a:off x="4803566" y="4120120"/>
            <a:ext cx="442058"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9,323</a:t>
            </a:r>
            <a:endParaRPr lang="en-US" sz="800" dirty="0"/>
          </a:p>
        </p:txBody>
      </p:sp>
      <p:sp>
        <p:nvSpPr>
          <p:cNvPr id="31" name="Text 28"/>
          <p:cNvSpPr/>
          <p:nvPr/>
        </p:nvSpPr>
        <p:spPr>
          <a:xfrm>
            <a:off x="4803566" y="4266133"/>
            <a:ext cx="450675" cy="107923"/>
          </a:xfrm>
          <a:prstGeom prst="rect">
            <a:avLst/>
          </a:prstGeom>
          <a:ln/>
        </p:spPr>
        <p:txBody>
          <a:bodyPr wrap="none" lIns="0" tIns="0" rIns="0" bIns="0" rtlCol="0" anchor="t"/>
          <a:lstStyle/>
          <a:p>
            <a:pPr algn="l" indent="0" marL="0">
              <a:lnSpc>
                <a:spcPct val="100000"/>
              </a:lnSpc>
              <a:buNone/>
            </a:pPr>
            <a:r>
              <a:rPr lang="en-US" sz="700" dirty="0">
                <a:solidFill>
                  <a:srgbClr val="1E1E2B"/>
                </a:solidFill>
                <a:latin typeface="Inter" pitchFamily="34" charset="0"/>
                <a:ea typeface="Inter" pitchFamily="34" charset="-122"/>
                <a:cs typeface="Inter" pitchFamily="34" charset="-120"/>
              </a:rPr>
              <a:t>VIEWS</a:t>
            </a:r>
            <a:endParaRPr lang="en-US" sz="700" dirty="0"/>
          </a:p>
        </p:txBody>
      </p:sp>
      <p:sp>
        <p:nvSpPr>
          <p:cNvPr id="32" name="Text 29"/>
          <p:cNvSpPr/>
          <p:nvPr/>
        </p:nvSpPr>
        <p:spPr>
          <a:xfrm>
            <a:off x="6678431" y="4120120"/>
            <a:ext cx="387749"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2,171</a:t>
            </a:r>
            <a:endParaRPr lang="en-US" sz="800" dirty="0"/>
          </a:p>
        </p:txBody>
      </p:sp>
      <p:sp>
        <p:nvSpPr>
          <p:cNvPr id="33" name="Text 30"/>
          <p:cNvSpPr/>
          <p:nvPr/>
        </p:nvSpPr>
        <p:spPr>
          <a:xfrm>
            <a:off x="6678431" y="4266133"/>
            <a:ext cx="410055" cy="107923"/>
          </a:xfrm>
          <a:prstGeom prst="rect">
            <a:avLst/>
          </a:prstGeom>
          <a:ln/>
        </p:spPr>
        <p:txBody>
          <a:bodyPr wrap="none" lIns="0" tIns="0" rIns="0" bIns="0" rtlCol="0" anchor="t"/>
          <a:lstStyle/>
          <a:p>
            <a:pPr algn="l" indent="0" marL="0">
              <a:lnSpc>
                <a:spcPct val="100000"/>
              </a:lnSpc>
              <a:buNone/>
            </a:pPr>
            <a:r>
              <a:rPr lang="en-US" sz="700" dirty="0">
                <a:solidFill>
                  <a:srgbClr val="1E1E2B"/>
                </a:solidFill>
                <a:latin typeface="Inter" pitchFamily="34" charset="0"/>
                <a:ea typeface="Inter" pitchFamily="34" charset="-122"/>
                <a:cs typeface="Inter" pitchFamily="34" charset="-120"/>
              </a:rPr>
              <a:t>LIKES</a:t>
            </a:r>
            <a:endParaRPr lang="en-US" sz="700" dirty="0"/>
          </a:p>
        </p:txBody>
      </p:sp>
      <p:sp>
        <p:nvSpPr>
          <p:cNvPr id="34" name="Text 31"/>
          <p:cNvSpPr/>
          <p:nvPr/>
        </p:nvSpPr>
        <p:spPr>
          <a:xfrm>
            <a:off x="4803566" y="4450237"/>
            <a:ext cx="217929"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3</a:t>
            </a:r>
            <a:endParaRPr lang="en-US" sz="800" dirty="0"/>
          </a:p>
        </p:txBody>
      </p:sp>
      <p:sp>
        <p:nvSpPr>
          <p:cNvPr id="35" name="Text 32"/>
          <p:cNvSpPr/>
          <p:nvPr/>
        </p:nvSpPr>
        <p:spPr>
          <a:xfrm>
            <a:off x="4803566" y="4596251"/>
            <a:ext cx="701755" cy="107923"/>
          </a:xfrm>
          <a:prstGeom prst="rect">
            <a:avLst/>
          </a:prstGeom>
          <a:ln/>
        </p:spPr>
        <p:txBody>
          <a:bodyPr wrap="none" lIns="0" tIns="0" rIns="0" bIns="0" rtlCol="0" anchor="t"/>
          <a:lstStyle/>
          <a:p>
            <a:pPr algn="l" indent="0" marL="0">
              <a:lnSpc>
                <a:spcPct val="100000"/>
              </a:lnSpc>
              <a:buNone/>
            </a:pPr>
            <a:r>
              <a:rPr lang="en-US" sz="700" dirty="0">
                <a:solidFill>
                  <a:srgbClr val="1E1E2B"/>
                </a:solidFill>
                <a:latin typeface="Inter" pitchFamily="34" charset="0"/>
                <a:ea typeface="Inter" pitchFamily="34" charset="-122"/>
                <a:cs typeface="Inter" pitchFamily="34" charset="-120"/>
              </a:rPr>
              <a:t>COMMENTS</a:t>
            </a:r>
            <a:endParaRPr lang="en-US" sz="700" dirty="0"/>
          </a:p>
        </p:txBody>
      </p:sp>
      <p:sp>
        <p:nvSpPr>
          <p:cNvPr id="36" name="Text 33"/>
          <p:cNvSpPr/>
          <p:nvPr/>
        </p:nvSpPr>
        <p:spPr>
          <a:xfrm>
            <a:off x="6678431" y="4450237"/>
            <a:ext cx="442405"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8,476</a:t>
            </a:r>
            <a:endParaRPr lang="en-US" sz="800" dirty="0"/>
          </a:p>
        </p:txBody>
      </p:sp>
      <p:sp>
        <p:nvSpPr>
          <p:cNvPr id="37" name="Text 34"/>
          <p:cNvSpPr/>
          <p:nvPr/>
        </p:nvSpPr>
        <p:spPr>
          <a:xfrm>
            <a:off x="6678431" y="4596251"/>
            <a:ext cx="465778" cy="107923"/>
          </a:xfrm>
          <a:prstGeom prst="rect">
            <a:avLst/>
          </a:prstGeom>
          <a:ln/>
        </p:spPr>
        <p:txBody>
          <a:bodyPr wrap="none" lIns="0" tIns="0" rIns="0" bIns="0" rtlCol="0" anchor="t"/>
          <a:lstStyle/>
          <a:p>
            <a:pPr algn="l" indent="0" marL="0">
              <a:lnSpc>
                <a:spcPct val="100000"/>
              </a:lnSpc>
              <a:buNone/>
            </a:pPr>
            <a:r>
              <a:rPr lang="en-US" sz="700" dirty="0">
                <a:solidFill>
                  <a:srgbClr val="1E1E2B"/>
                </a:solidFill>
                <a:latin typeface="Inter" pitchFamily="34" charset="0"/>
                <a:ea typeface="Inter" pitchFamily="34" charset="-122"/>
                <a:cs typeface="Inter" pitchFamily="34" charset="-120"/>
              </a:rPr>
              <a:t>REACH</a:t>
            </a:r>
            <a:endParaRPr lang="en-US" sz="700" dirty="0"/>
          </a:p>
        </p:txBody>
      </p:sp>
      <p:sp>
        <p:nvSpPr>
          <p:cNvPr id="38" name="Text 35"/>
          <p:cNvSpPr/>
          <p:nvPr/>
        </p:nvSpPr>
        <p:spPr>
          <a:xfrm>
            <a:off x="8845422" y="1015746"/>
            <a:ext cx="696813" cy="152362"/>
          </a:xfrm>
          <a:prstGeom prst="rect">
            <a:avLst/>
          </a:prstGeom>
          <a:ln/>
        </p:spPr>
        <p:txBody>
          <a:bodyPr wrap="none" lIns="0" tIns="0" rIns="0" bIns="0" rtlCol="0" anchor="t"/>
          <a:lstStyle/>
          <a:p>
            <a:pPr algn="l" indent="0" marL="0">
              <a:lnSpc>
                <a:spcPct val="100000"/>
              </a:lnSpc>
              <a:buNone/>
            </a:pPr>
            <a:r>
              <a:rPr lang="en-US" sz="1000" dirty="0">
                <a:solidFill>
                  <a:srgbClr val="080812"/>
                </a:solidFill>
                <a:latin typeface="Inter" pitchFamily="34" charset="0"/>
                <a:ea typeface="Inter" pitchFamily="34" charset="-122"/>
                <a:cs typeface="Inter" pitchFamily="34" charset="-120"/>
              </a:rPr>
              <a:t>Psg Gold</a:t>
            </a:r>
            <a:endParaRPr lang="en-US" sz="1000" dirty="0"/>
          </a:p>
        </p:txBody>
      </p:sp>
      <p:sp>
        <p:nvSpPr>
          <p:cNvPr id="39" name="Text 36"/>
          <p:cNvSpPr/>
          <p:nvPr/>
        </p:nvSpPr>
        <p:spPr>
          <a:xfrm>
            <a:off x="8845422" y="1187153"/>
            <a:ext cx="845762" cy="101575"/>
          </a:xfrm>
          <a:prstGeom prst="rect">
            <a:avLst/>
          </a:prstGeom>
          <a:ln/>
        </p:spPr>
        <p:txBody>
          <a:bodyPr wrap="none" lIns="0" tIns="0" rIns="0" bIns="0" rtlCol="0" anchor="t"/>
          <a:lstStyle/>
          <a:p>
            <a:pPr algn="l" indent="0" marL="0">
              <a:lnSpc>
                <a:spcPct val="100000"/>
              </a:lnSpc>
              <a:buNone/>
            </a:pPr>
            <a:r>
              <a:rPr lang="en-US" sz="650" dirty="0">
                <a:solidFill>
                  <a:srgbClr val="777786"/>
                </a:solidFill>
                <a:latin typeface="Inter" pitchFamily="34" charset="0"/>
                <a:ea typeface="Inter" pitchFamily="34" charset="-122"/>
                <a:cs typeface="Inter" pitchFamily="34" charset="-120"/>
              </a:rPr>
              <a:t>1176850 followers</a:t>
            </a:r>
            <a:endParaRPr lang="en-US" sz="650" dirty="0"/>
          </a:p>
        </p:txBody>
      </p:sp>
      <p:sp>
        <p:nvSpPr>
          <p:cNvPr id="40" name="Text 37"/>
          <p:cNvSpPr/>
          <p:nvPr/>
        </p:nvSpPr>
        <p:spPr>
          <a:xfrm>
            <a:off x="10525767" y="1022094"/>
            <a:ext cx="724661" cy="126968"/>
          </a:xfrm>
          <a:prstGeom prst="rect">
            <a:avLst/>
          </a:prstGeom>
          <a:ln/>
        </p:spPr>
        <p:txBody>
          <a:bodyPr wrap="none" lIns="0" tIns="0" rIns="0" bIns="0" rtlCol="0" anchor="t"/>
          <a:lstStyle/>
          <a:p>
            <a:pPr algn="l" indent="0" marL="0">
              <a:lnSpc>
                <a:spcPct val="100000"/>
              </a:lnSpc>
              <a:buNone/>
            </a:pPr>
            <a:r>
              <a:rPr lang="en-US" sz="800" dirty="0">
                <a:solidFill>
                  <a:srgbClr val="080812"/>
                </a:solidFill>
                <a:latin typeface="Inter" pitchFamily="34" charset="0"/>
                <a:ea typeface="Inter" pitchFamily="34" charset="-122"/>
                <a:cs typeface="Inter" pitchFamily="34" charset="-120"/>
              </a:rPr>
              <a:t>Jul 17, 2026</a:t>
            </a:r>
            <a:endParaRPr lang="en-US" sz="800" dirty="0"/>
          </a:p>
        </p:txBody>
      </p:sp>
      <p:sp>
        <p:nvSpPr>
          <p:cNvPr id="41" name="Text 38"/>
          <p:cNvSpPr/>
          <p:nvPr/>
        </p:nvSpPr>
        <p:spPr>
          <a:xfrm>
            <a:off x="10605122" y="1180805"/>
            <a:ext cx="542603" cy="101575"/>
          </a:xfrm>
          <a:prstGeom prst="rect">
            <a:avLst/>
          </a:prstGeom>
          <a:ln/>
        </p:spPr>
        <p:txBody>
          <a:bodyPr wrap="none" lIns="0" tIns="0" rIns="0" bIns="0" rtlCol="0" anchor="t"/>
          <a:lstStyle/>
          <a:p>
            <a:pPr algn="l" indent="0" marL="0">
              <a:lnSpc>
                <a:spcPct val="100000"/>
              </a:lnSpc>
              <a:buNone/>
            </a:pPr>
            <a:r>
              <a:rPr lang="en-US" sz="650" dirty="0">
                <a:solidFill>
                  <a:srgbClr val="777786"/>
                </a:solidFill>
                <a:latin typeface="Inter" pitchFamily="34" charset="0"/>
                <a:ea typeface="Inter" pitchFamily="34" charset="-122"/>
                <a:cs typeface="Inter" pitchFamily="34" charset="-120"/>
              </a:rPr>
              <a:t>View post</a:t>
            </a:r>
            <a:endParaRPr lang="en-US" sz="650" dirty="0"/>
          </a:p>
        </p:txBody>
      </p:sp>
      <p:sp>
        <p:nvSpPr>
          <p:cNvPr id="42" name="Text 39"/>
          <p:cNvSpPr/>
          <p:nvPr/>
        </p:nvSpPr>
        <p:spPr>
          <a:xfrm>
            <a:off x="8566092" y="1479180"/>
            <a:ext cx="311847" cy="107923"/>
          </a:xfrm>
          <a:prstGeom prst="rect">
            <a:avLst/>
          </a:prstGeom>
          <a:ln/>
        </p:spPr>
        <p:txBody>
          <a:bodyPr wrap="none" lIns="0" tIns="0" rIns="0" bIns="0" rtlCol="0" anchor="t"/>
          <a:lstStyle/>
          <a:p>
            <a:pPr algn="l" indent="0" marL="0">
              <a:lnSpc>
                <a:spcPct val="100000"/>
              </a:lnSpc>
              <a:buNone/>
            </a:pPr>
            <a:r>
              <a:rPr lang="en-US" sz="700" dirty="0">
                <a:solidFill>
                  <a:srgbClr val="FFFFFF"/>
                </a:solidFill>
                <a:latin typeface="Inter" pitchFamily="34" charset="0"/>
                <a:ea typeface="Inter" pitchFamily="34" charset="-122"/>
                <a:cs typeface="Inter" pitchFamily="34" charset="-120"/>
              </a:rPr>
              <a:t>reel</a:t>
            </a:r>
            <a:endParaRPr lang="en-US" sz="700" dirty="0"/>
          </a:p>
        </p:txBody>
      </p:sp>
      <p:sp>
        <p:nvSpPr>
          <p:cNvPr id="43" name="Text 40"/>
          <p:cNvSpPr/>
          <p:nvPr/>
        </p:nvSpPr>
        <p:spPr>
          <a:xfrm>
            <a:off x="8515304" y="3510672"/>
            <a:ext cx="2581721" cy="234891"/>
          </a:xfrm>
          <a:prstGeom prst="rect">
            <a:avLst/>
          </a:prstGeom>
          <a:ln/>
        </p:spPr>
        <p:txBody>
          <a:bodyPr wrap="square" lIns="0" tIns="0" rIns="0" bIns="0" rtlCol="0" anchor="t"/>
          <a:lstStyle/>
          <a:p>
            <a:pPr algn="l" indent="0" marL="0">
              <a:lnSpc>
                <a:spcPct val="100000"/>
              </a:lnSpc>
              <a:buNone/>
            </a:pPr>
            <a:r>
              <a:rPr lang="en-US" sz="700" dirty="0">
                <a:solidFill>
                  <a:srgbClr val="080812"/>
                </a:solidFill>
                <a:latin typeface="Inter" pitchFamily="34" charset="0"/>
                <a:ea typeface="Inter" pitchFamily="34" charset="-122"/>
                <a:cs typeface="Inter" pitchFamily="34" charset="-120"/>
              </a:rPr>
              <a:t>22 CT gold / BIS 916 Hall mark Pendant 8.640 gms Contact No. For m...</a:t>
            </a:r>
            <a:endParaRPr lang="en-US" sz="700" dirty="0"/>
          </a:p>
        </p:txBody>
      </p:sp>
      <p:sp>
        <p:nvSpPr>
          <p:cNvPr id="44" name="Text 41"/>
          <p:cNvSpPr/>
          <p:nvPr/>
        </p:nvSpPr>
        <p:spPr>
          <a:xfrm>
            <a:off x="8642272" y="3809048"/>
            <a:ext cx="1064270" cy="107923"/>
          </a:xfrm>
          <a:prstGeom prst="rect">
            <a:avLst/>
          </a:prstGeom>
          <a:ln/>
        </p:spPr>
        <p:txBody>
          <a:bodyPr wrap="none" lIns="0" tIns="0" rIns="0" bIns="0" rtlCol="0" anchor="t"/>
          <a:lstStyle/>
          <a:p>
            <a:pPr algn="l" indent="0" marL="0">
              <a:lnSpc>
                <a:spcPct val="100000"/>
              </a:lnSpc>
              <a:buNone/>
            </a:pPr>
            <a:r>
              <a:rPr lang="en-US" sz="700" b="1" dirty="0">
                <a:solidFill>
                  <a:srgbClr val="080812"/>
                </a:solidFill>
                <a:latin typeface="Inter" pitchFamily="34" charset="0"/>
                <a:ea typeface="Inter" pitchFamily="34" charset="-122"/>
                <a:cs typeface="Inter" pitchFamily="34" charset="-120"/>
              </a:rPr>
              <a:t>ENGAGEMENT RATE</a:t>
            </a:r>
            <a:endParaRPr lang="en-US" sz="700" dirty="0"/>
          </a:p>
        </p:txBody>
      </p:sp>
      <p:sp>
        <p:nvSpPr>
          <p:cNvPr id="45" name="Text 42"/>
          <p:cNvSpPr/>
          <p:nvPr/>
        </p:nvSpPr>
        <p:spPr>
          <a:xfrm>
            <a:off x="10390169" y="3796351"/>
            <a:ext cx="491215" cy="133317"/>
          </a:xfrm>
          <a:prstGeom prst="rect">
            <a:avLst/>
          </a:prstGeom>
          <a:ln/>
        </p:spPr>
        <p:txBody>
          <a:bodyPr wrap="none" lIns="0" tIns="0" rIns="0" bIns="0" rtlCol="0" anchor="t"/>
          <a:lstStyle/>
          <a:p>
            <a:pPr algn="l" indent="0" marL="0">
              <a:lnSpc>
                <a:spcPct val="100000"/>
              </a:lnSpc>
              <a:buNone/>
            </a:pPr>
            <a:r>
              <a:rPr lang="en-US" sz="900" b="1" dirty="0">
                <a:solidFill>
                  <a:srgbClr val="080812"/>
                </a:solidFill>
                <a:latin typeface="Inter" pitchFamily="34" charset="0"/>
                <a:ea typeface="Inter" pitchFamily="34" charset="-122"/>
                <a:cs typeface="Inter" pitchFamily="34" charset="-120"/>
              </a:rPr>
              <a:t>0.12%</a:t>
            </a:r>
            <a:endParaRPr lang="en-US" sz="900" dirty="0"/>
          </a:p>
        </p:txBody>
      </p:sp>
      <p:sp>
        <p:nvSpPr>
          <p:cNvPr id="46" name="Text 43"/>
          <p:cNvSpPr/>
          <p:nvPr/>
        </p:nvSpPr>
        <p:spPr>
          <a:xfrm>
            <a:off x="8515304" y="4120120"/>
            <a:ext cx="444786"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99.7K</a:t>
            </a:r>
            <a:endParaRPr lang="en-US" sz="800" dirty="0"/>
          </a:p>
        </p:txBody>
      </p:sp>
      <p:sp>
        <p:nvSpPr>
          <p:cNvPr id="47" name="Text 44"/>
          <p:cNvSpPr/>
          <p:nvPr/>
        </p:nvSpPr>
        <p:spPr>
          <a:xfrm>
            <a:off x="8515304" y="4266133"/>
            <a:ext cx="450675" cy="107923"/>
          </a:xfrm>
          <a:prstGeom prst="rect">
            <a:avLst/>
          </a:prstGeom>
          <a:ln/>
        </p:spPr>
        <p:txBody>
          <a:bodyPr wrap="none" lIns="0" tIns="0" rIns="0" bIns="0" rtlCol="0" anchor="t"/>
          <a:lstStyle/>
          <a:p>
            <a:pPr algn="l" indent="0" marL="0">
              <a:lnSpc>
                <a:spcPct val="100000"/>
              </a:lnSpc>
              <a:buNone/>
            </a:pPr>
            <a:r>
              <a:rPr lang="en-US" sz="700" dirty="0">
                <a:solidFill>
                  <a:srgbClr val="1E1E2B"/>
                </a:solidFill>
                <a:latin typeface="Inter" pitchFamily="34" charset="0"/>
                <a:ea typeface="Inter" pitchFamily="34" charset="-122"/>
                <a:cs typeface="Inter" pitchFamily="34" charset="-120"/>
              </a:rPr>
              <a:t>VIEWS</a:t>
            </a:r>
            <a:endParaRPr lang="en-US" sz="700" dirty="0"/>
          </a:p>
        </p:txBody>
      </p:sp>
      <p:sp>
        <p:nvSpPr>
          <p:cNvPr id="48" name="Text 45"/>
          <p:cNvSpPr/>
          <p:nvPr/>
        </p:nvSpPr>
        <p:spPr>
          <a:xfrm>
            <a:off x="10390169" y="4120120"/>
            <a:ext cx="430303"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1,436</a:t>
            </a:r>
            <a:endParaRPr lang="en-US" sz="800" dirty="0"/>
          </a:p>
        </p:txBody>
      </p:sp>
      <p:sp>
        <p:nvSpPr>
          <p:cNvPr id="49" name="Text 46"/>
          <p:cNvSpPr/>
          <p:nvPr/>
        </p:nvSpPr>
        <p:spPr>
          <a:xfrm>
            <a:off x="10390169" y="4266133"/>
            <a:ext cx="410055" cy="107923"/>
          </a:xfrm>
          <a:prstGeom prst="rect">
            <a:avLst/>
          </a:prstGeom>
          <a:ln/>
        </p:spPr>
        <p:txBody>
          <a:bodyPr wrap="none" lIns="0" tIns="0" rIns="0" bIns="0" rtlCol="0" anchor="t"/>
          <a:lstStyle/>
          <a:p>
            <a:pPr algn="l" indent="0" marL="0">
              <a:lnSpc>
                <a:spcPct val="100000"/>
              </a:lnSpc>
              <a:buNone/>
            </a:pPr>
            <a:r>
              <a:rPr lang="en-US" sz="700" dirty="0">
                <a:solidFill>
                  <a:srgbClr val="1E1E2B"/>
                </a:solidFill>
                <a:latin typeface="Inter" pitchFamily="34" charset="0"/>
                <a:ea typeface="Inter" pitchFamily="34" charset="-122"/>
                <a:cs typeface="Inter" pitchFamily="34" charset="-120"/>
              </a:rPr>
              <a:t>LIKES</a:t>
            </a:r>
            <a:endParaRPr lang="en-US" sz="700" dirty="0"/>
          </a:p>
        </p:txBody>
      </p:sp>
      <p:sp>
        <p:nvSpPr>
          <p:cNvPr id="50" name="Text 47"/>
          <p:cNvSpPr/>
          <p:nvPr/>
        </p:nvSpPr>
        <p:spPr>
          <a:xfrm>
            <a:off x="8515304" y="4450237"/>
            <a:ext cx="215548"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5</a:t>
            </a:r>
            <a:endParaRPr lang="en-US" sz="800" dirty="0"/>
          </a:p>
        </p:txBody>
      </p:sp>
      <p:sp>
        <p:nvSpPr>
          <p:cNvPr id="51" name="Text 48"/>
          <p:cNvSpPr/>
          <p:nvPr/>
        </p:nvSpPr>
        <p:spPr>
          <a:xfrm>
            <a:off x="8515304" y="4596251"/>
            <a:ext cx="701755" cy="107923"/>
          </a:xfrm>
          <a:prstGeom prst="rect">
            <a:avLst/>
          </a:prstGeom>
          <a:ln/>
        </p:spPr>
        <p:txBody>
          <a:bodyPr wrap="none" lIns="0" tIns="0" rIns="0" bIns="0" rtlCol="0" anchor="t"/>
          <a:lstStyle/>
          <a:p>
            <a:pPr algn="l" indent="0" marL="0">
              <a:lnSpc>
                <a:spcPct val="100000"/>
              </a:lnSpc>
              <a:buNone/>
            </a:pPr>
            <a:r>
              <a:rPr lang="en-US" sz="700" dirty="0">
                <a:solidFill>
                  <a:srgbClr val="1E1E2B"/>
                </a:solidFill>
                <a:latin typeface="Inter" pitchFamily="34" charset="0"/>
                <a:ea typeface="Inter" pitchFamily="34" charset="-122"/>
                <a:cs typeface="Inter" pitchFamily="34" charset="-120"/>
              </a:rPr>
              <a:t>COMMENTS</a:t>
            </a:r>
            <a:endParaRPr lang="en-US" sz="700" dirty="0"/>
          </a:p>
        </p:txBody>
      </p:sp>
      <p:sp>
        <p:nvSpPr>
          <p:cNvPr id="52" name="Text 49"/>
          <p:cNvSpPr/>
          <p:nvPr/>
        </p:nvSpPr>
        <p:spPr>
          <a:xfrm>
            <a:off x="10390169" y="4450237"/>
            <a:ext cx="423905"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62.1K</a:t>
            </a:r>
            <a:endParaRPr lang="en-US" sz="800" dirty="0"/>
          </a:p>
        </p:txBody>
      </p:sp>
      <p:sp>
        <p:nvSpPr>
          <p:cNvPr id="53" name="Text 50"/>
          <p:cNvSpPr/>
          <p:nvPr/>
        </p:nvSpPr>
        <p:spPr>
          <a:xfrm>
            <a:off x="10390169" y="4596251"/>
            <a:ext cx="465778" cy="107923"/>
          </a:xfrm>
          <a:prstGeom prst="rect">
            <a:avLst/>
          </a:prstGeom>
          <a:ln/>
        </p:spPr>
        <p:txBody>
          <a:bodyPr wrap="none" lIns="0" tIns="0" rIns="0" bIns="0" rtlCol="0" anchor="t"/>
          <a:lstStyle/>
          <a:p>
            <a:pPr algn="l" indent="0" marL="0">
              <a:lnSpc>
                <a:spcPct val="100000"/>
              </a:lnSpc>
              <a:buNone/>
            </a:pPr>
            <a:r>
              <a:rPr lang="en-US" sz="700" dirty="0">
                <a:solidFill>
                  <a:srgbClr val="1E1E2B"/>
                </a:solidFill>
                <a:latin typeface="Inter" pitchFamily="34" charset="0"/>
                <a:ea typeface="Inter" pitchFamily="34" charset="-122"/>
                <a:cs typeface="Inter" pitchFamily="34" charset="-120"/>
              </a:rPr>
              <a:t>REACH</a:t>
            </a:r>
            <a:endParaRPr lang="en-US" sz="700" dirty="0"/>
          </a:p>
        </p:txBody>
      </p:sp>
      <p:sp>
        <p:nvSpPr>
          <p:cNvPr id="54" name="Text 51"/>
          <p:cNvSpPr/>
          <p:nvPr/>
        </p:nvSpPr>
        <p:spPr>
          <a:xfrm>
            <a:off x="317421" y="6335716"/>
            <a:ext cx="1433328"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Source: Socialinsider</a:t>
            </a:r>
            <a:endParaRPr lang="en-US" sz="1000" dirty="0"/>
          </a:p>
        </p:txBody>
      </p:sp>
      <p:sp>
        <p:nvSpPr>
          <p:cNvPr id="55" name="Text 52"/>
          <p:cNvSpPr/>
          <p:nvPr/>
        </p:nvSpPr>
        <p:spPr>
          <a:xfrm>
            <a:off x="317421" y="6589652"/>
            <a:ext cx="2443060"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Date range: 02 Jul 2026 - 31 Jul 2026</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88952" cy="6858000"/>
          </a:xfrm>
          <a:prstGeom prst="rect">
            <a:avLst/>
          </a:prstGeom>
        </p:spPr>
      </p:pic>
      <p:sp>
        <p:nvSpPr>
          <p:cNvPr id="3" name="Text 0"/>
          <p:cNvSpPr/>
          <p:nvPr/>
        </p:nvSpPr>
        <p:spPr>
          <a:xfrm>
            <a:off x="342814" y="114271"/>
            <a:ext cx="1470054"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REFERENCE</a:t>
            </a:r>
            <a:endParaRPr lang="en-US" sz="1800" dirty="0"/>
          </a:p>
        </p:txBody>
      </p:sp>
      <p:sp>
        <p:nvSpPr>
          <p:cNvPr id="4" name="Text 1"/>
          <p:cNvSpPr/>
          <p:nvPr/>
        </p:nvSpPr>
        <p:spPr>
          <a:xfrm>
            <a:off x="11541811" y="139665"/>
            <a:ext cx="456639" cy="228543"/>
          </a:xfrm>
          <a:prstGeom prst="rect">
            <a:avLst/>
          </a:prstGeom>
          <a:ln/>
        </p:spPr>
        <p:txBody>
          <a:bodyPr wrap="none" lIns="0" tIns="0" rIns="0" bIns="0" rtlCol="0" anchor="t"/>
          <a:lstStyle/>
          <a:p>
            <a:pPr algn="l" indent="0" marL="0">
              <a:lnSpc>
                <a:spcPct val="100000"/>
              </a:lnSpc>
              <a:buNone/>
            </a:pPr>
            <a:r>
              <a:rPr lang="en-US" sz="1500" dirty="0">
                <a:solidFill>
                  <a:srgbClr val="A8A8B4"/>
                </a:solidFill>
                <a:latin typeface="Inter" pitchFamily="34" charset="0"/>
                <a:ea typeface="Inter" pitchFamily="34" charset="-122"/>
                <a:cs typeface="Inter" pitchFamily="34" charset="-120"/>
              </a:rPr>
              <a:t>8/8</a:t>
            </a:r>
            <a:endParaRPr lang="en-US" sz="1500" dirty="0"/>
          </a:p>
        </p:txBody>
      </p:sp>
      <p:sp>
        <p:nvSpPr>
          <p:cNvPr id="5" name="Text 2"/>
          <p:cNvSpPr/>
          <p:nvPr/>
        </p:nvSpPr>
        <p:spPr>
          <a:xfrm>
            <a:off x="374556" y="799900"/>
            <a:ext cx="3174181" cy="152362"/>
          </a:xfrm>
          <a:prstGeom prst="rect">
            <a:avLst/>
          </a:prstGeom>
          <a:ln/>
        </p:spPr>
        <p:txBody>
          <a:bodyPr wrap="none" lIns="0" tIns="0" rIns="0" bIns="0" rtlCol="0" anchor="t"/>
          <a:lstStyle/>
          <a:p>
            <a:pPr algn="l" indent="0" marL="0">
              <a:lnSpc>
                <a:spcPct val="100000"/>
              </a:lnSpc>
              <a:buNone/>
            </a:pPr>
            <a:r>
              <a:rPr lang="en-US" sz="1000" b="1" dirty="0">
                <a:solidFill>
                  <a:srgbClr val="A8A8B4"/>
                </a:solidFill>
                <a:latin typeface="Inter" pitchFamily="34" charset="0"/>
                <a:ea typeface="Inter" pitchFamily="34" charset="-122"/>
                <a:cs typeface="Inter" pitchFamily="34" charset="-120"/>
              </a:rPr>
              <a:t>Definitions and reference materials for this report</a:t>
            </a:r>
            <a:endParaRPr lang="en-US" sz="1000" dirty="0"/>
          </a:p>
        </p:txBody>
      </p:sp>
      <p:sp>
        <p:nvSpPr>
          <p:cNvPr id="6" name="Text 3"/>
          <p:cNvSpPr/>
          <p:nvPr/>
        </p:nvSpPr>
        <p:spPr>
          <a:xfrm>
            <a:off x="374556" y="1072882"/>
            <a:ext cx="5028984" cy="552312"/>
          </a:xfrm>
          <a:prstGeom prst="rect">
            <a:avLst/>
          </a:prstGeom>
          <a:ln/>
        </p:spPr>
        <p:txBody>
          <a:bodyPr wrap="none" lIns="0" tIns="0" rIns="0" bIns="0" rtlCol="0" anchor="t"/>
          <a:lstStyle/>
          <a:p>
            <a:pPr algn="l" indent="0" marL="0">
              <a:lnSpc>
                <a:spcPct val="82000"/>
              </a:lnSpc>
              <a:buNone/>
            </a:pPr>
            <a:r>
              <a:rPr lang="en-US" sz="3599" b="1" dirty="0">
                <a:solidFill>
                  <a:srgbClr val="080812"/>
                </a:solidFill>
                <a:latin typeface="Inter" pitchFamily="34" charset="0"/>
                <a:ea typeface="Inter" pitchFamily="34" charset="-122"/>
                <a:cs typeface="Inter" pitchFamily="34" charset="-120"/>
              </a:rPr>
              <a:t>Glossary &amp; Resources</a:t>
            </a:r>
            <a:endParaRPr lang="en-US" sz="3599" dirty="0"/>
          </a:p>
        </p:txBody>
      </p:sp>
      <p:sp>
        <p:nvSpPr>
          <p:cNvPr id="7" name="Text 4"/>
          <p:cNvSpPr/>
          <p:nvPr/>
        </p:nvSpPr>
        <p:spPr>
          <a:xfrm>
            <a:off x="749113" y="2609198"/>
            <a:ext cx="537420" cy="152362"/>
          </a:xfrm>
          <a:prstGeom prst="rect">
            <a:avLst/>
          </a:prstGeom>
          <a:ln/>
        </p:spPr>
        <p:txBody>
          <a:bodyPr wrap="none" lIns="0" tIns="0" rIns="0" bIns="0" rtlCol="0" anchor="t"/>
          <a:lstStyle/>
          <a:p>
            <a:pPr algn="l" indent="0" marL="0">
              <a:lnSpc>
                <a:spcPct val="100000"/>
              </a:lnSpc>
              <a:buNone/>
            </a:pPr>
            <a:r>
              <a:rPr lang="en-US" sz="1000" dirty="0">
                <a:solidFill>
                  <a:srgbClr val="FFFFFF"/>
                </a:solidFill>
                <a:latin typeface="Inter" pitchFamily="34" charset="0"/>
                <a:ea typeface="Inter" pitchFamily="34" charset="-122"/>
                <a:cs typeface="Inter" pitchFamily="34" charset="-120"/>
              </a:rPr>
              <a:t>Scope</a:t>
            </a:r>
            <a:endParaRPr lang="en-US" sz="1000" dirty="0"/>
          </a:p>
        </p:txBody>
      </p:sp>
      <p:sp>
        <p:nvSpPr>
          <p:cNvPr id="8" name="Text 5"/>
          <p:cNvSpPr/>
          <p:nvPr/>
        </p:nvSpPr>
        <p:spPr>
          <a:xfrm>
            <a:off x="596751" y="2964709"/>
            <a:ext cx="469981" cy="126968"/>
          </a:xfrm>
          <a:prstGeom prst="rect">
            <a:avLst/>
          </a:prstGeom>
          <a:ln/>
        </p:spPr>
        <p:txBody>
          <a:bodyPr wrap="none" lIns="0" tIns="0" rIns="0" bIns="0" rtlCol="0" anchor="t"/>
          <a:lstStyle/>
          <a:p>
            <a:pPr algn="l" indent="0" marL="0">
              <a:lnSpc>
                <a:spcPct val="100000"/>
              </a:lnSpc>
              <a:buNone/>
            </a:pPr>
            <a:r>
              <a:rPr lang="en-US" sz="800" b="1" dirty="0">
                <a:solidFill>
                  <a:srgbClr val="000000"/>
                </a:solidFill>
                <a:latin typeface="Inter" pitchFamily="34" charset="0"/>
                <a:ea typeface="Inter" pitchFamily="34" charset="-122"/>
                <a:cs typeface="Inter" pitchFamily="34" charset="-120"/>
              </a:rPr>
              <a:t>Period</a:t>
            </a:r>
            <a:endParaRPr lang="en-US" sz="800" dirty="0"/>
          </a:p>
        </p:txBody>
      </p:sp>
      <p:sp>
        <p:nvSpPr>
          <p:cNvPr id="9" name="Text 6"/>
          <p:cNvSpPr/>
          <p:nvPr/>
        </p:nvSpPr>
        <p:spPr>
          <a:xfrm>
            <a:off x="596751" y="3212297"/>
            <a:ext cx="1233347" cy="107923"/>
          </a:xfrm>
          <a:prstGeom prst="rect">
            <a:avLst/>
          </a:prstGeom>
          <a:ln/>
        </p:spPr>
        <p:txBody>
          <a:bodyPr wrap="none" lIns="0" tIns="0" rIns="0" bIns="0" rtlCol="0" anchor="t"/>
          <a:lstStyle/>
          <a:p>
            <a:pPr algn="l" indent="0" marL="0">
              <a:lnSpc>
                <a:spcPct val="100000"/>
              </a:lnSpc>
              <a:buNone/>
            </a:pPr>
            <a:r>
              <a:rPr lang="en-US" sz="700" dirty="0">
                <a:solidFill>
                  <a:srgbClr val="15132E"/>
                </a:solidFill>
                <a:latin typeface="Inter" pitchFamily="34" charset="0"/>
                <a:ea typeface="Inter" pitchFamily="34" charset="-122"/>
                <a:cs typeface="Inter" pitchFamily="34" charset="-120"/>
              </a:rPr>
              <a:t>02 Jul 2026 - 31 Jul 2026</a:t>
            </a:r>
            <a:endParaRPr lang="en-US" sz="700" dirty="0"/>
          </a:p>
        </p:txBody>
      </p:sp>
      <p:sp>
        <p:nvSpPr>
          <p:cNvPr id="10" name="Text 7"/>
          <p:cNvSpPr/>
          <p:nvPr/>
        </p:nvSpPr>
        <p:spPr>
          <a:xfrm>
            <a:off x="596751" y="3447188"/>
            <a:ext cx="1093762" cy="126968"/>
          </a:xfrm>
          <a:prstGeom prst="rect">
            <a:avLst/>
          </a:prstGeom>
          <a:ln/>
        </p:spPr>
        <p:txBody>
          <a:bodyPr wrap="none" lIns="0" tIns="0" rIns="0" bIns="0" rtlCol="0" anchor="t"/>
          <a:lstStyle/>
          <a:p>
            <a:pPr algn="l" indent="0" marL="0">
              <a:lnSpc>
                <a:spcPct val="100000"/>
              </a:lnSpc>
              <a:buNone/>
            </a:pPr>
            <a:r>
              <a:rPr lang="en-US" sz="800" b="1" dirty="0">
                <a:solidFill>
                  <a:srgbClr val="000000"/>
                </a:solidFill>
                <a:latin typeface="Inter" pitchFamily="34" charset="0"/>
                <a:ea typeface="Inter" pitchFamily="34" charset="-122"/>
                <a:cs typeface="Inter" pitchFamily="34" charset="-120"/>
              </a:rPr>
              <a:t>Comparison Period</a:t>
            </a:r>
            <a:endParaRPr lang="en-US" sz="800" dirty="0"/>
          </a:p>
        </p:txBody>
      </p:sp>
      <p:sp>
        <p:nvSpPr>
          <p:cNvPr id="11" name="Text 8"/>
          <p:cNvSpPr/>
          <p:nvPr/>
        </p:nvSpPr>
        <p:spPr>
          <a:xfrm>
            <a:off x="596751" y="3694776"/>
            <a:ext cx="1153365" cy="107923"/>
          </a:xfrm>
          <a:prstGeom prst="rect">
            <a:avLst/>
          </a:prstGeom>
          <a:ln/>
        </p:spPr>
        <p:txBody>
          <a:bodyPr wrap="none" lIns="0" tIns="0" rIns="0" bIns="0" rtlCol="0" anchor="t"/>
          <a:lstStyle/>
          <a:p>
            <a:pPr algn="l" indent="0" marL="0">
              <a:lnSpc>
                <a:spcPct val="100000"/>
              </a:lnSpc>
              <a:buNone/>
            </a:pPr>
            <a:r>
              <a:rPr lang="en-US" sz="700" dirty="0">
                <a:solidFill>
                  <a:srgbClr val="15132E"/>
                </a:solidFill>
                <a:latin typeface="Inter" pitchFamily="34" charset="0"/>
                <a:ea typeface="Inter" pitchFamily="34" charset="-122"/>
                <a:cs typeface="Inter" pitchFamily="34" charset="-120"/>
              </a:rPr>
              <a:t>2 Jun 2026 - 1 Jul 2026</a:t>
            </a:r>
            <a:endParaRPr lang="en-US" sz="700" dirty="0"/>
          </a:p>
        </p:txBody>
      </p:sp>
      <p:sp>
        <p:nvSpPr>
          <p:cNvPr id="12" name="Text 9"/>
          <p:cNvSpPr/>
          <p:nvPr/>
        </p:nvSpPr>
        <p:spPr>
          <a:xfrm>
            <a:off x="596751" y="3929667"/>
            <a:ext cx="882826" cy="126968"/>
          </a:xfrm>
          <a:prstGeom prst="rect">
            <a:avLst/>
          </a:prstGeom>
          <a:ln/>
        </p:spPr>
        <p:txBody>
          <a:bodyPr wrap="none" lIns="0" tIns="0" rIns="0" bIns="0" rtlCol="0" anchor="t"/>
          <a:lstStyle/>
          <a:p>
            <a:pPr algn="l" indent="0" marL="0">
              <a:lnSpc>
                <a:spcPct val="100000"/>
              </a:lnSpc>
              <a:buNone/>
            </a:pPr>
            <a:r>
              <a:rPr lang="en-US" sz="800" b="1" dirty="0">
                <a:solidFill>
                  <a:srgbClr val="000000"/>
                </a:solidFill>
                <a:latin typeface="Inter" pitchFamily="34" charset="0"/>
                <a:ea typeface="Inter" pitchFamily="34" charset="-122"/>
                <a:cs typeface="Inter" pitchFamily="34" charset="-120"/>
              </a:rPr>
              <a:t>Social Channel</a:t>
            </a:r>
            <a:endParaRPr lang="en-US" sz="800" dirty="0"/>
          </a:p>
        </p:txBody>
      </p:sp>
      <p:sp>
        <p:nvSpPr>
          <p:cNvPr id="13" name="Text 10"/>
          <p:cNvSpPr/>
          <p:nvPr/>
        </p:nvSpPr>
        <p:spPr>
          <a:xfrm>
            <a:off x="596751" y="4177255"/>
            <a:ext cx="570799" cy="107923"/>
          </a:xfrm>
          <a:prstGeom prst="rect">
            <a:avLst/>
          </a:prstGeom>
          <a:ln/>
        </p:spPr>
        <p:txBody>
          <a:bodyPr wrap="none" lIns="0" tIns="0" rIns="0" bIns="0" rtlCol="0" anchor="t"/>
          <a:lstStyle/>
          <a:p>
            <a:pPr algn="l" indent="0" marL="0">
              <a:lnSpc>
                <a:spcPct val="100000"/>
              </a:lnSpc>
              <a:buNone/>
            </a:pPr>
            <a:r>
              <a:rPr lang="en-US" sz="700" dirty="0">
                <a:solidFill>
                  <a:srgbClr val="15132E"/>
                </a:solidFill>
                <a:latin typeface="Inter" pitchFamily="34" charset="0"/>
                <a:ea typeface="Inter" pitchFamily="34" charset="-122"/>
                <a:cs typeface="Inter" pitchFamily="34" charset="-120"/>
              </a:rPr>
              <a:t>Instagram</a:t>
            </a:r>
            <a:endParaRPr lang="en-US" sz="700" dirty="0"/>
          </a:p>
        </p:txBody>
      </p:sp>
      <p:sp>
        <p:nvSpPr>
          <p:cNvPr id="14" name="Text 11"/>
          <p:cNvSpPr/>
          <p:nvPr/>
        </p:nvSpPr>
        <p:spPr>
          <a:xfrm>
            <a:off x="596751" y="4412147"/>
            <a:ext cx="1064897" cy="126968"/>
          </a:xfrm>
          <a:prstGeom prst="rect">
            <a:avLst/>
          </a:prstGeom>
          <a:ln/>
        </p:spPr>
        <p:txBody>
          <a:bodyPr wrap="none" lIns="0" tIns="0" rIns="0" bIns="0" rtlCol="0" anchor="t"/>
          <a:lstStyle/>
          <a:p>
            <a:pPr algn="l" indent="0" marL="0">
              <a:lnSpc>
                <a:spcPct val="100000"/>
              </a:lnSpc>
              <a:buNone/>
            </a:pPr>
            <a:r>
              <a:rPr lang="en-US" sz="800" b="1" dirty="0">
                <a:solidFill>
                  <a:srgbClr val="000000"/>
                </a:solidFill>
                <a:latin typeface="Inter" pitchFamily="34" charset="0"/>
                <a:ea typeface="Inter" pitchFamily="34" charset="-122"/>
                <a:cs typeface="Inter" pitchFamily="34" charset="-120"/>
              </a:rPr>
              <a:t>Profiles Compared</a:t>
            </a:r>
            <a:endParaRPr lang="en-US" sz="800" dirty="0"/>
          </a:p>
        </p:txBody>
      </p:sp>
      <p:sp>
        <p:nvSpPr>
          <p:cNvPr id="15" name="Text 12"/>
          <p:cNvSpPr/>
          <p:nvPr/>
        </p:nvSpPr>
        <p:spPr>
          <a:xfrm>
            <a:off x="4418495" y="2609198"/>
            <a:ext cx="804128" cy="152362"/>
          </a:xfrm>
          <a:prstGeom prst="rect">
            <a:avLst/>
          </a:prstGeom>
          <a:ln/>
        </p:spPr>
        <p:txBody>
          <a:bodyPr wrap="none" lIns="0" tIns="0" rIns="0" bIns="0" rtlCol="0" anchor="t"/>
          <a:lstStyle/>
          <a:p>
            <a:pPr algn="l" indent="0" marL="0">
              <a:lnSpc>
                <a:spcPct val="100000"/>
              </a:lnSpc>
              <a:buNone/>
            </a:pPr>
            <a:r>
              <a:rPr lang="en-US" sz="1000" dirty="0">
                <a:solidFill>
                  <a:srgbClr val="FFFFFF"/>
                </a:solidFill>
                <a:latin typeface="Inter" pitchFamily="34" charset="0"/>
                <a:ea typeface="Inter" pitchFamily="34" charset="-122"/>
                <a:cs typeface="Inter" pitchFamily="34" charset="-120"/>
              </a:rPr>
              <a:t>Definitions</a:t>
            </a:r>
            <a:endParaRPr lang="en-US" sz="1000" dirty="0"/>
          </a:p>
        </p:txBody>
      </p:sp>
      <p:sp>
        <p:nvSpPr>
          <p:cNvPr id="16" name="Text 13"/>
          <p:cNvSpPr/>
          <p:nvPr/>
        </p:nvSpPr>
        <p:spPr>
          <a:xfrm>
            <a:off x="4266133" y="2964709"/>
            <a:ext cx="770985" cy="126968"/>
          </a:xfrm>
          <a:prstGeom prst="rect">
            <a:avLst/>
          </a:prstGeom>
          <a:ln/>
        </p:spPr>
        <p:txBody>
          <a:bodyPr wrap="none" lIns="0" tIns="0" rIns="0" bIns="0" rtlCol="0" anchor="t"/>
          <a:lstStyle/>
          <a:p>
            <a:pPr algn="l" indent="0" marL="0">
              <a:lnSpc>
                <a:spcPct val="100000"/>
              </a:lnSpc>
              <a:buNone/>
            </a:pPr>
            <a:r>
              <a:rPr lang="en-US" sz="800" b="1" dirty="0">
                <a:solidFill>
                  <a:srgbClr val="000000"/>
                </a:solidFill>
                <a:latin typeface="Inter" pitchFamily="34" charset="0"/>
                <a:ea typeface="Inter" pitchFamily="34" charset="-122"/>
                <a:cs typeface="Inter" pitchFamily="34" charset="-120"/>
              </a:rPr>
              <a:t>Engagement</a:t>
            </a:r>
            <a:endParaRPr lang="en-US" sz="800" dirty="0"/>
          </a:p>
        </p:txBody>
      </p:sp>
      <p:sp>
        <p:nvSpPr>
          <p:cNvPr id="17" name="Text 14"/>
          <p:cNvSpPr/>
          <p:nvPr/>
        </p:nvSpPr>
        <p:spPr>
          <a:xfrm>
            <a:off x="4266133" y="3212297"/>
            <a:ext cx="2027605" cy="107923"/>
          </a:xfrm>
          <a:prstGeom prst="rect">
            <a:avLst/>
          </a:prstGeom>
          <a:ln/>
        </p:spPr>
        <p:txBody>
          <a:bodyPr wrap="none" lIns="0" tIns="0" rIns="0" bIns="0" rtlCol="0" anchor="t"/>
          <a:lstStyle/>
          <a:p>
            <a:pPr algn="l" indent="0" marL="0">
              <a:lnSpc>
                <a:spcPct val="100000"/>
              </a:lnSpc>
              <a:buNone/>
            </a:pPr>
            <a:r>
              <a:rPr lang="en-US" sz="700" dirty="0">
                <a:solidFill>
                  <a:srgbClr val="15132E"/>
                </a:solidFill>
                <a:latin typeface="Inter" pitchFamily="34" charset="0"/>
                <a:ea typeface="Inter" pitchFamily="34" charset="-122"/>
                <a:cs typeface="Inter" pitchFamily="34" charset="-120"/>
              </a:rPr>
              <a:t>The sum of interactions on the organic posts</a:t>
            </a:r>
            <a:endParaRPr lang="en-US" sz="700" dirty="0"/>
          </a:p>
        </p:txBody>
      </p:sp>
      <p:sp>
        <p:nvSpPr>
          <p:cNvPr id="18" name="Text 15"/>
          <p:cNvSpPr/>
          <p:nvPr/>
        </p:nvSpPr>
        <p:spPr>
          <a:xfrm>
            <a:off x="4266133" y="3447188"/>
            <a:ext cx="1015597" cy="126968"/>
          </a:xfrm>
          <a:prstGeom prst="rect">
            <a:avLst/>
          </a:prstGeom>
          <a:ln/>
        </p:spPr>
        <p:txBody>
          <a:bodyPr wrap="none" lIns="0" tIns="0" rIns="0" bIns="0" rtlCol="0" anchor="t"/>
          <a:lstStyle/>
          <a:p>
            <a:pPr algn="l" indent="0" marL="0">
              <a:lnSpc>
                <a:spcPct val="100000"/>
              </a:lnSpc>
              <a:buNone/>
            </a:pPr>
            <a:r>
              <a:rPr lang="en-US" sz="800" b="1" dirty="0">
                <a:solidFill>
                  <a:srgbClr val="000000"/>
                </a:solidFill>
                <a:latin typeface="Inter" pitchFamily="34" charset="0"/>
                <a:ea typeface="Inter" pitchFamily="34" charset="-122"/>
                <a:cs typeface="Inter" pitchFamily="34" charset="-120"/>
              </a:rPr>
              <a:t>Engagement Rate</a:t>
            </a:r>
            <a:endParaRPr lang="en-US" sz="800" dirty="0"/>
          </a:p>
        </p:txBody>
      </p:sp>
      <p:sp>
        <p:nvSpPr>
          <p:cNvPr id="19" name="Text 16"/>
          <p:cNvSpPr/>
          <p:nvPr/>
        </p:nvSpPr>
        <p:spPr>
          <a:xfrm>
            <a:off x="4266133" y="3694776"/>
            <a:ext cx="3090797" cy="107923"/>
          </a:xfrm>
          <a:prstGeom prst="rect">
            <a:avLst/>
          </a:prstGeom>
          <a:ln/>
        </p:spPr>
        <p:txBody>
          <a:bodyPr wrap="none" lIns="0" tIns="0" rIns="0" bIns="0" rtlCol="0" anchor="t"/>
          <a:lstStyle/>
          <a:p>
            <a:pPr algn="l" indent="0" marL="0">
              <a:lnSpc>
                <a:spcPct val="100000"/>
              </a:lnSpc>
              <a:buNone/>
            </a:pPr>
            <a:r>
              <a:rPr lang="en-US" sz="700" dirty="0">
                <a:solidFill>
                  <a:srgbClr val="15132E"/>
                </a:solidFill>
                <a:latin typeface="Inter" pitchFamily="34" charset="0"/>
                <a:ea typeface="Inter" pitchFamily="34" charset="-122"/>
                <a:cs typeface="Inter" pitchFamily="34" charset="-120"/>
              </a:rPr>
              <a:t>Engagement divided by the audience size, expressed as a percentage</a:t>
            </a:r>
            <a:endParaRPr lang="en-US" sz="700" dirty="0"/>
          </a:p>
        </p:txBody>
      </p:sp>
      <p:sp>
        <p:nvSpPr>
          <p:cNvPr id="20" name="Text 17"/>
          <p:cNvSpPr/>
          <p:nvPr/>
        </p:nvSpPr>
        <p:spPr>
          <a:xfrm>
            <a:off x="4266133" y="3929667"/>
            <a:ext cx="458078" cy="126968"/>
          </a:xfrm>
          <a:prstGeom prst="rect">
            <a:avLst/>
          </a:prstGeom>
          <a:ln/>
        </p:spPr>
        <p:txBody>
          <a:bodyPr wrap="none" lIns="0" tIns="0" rIns="0" bIns="0" rtlCol="0" anchor="t"/>
          <a:lstStyle/>
          <a:p>
            <a:pPr algn="l" indent="0" marL="0">
              <a:lnSpc>
                <a:spcPct val="100000"/>
              </a:lnSpc>
              <a:buNone/>
            </a:pPr>
            <a:r>
              <a:rPr lang="en-US" sz="800" b="1" dirty="0">
                <a:solidFill>
                  <a:srgbClr val="000000"/>
                </a:solidFill>
                <a:latin typeface="Inter" pitchFamily="34" charset="0"/>
                <a:ea typeface="Inter" pitchFamily="34" charset="-122"/>
                <a:cs typeface="Inter" pitchFamily="34" charset="-120"/>
              </a:rPr>
              <a:t>Reach</a:t>
            </a:r>
            <a:endParaRPr lang="en-US" sz="800" dirty="0"/>
          </a:p>
        </p:txBody>
      </p:sp>
      <p:sp>
        <p:nvSpPr>
          <p:cNvPr id="21" name="Text 18"/>
          <p:cNvSpPr/>
          <p:nvPr/>
        </p:nvSpPr>
        <p:spPr>
          <a:xfrm>
            <a:off x="4266133" y="4177255"/>
            <a:ext cx="2202713" cy="107923"/>
          </a:xfrm>
          <a:prstGeom prst="rect">
            <a:avLst/>
          </a:prstGeom>
          <a:ln/>
        </p:spPr>
        <p:txBody>
          <a:bodyPr wrap="none" lIns="0" tIns="0" rIns="0" bIns="0" rtlCol="0" anchor="t"/>
          <a:lstStyle/>
          <a:p>
            <a:pPr algn="l" indent="0" marL="0">
              <a:lnSpc>
                <a:spcPct val="100000"/>
              </a:lnSpc>
              <a:buNone/>
            </a:pPr>
            <a:r>
              <a:rPr lang="en-US" sz="700" dirty="0">
                <a:solidFill>
                  <a:srgbClr val="15132E"/>
                </a:solidFill>
                <a:latin typeface="Inter" pitchFamily="34" charset="0"/>
                <a:ea typeface="Inter" pitchFamily="34" charset="-122"/>
                <a:cs typeface="Inter" pitchFamily="34" charset="-120"/>
              </a:rPr>
              <a:t>Number of unique accounts that saw the content</a:t>
            </a:r>
            <a:endParaRPr lang="en-US" sz="700" dirty="0"/>
          </a:p>
        </p:txBody>
      </p:sp>
      <p:sp>
        <p:nvSpPr>
          <p:cNvPr id="22" name="Text 19"/>
          <p:cNvSpPr/>
          <p:nvPr/>
        </p:nvSpPr>
        <p:spPr>
          <a:xfrm>
            <a:off x="4266133" y="4412147"/>
            <a:ext cx="452424" cy="126968"/>
          </a:xfrm>
          <a:prstGeom prst="rect">
            <a:avLst/>
          </a:prstGeom>
          <a:ln/>
        </p:spPr>
        <p:txBody>
          <a:bodyPr wrap="none" lIns="0" tIns="0" rIns="0" bIns="0" rtlCol="0" anchor="t"/>
          <a:lstStyle/>
          <a:p>
            <a:pPr algn="l" indent="0" marL="0">
              <a:lnSpc>
                <a:spcPct val="100000"/>
              </a:lnSpc>
              <a:buNone/>
            </a:pPr>
            <a:r>
              <a:rPr lang="en-US" sz="800" b="1" dirty="0">
                <a:solidFill>
                  <a:srgbClr val="000000"/>
                </a:solidFill>
                <a:latin typeface="Inter" pitchFamily="34" charset="0"/>
                <a:ea typeface="Inter" pitchFamily="34" charset="-122"/>
                <a:cs typeface="Inter" pitchFamily="34" charset="-120"/>
              </a:rPr>
              <a:t>Views</a:t>
            </a:r>
            <a:endParaRPr lang="en-US" sz="800" dirty="0"/>
          </a:p>
        </p:txBody>
      </p:sp>
      <p:sp>
        <p:nvSpPr>
          <p:cNvPr id="23" name="Text 20"/>
          <p:cNvSpPr/>
          <p:nvPr/>
        </p:nvSpPr>
        <p:spPr>
          <a:xfrm>
            <a:off x="4266133" y="4659735"/>
            <a:ext cx="2191039" cy="107923"/>
          </a:xfrm>
          <a:prstGeom prst="rect">
            <a:avLst/>
          </a:prstGeom>
          <a:ln/>
        </p:spPr>
        <p:txBody>
          <a:bodyPr wrap="none" lIns="0" tIns="0" rIns="0" bIns="0" rtlCol="0" anchor="t"/>
          <a:lstStyle/>
          <a:p>
            <a:pPr algn="l" indent="0" marL="0">
              <a:lnSpc>
                <a:spcPct val="100000"/>
              </a:lnSpc>
              <a:buNone/>
            </a:pPr>
            <a:r>
              <a:rPr lang="en-US" sz="700" dirty="0">
                <a:solidFill>
                  <a:srgbClr val="15132E"/>
                </a:solidFill>
                <a:latin typeface="Inter" pitchFamily="34" charset="0"/>
                <a:ea typeface="Inter" pitchFamily="34" charset="-122"/>
                <a:cs typeface="Inter" pitchFamily="34" charset="-120"/>
              </a:rPr>
              <a:t>Total number of times the content was displayed</a:t>
            </a:r>
            <a:endParaRPr lang="en-US" sz="700" dirty="0"/>
          </a:p>
        </p:txBody>
      </p:sp>
      <p:sp>
        <p:nvSpPr>
          <p:cNvPr id="24" name="Text 21"/>
          <p:cNvSpPr/>
          <p:nvPr/>
        </p:nvSpPr>
        <p:spPr>
          <a:xfrm>
            <a:off x="8259285" y="2571107"/>
            <a:ext cx="791853" cy="152362"/>
          </a:xfrm>
          <a:prstGeom prst="rect">
            <a:avLst/>
          </a:prstGeom>
          <a:ln/>
        </p:spPr>
        <p:txBody>
          <a:bodyPr wrap="none" lIns="0" tIns="0" rIns="0" bIns="0" rtlCol="0" anchor="t"/>
          <a:lstStyle/>
          <a:p>
            <a:pPr algn="l" indent="0" marL="0">
              <a:lnSpc>
                <a:spcPct val="100000"/>
              </a:lnSpc>
              <a:buNone/>
            </a:pPr>
            <a:r>
              <a:rPr lang="en-US" sz="1000" dirty="0">
                <a:solidFill>
                  <a:srgbClr val="FFFFFF"/>
                </a:solidFill>
                <a:latin typeface="Inter" pitchFamily="34" charset="0"/>
                <a:ea typeface="Inter" pitchFamily="34" charset="-122"/>
                <a:cs typeface="Inter" pitchFamily="34" charset="-120"/>
              </a:rPr>
              <a:t>Resources</a:t>
            </a:r>
            <a:endParaRPr lang="en-US" sz="1000" dirty="0"/>
          </a:p>
        </p:txBody>
      </p:sp>
      <p:sp>
        <p:nvSpPr>
          <p:cNvPr id="25" name="Text 22"/>
          <p:cNvSpPr/>
          <p:nvPr/>
        </p:nvSpPr>
        <p:spPr>
          <a:xfrm>
            <a:off x="8106923" y="2926618"/>
            <a:ext cx="1030328" cy="126968"/>
          </a:xfrm>
          <a:prstGeom prst="rect">
            <a:avLst/>
          </a:prstGeom>
          <a:ln/>
        </p:spPr>
        <p:txBody>
          <a:bodyPr wrap="none" lIns="0" tIns="0" rIns="0" bIns="0" rtlCol="0" anchor="t"/>
          <a:lstStyle/>
          <a:p>
            <a:pPr algn="l" indent="0" marL="0">
              <a:lnSpc>
                <a:spcPct val="100000"/>
              </a:lnSpc>
              <a:buNone/>
            </a:pPr>
            <a:r>
              <a:rPr lang="en-US" sz="800" b="1" dirty="0">
                <a:solidFill>
                  <a:srgbClr val="000000"/>
                </a:solidFill>
                <a:latin typeface="Inter" pitchFamily="34" charset="0"/>
                <a:ea typeface="Inter" pitchFamily="34" charset="-122"/>
                <a:cs typeface="Inter" pitchFamily="34" charset="-120"/>
              </a:rPr>
              <a:t>Socialinsider Blog</a:t>
            </a:r>
            <a:endParaRPr lang="en-US" sz="800" dirty="0"/>
          </a:p>
        </p:txBody>
      </p:sp>
      <p:sp>
        <p:nvSpPr>
          <p:cNvPr id="26" name="Text 23"/>
          <p:cNvSpPr/>
          <p:nvPr/>
        </p:nvSpPr>
        <p:spPr>
          <a:xfrm>
            <a:off x="8106923" y="3174206"/>
            <a:ext cx="989106" cy="107923"/>
          </a:xfrm>
          <a:prstGeom prst="rect">
            <a:avLst/>
          </a:prstGeom>
          <a:ln/>
        </p:spPr>
        <p:txBody>
          <a:bodyPr wrap="none" lIns="0" tIns="0" rIns="0" bIns="0" rtlCol="0" anchor="t"/>
          <a:lstStyle/>
          <a:p>
            <a:pPr algn="l" indent="0" marL="0">
              <a:lnSpc>
                <a:spcPct val="100000"/>
              </a:lnSpc>
              <a:buNone/>
            </a:pPr>
            <a:r>
              <a:rPr lang="en-US" sz="700" dirty="0">
                <a:solidFill>
                  <a:srgbClr val="15132E"/>
                </a:solidFill>
                <a:latin typeface="Inter" pitchFamily="34" charset="0"/>
                <a:ea typeface="Inter" pitchFamily="34" charset="-122"/>
                <a:cs typeface="Inter" pitchFamily="34" charset="-120"/>
              </a:rPr>
              <a:t>socialinsider.io/blog</a:t>
            </a:r>
            <a:endParaRPr lang="en-US" sz="700" dirty="0"/>
          </a:p>
        </p:txBody>
      </p:sp>
      <p:sp>
        <p:nvSpPr>
          <p:cNvPr id="27" name="Text 24"/>
          <p:cNvSpPr/>
          <p:nvPr/>
        </p:nvSpPr>
        <p:spPr>
          <a:xfrm>
            <a:off x="8106923" y="3409098"/>
            <a:ext cx="1395064" cy="126968"/>
          </a:xfrm>
          <a:prstGeom prst="rect">
            <a:avLst/>
          </a:prstGeom>
          <a:ln/>
        </p:spPr>
        <p:txBody>
          <a:bodyPr wrap="none" lIns="0" tIns="0" rIns="0" bIns="0" rtlCol="0" anchor="t"/>
          <a:lstStyle/>
          <a:p>
            <a:pPr algn="l" indent="0" marL="0">
              <a:lnSpc>
                <a:spcPct val="100000"/>
              </a:lnSpc>
              <a:buNone/>
            </a:pPr>
            <a:r>
              <a:rPr lang="en-US" sz="800" b="1" dirty="0">
                <a:solidFill>
                  <a:srgbClr val="000000"/>
                </a:solidFill>
                <a:latin typeface="Inter" pitchFamily="34" charset="0"/>
                <a:ea typeface="Inter" pitchFamily="34" charset="-122"/>
                <a:cs typeface="Inter" pitchFamily="34" charset="-120"/>
              </a:rPr>
              <a:t>Socialinsider Help Center</a:t>
            </a:r>
            <a:endParaRPr lang="en-US" sz="800" dirty="0"/>
          </a:p>
        </p:txBody>
      </p:sp>
      <p:sp>
        <p:nvSpPr>
          <p:cNvPr id="28" name="Text 25"/>
          <p:cNvSpPr/>
          <p:nvPr/>
        </p:nvSpPr>
        <p:spPr>
          <a:xfrm>
            <a:off x="8106923" y="3656686"/>
            <a:ext cx="1527494" cy="107923"/>
          </a:xfrm>
          <a:prstGeom prst="rect">
            <a:avLst/>
          </a:prstGeom>
          <a:ln/>
        </p:spPr>
        <p:txBody>
          <a:bodyPr wrap="none" lIns="0" tIns="0" rIns="0" bIns="0" rtlCol="0" anchor="t"/>
          <a:lstStyle/>
          <a:p>
            <a:pPr algn="l" indent="0" marL="0">
              <a:lnSpc>
                <a:spcPct val="100000"/>
              </a:lnSpc>
              <a:buNone/>
            </a:pPr>
            <a:r>
              <a:rPr lang="en-US" sz="700" dirty="0">
                <a:solidFill>
                  <a:srgbClr val="15132E"/>
                </a:solidFill>
                <a:latin typeface="Inter" pitchFamily="34" charset="0"/>
                <a:ea typeface="Inter" pitchFamily="34" charset="-122"/>
                <a:cs typeface="Inter" pitchFamily="34" charset="-120"/>
              </a:rPr>
              <a:t>https://howto.socialinsider.io/en/</a:t>
            </a:r>
            <a:endParaRPr lang="en-US" sz="700" dirty="0"/>
          </a:p>
        </p:txBody>
      </p:sp>
      <p:sp>
        <p:nvSpPr>
          <p:cNvPr id="29" name="Text 26"/>
          <p:cNvSpPr/>
          <p:nvPr/>
        </p:nvSpPr>
        <p:spPr>
          <a:xfrm>
            <a:off x="8106923" y="3891577"/>
            <a:ext cx="1181350" cy="126968"/>
          </a:xfrm>
          <a:prstGeom prst="rect">
            <a:avLst/>
          </a:prstGeom>
          <a:ln/>
        </p:spPr>
        <p:txBody>
          <a:bodyPr wrap="none" lIns="0" tIns="0" rIns="0" bIns="0" rtlCol="0" anchor="t"/>
          <a:lstStyle/>
          <a:p>
            <a:pPr algn="l" indent="0" marL="0">
              <a:lnSpc>
                <a:spcPct val="100000"/>
              </a:lnSpc>
              <a:buNone/>
            </a:pPr>
            <a:r>
              <a:rPr lang="en-US" sz="800" b="1" dirty="0">
                <a:solidFill>
                  <a:srgbClr val="000000"/>
                </a:solidFill>
                <a:latin typeface="Inter" pitchFamily="34" charset="0"/>
                <a:ea typeface="Inter" pitchFamily="34" charset="-122"/>
                <a:cs typeface="Inter" pitchFamily="34" charset="-120"/>
              </a:rPr>
              <a:t>Socialinsider Studies</a:t>
            </a:r>
            <a:endParaRPr lang="en-US" sz="800" dirty="0"/>
          </a:p>
        </p:txBody>
      </p:sp>
      <p:sp>
        <p:nvSpPr>
          <p:cNvPr id="30" name="Text 27"/>
          <p:cNvSpPr/>
          <p:nvPr/>
        </p:nvSpPr>
        <p:spPr>
          <a:xfrm>
            <a:off x="8106923" y="4139165"/>
            <a:ext cx="1645795" cy="107923"/>
          </a:xfrm>
          <a:prstGeom prst="rect">
            <a:avLst/>
          </a:prstGeom>
          <a:ln/>
        </p:spPr>
        <p:txBody>
          <a:bodyPr wrap="none" lIns="0" tIns="0" rIns="0" bIns="0" rtlCol="0" anchor="t"/>
          <a:lstStyle/>
          <a:p>
            <a:pPr algn="l" indent="0" marL="0">
              <a:lnSpc>
                <a:spcPct val="100000"/>
              </a:lnSpc>
              <a:buNone/>
            </a:pPr>
            <a:r>
              <a:rPr lang="en-US" sz="700" dirty="0">
                <a:solidFill>
                  <a:srgbClr val="15132E"/>
                </a:solidFill>
                <a:latin typeface="Inter" pitchFamily="34" charset="0"/>
                <a:ea typeface="Inter" pitchFamily="34" charset="-122"/>
                <a:cs typeface="Inter" pitchFamily="34" charset="-120"/>
              </a:rPr>
              <a:t>https://www.socialinsider.io/reports</a:t>
            </a:r>
            <a:endParaRPr lang="en-US" sz="700" dirty="0"/>
          </a:p>
        </p:txBody>
      </p:sp>
      <p:sp>
        <p:nvSpPr>
          <p:cNvPr id="31" name="Text 28"/>
          <p:cNvSpPr/>
          <p:nvPr/>
        </p:nvSpPr>
        <p:spPr>
          <a:xfrm>
            <a:off x="317421" y="6335716"/>
            <a:ext cx="1433328"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Source: Socialinsider</a:t>
            </a:r>
            <a:endParaRPr lang="en-US" sz="1000" dirty="0"/>
          </a:p>
        </p:txBody>
      </p:sp>
      <p:sp>
        <p:nvSpPr>
          <p:cNvPr id="32" name="Text 29"/>
          <p:cNvSpPr/>
          <p:nvPr/>
        </p:nvSpPr>
        <p:spPr>
          <a:xfrm>
            <a:off x="317421" y="6589652"/>
            <a:ext cx="2443060"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Date range: 02 Jul 2026 - 31 Jul 2026</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2026-08-01T04:15:42Z</dcterms:created>
  <dcterms:modified xsi:type="dcterms:W3CDTF">2026-08-01T04:15:42Z</dcterms:modified>
</cp:coreProperties>
</file>