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2051728"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PADMAVATHI_JEWELLERY_MART</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93450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a:t>
            </a:r>
            <a:endParaRPr lang="en-US" sz="1000" dirty="0"/>
          </a:p>
        </p:txBody>
      </p:sp>
      <p:sp>
        <p:nvSpPr>
          <p:cNvPr id="7" name="Text 4"/>
          <p:cNvSpPr/>
          <p:nvPr/>
        </p:nvSpPr>
        <p:spPr>
          <a:xfrm>
            <a:off x="234087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340878"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419957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199574"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607820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7820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During the month of July 2026, Padmavathi Jewellerymart's Instagram activity showed a period of reduced engagement and follower growth compared to previous trends. The profile posted 16 times, slightly fewer than before, with an average of about half a post per day.Although the number of followers remained nearly stable at 563, there was a slight loss of 5 followers this month. Engagement per post fell significantly to 0.62%, indicating reduced interaction from the audience.Total interactions dropped to 56 likes and no comments this period, while video views marked a steep decline to 473. The reach and impressions also saw a substantial decrease, with average post reach falling to approximately 248 and total impressions around 4,505, much lower than past performance.Despite maintaining a high average of hashtags per post, the earned media value, both engagement and overall awareness, diminished sharply in alignment with other metrics. This suggests that the content did not resonate as strongly with the audience this month, affecting overall profile performance.</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33741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0.62 %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7017"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70.51%</a:t>
            </a:r>
            <a:endParaRPr lang="en-US" sz="1800" dirty="0"/>
          </a:p>
        </p:txBody>
      </p:sp>
      <p:sp>
        <p:nvSpPr>
          <p:cNvPr id="10" name="Text 7"/>
          <p:cNvSpPr/>
          <p:nvPr/>
        </p:nvSpPr>
        <p:spPr>
          <a:xfrm>
            <a:off x="4547546" y="3916971"/>
            <a:ext cx="194653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4,505</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7759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97.34%</a:t>
            </a:r>
            <a:endParaRPr lang="en-US" sz="1800" dirty="0"/>
          </a:p>
        </p:txBody>
      </p:sp>
      <p:sp>
        <p:nvSpPr>
          <p:cNvPr id="13" name="Text 10"/>
          <p:cNvSpPr/>
          <p:nvPr/>
        </p:nvSpPr>
        <p:spPr>
          <a:xfrm>
            <a:off x="8752378" y="3916971"/>
            <a:ext cx="181882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3,961</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009956"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96.33%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a:t>
            </a:r>
            <a:endParaRPr lang="en-US" sz="3599" dirty="0"/>
          </a:p>
        </p:txBody>
      </p:sp>
      <p:sp>
        <p:nvSpPr>
          <p:cNvPr id="7" name="Text 4"/>
          <p:cNvSpPr/>
          <p:nvPr/>
        </p:nvSpPr>
        <p:spPr>
          <a:xfrm>
            <a:off x="374556" y="3497975"/>
            <a:ext cx="345245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88% of posts and 70%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51433" y="3021844"/>
            <a:ext cx="26296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14</a:t>
            </a:r>
            <a:endParaRPr lang="en-US" sz="800" dirty="0"/>
          </a:p>
        </p:txBody>
      </p:sp>
      <p:sp>
        <p:nvSpPr>
          <p:cNvPr id="11" name="Text 8"/>
          <p:cNvSpPr/>
          <p:nvPr/>
        </p:nvSpPr>
        <p:spPr>
          <a:xfrm>
            <a:off x="6449987"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8748" y="3453536"/>
            <a:ext cx="21564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a:t>
            </a:r>
            <a:endParaRPr lang="en-US" sz="8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6" name="Text 3"/>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7" name="Text 4"/>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3" name="Text 10"/>
          <p:cNvSpPr/>
          <p:nvPr/>
        </p:nvSpPr>
        <p:spPr>
          <a:xfrm>
            <a:off x="1091927" y="4862884"/>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2" name="Text 19"/>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3" name="Text 20"/>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29" name="Text 26"/>
          <p:cNvSpPr/>
          <p:nvPr/>
        </p:nvSpPr>
        <p:spPr>
          <a:xfrm>
            <a:off x="4803566" y="4862884"/>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8" name="Text 35"/>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39" name="Text 36"/>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5" name="Text 42"/>
          <p:cNvSpPr/>
          <p:nvPr/>
        </p:nvSpPr>
        <p:spPr>
          <a:xfrm>
            <a:off x="8515304" y="4862884"/>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56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52805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56</a:t>
            </a:r>
            <a:endParaRPr lang="en-US" sz="2399" dirty="0"/>
          </a:p>
        </p:txBody>
      </p:sp>
      <p:sp>
        <p:nvSpPr>
          <p:cNvPr id="11" name="Text 8"/>
          <p:cNvSpPr/>
          <p:nvPr/>
        </p:nvSpPr>
        <p:spPr>
          <a:xfrm>
            <a:off x="526918" y="4754961"/>
            <a:ext cx="67409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73.71%</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336091" y="4399450"/>
            <a:ext cx="56362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100%</a:t>
            </a:r>
            <a:endParaRPr lang="en-US" sz="1200" dirty="0"/>
          </a:p>
        </p:txBody>
      </p:sp>
      <p:sp>
        <p:nvSpPr>
          <p:cNvPr id="14" name="Text 1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5" name="Text 1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A slower period for reels overall, with one metric bucking the trend.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72799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3.6</a:t>
            </a:r>
            <a:endParaRPr lang="en-US" sz="2999" dirty="0"/>
          </a:p>
        </p:txBody>
      </p:sp>
      <p:sp>
        <p:nvSpPr>
          <p:cNvPr id="10" name="Text 7"/>
          <p:cNvSpPr/>
          <p:nvPr/>
        </p:nvSpPr>
        <p:spPr>
          <a:xfrm>
            <a:off x="691977" y="4088378"/>
            <a:ext cx="106500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4359.51%</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72446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8.5</a:t>
            </a:r>
            <a:endParaRPr lang="en-US" sz="2999" dirty="0"/>
          </a:p>
        </p:txBody>
      </p:sp>
      <p:sp>
        <p:nvSpPr>
          <p:cNvPr id="13" name="Text 10"/>
          <p:cNvSpPr/>
          <p:nvPr/>
        </p:nvSpPr>
        <p:spPr>
          <a:xfrm>
            <a:off x="4555978" y="4088378"/>
            <a:ext cx="854934"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60.77%</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72464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6.3</a:t>
            </a:r>
            <a:endParaRPr lang="en-US" sz="2999" dirty="0"/>
          </a:p>
        </p:txBody>
      </p:sp>
      <p:sp>
        <p:nvSpPr>
          <p:cNvPr id="16" name="Text 13"/>
          <p:cNvSpPr/>
          <p:nvPr/>
        </p:nvSpPr>
        <p:spPr>
          <a:xfrm>
            <a:off x="8420078" y="4088378"/>
            <a:ext cx="71507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97.3%</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48552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247.6 Avg Reach / Post — declining this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fell while Avg Engagement Rate by Reach held — Avg Engagement Rate by Reach is the bright spot.</a:t>
            </a:r>
            <a:endParaRPr lang="en-US" sz="800" dirty="0"/>
          </a:p>
        </p:txBody>
      </p:sp>
      <p:sp>
        <p:nvSpPr>
          <p:cNvPr id="9" name="Text 6"/>
          <p:cNvSpPr/>
          <p:nvPr/>
        </p:nvSpPr>
        <p:spPr>
          <a:xfrm>
            <a:off x="374556" y="3967758"/>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253436"/>
            <a:ext cx="9475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247.6</a:t>
            </a:r>
            <a:endParaRPr lang="en-US" sz="2399" dirty="0"/>
          </a:p>
        </p:txBody>
      </p:sp>
      <p:sp>
        <p:nvSpPr>
          <p:cNvPr id="11" name="Text 8"/>
          <p:cNvSpPr/>
          <p:nvPr/>
        </p:nvSpPr>
        <p:spPr>
          <a:xfrm>
            <a:off x="526918" y="4729567"/>
            <a:ext cx="7240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96.33%</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532767"/>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6931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10.62%</a:t>
            </a:r>
            <a:endParaRPr lang="en-US" sz="1200" dirty="0"/>
          </a:p>
        </p:txBody>
      </p:sp>
      <p:sp>
        <p:nvSpPr>
          <p:cNvPr id="16" name="Text 13"/>
          <p:cNvSpPr/>
          <p:nvPr/>
        </p:nvSpPr>
        <p:spPr>
          <a:xfrm>
            <a:off x="6399200"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2964" y="3021844"/>
            <a:ext cx="29143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4K</a:t>
            </a:r>
            <a:endParaRPr lang="en-US" sz="800" dirty="0"/>
          </a:p>
        </p:txBody>
      </p:sp>
      <p:sp>
        <p:nvSpPr>
          <p:cNvPr id="18" name="Text 15"/>
          <p:cNvSpPr/>
          <p:nvPr/>
        </p:nvSpPr>
        <p:spPr>
          <a:xfrm>
            <a:off x="6399200"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466126" y="3453536"/>
            <a:ext cx="348270"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294</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48552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281.6 Avg Views / Post — a volatile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fell while Avg Engagement Rate by Views held — Avg Engagement Rate by Views is the bright spot.</a:t>
            </a:r>
            <a:endParaRPr lang="en-US" sz="800" dirty="0"/>
          </a:p>
        </p:txBody>
      </p:sp>
      <p:sp>
        <p:nvSpPr>
          <p:cNvPr id="9" name="Text 6"/>
          <p:cNvSpPr/>
          <p:nvPr/>
        </p:nvSpPr>
        <p:spPr>
          <a:xfrm>
            <a:off x="374556" y="3967758"/>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253436"/>
            <a:ext cx="93455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281.6</a:t>
            </a:r>
            <a:endParaRPr lang="en-US" sz="2399" dirty="0"/>
          </a:p>
        </p:txBody>
      </p:sp>
      <p:sp>
        <p:nvSpPr>
          <p:cNvPr id="11" name="Text 8"/>
          <p:cNvSpPr/>
          <p:nvPr/>
        </p:nvSpPr>
        <p:spPr>
          <a:xfrm>
            <a:off x="526918" y="4729567"/>
            <a:ext cx="668369"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97.01%</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532767"/>
            <a:ext cx="457346"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a:t>
            </a:r>
            <a:endParaRPr lang="en-US" sz="1800" dirty="0"/>
          </a:p>
        </p:txBody>
      </p:sp>
      <p:sp>
        <p:nvSpPr>
          <p:cNvPr id="14" name="Text 11"/>
          <p:cNvSpPr/>
          <p:nvPr/>
        </p:nvSpPr>
        <p:spPr>
          <a:xfrm>
            <a:off x="3549655"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56064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11.7%</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47702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a:t>
            </a:r>
            <a:endParaRPr lang="en-US" sz="2399" dirty="0"/>
          </a:p>
        </p:txBody>
      </p:sp>
      <p:sp>
        <p:nvSpPr>
          <p:cNvPr id="11" name="Text 8"/>
          <p:cNvSpPr/>
          <p:nvPr/>
        </p:nvSpPr>
        <p:spPr>
          <a:xfrm>
            <a:off x="526918" y="4754961"/>
            <a:ext cx="758908"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171.43%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7634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-0.9</a:t>
            </a:r>
            <a:endParaRPr lang="en-US" sz="2399" dirty="0"/>
          </a:p>
        </p:txBody>
      </p:sp>
      <p:sp>
        <p:nvSpPr>
          <p:cNvPr id="14" name="Text 11"/>
          <p:cNvSpPr/>
          <p:nvPr/>
        </p:nvSpPr>
        <p:spPr>
          <a:xfrm>
            <a:off x="3336091" y="4754961"/>
            <a:ext cx="77817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170.05%</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362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2026-08-01T04:17:27Z</dcterms:created>
  <dcterms:modified xsi:type="dcterms:W3CDTF">2026-08-01T04:17:27Z</dcterms:modified>
</cp:coreProperties>
</file>