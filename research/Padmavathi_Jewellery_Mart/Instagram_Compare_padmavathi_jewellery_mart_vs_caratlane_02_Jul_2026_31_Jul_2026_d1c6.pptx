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494926"/>
            <a:ext cx="1455453"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INSTAGRAM COMPARE</a:t>
            </a:r>
            <a:endParaRPr lang="en-US" sz="800" dirty="0"/>
          </a:p>
        </p:txBody>
      </p:sp>
      <p:sp>
        <p:nvSpPr>
          <p:cNvPr id="4" name="Text 1"/>
          <p:cNvSpPr/>
          <p:nvPr/>
        </p:nvSpPr>
        <p:spPr>
          <a:xfrm>
            <a:off x="933217" y="2856786"/>
            <a:ext cx="3916971" cy="1022094"/>
          </a:xfrm>
          <a:prstGeom prst="rect">
            <a:avLst/>
          </a:prstGeom>
          <a:ln/>
        </p:spPr>
        <p:txBody>
          <a:bodyPr wrap="squar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Compare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276029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@padmavathi_jewellery_mart • @caratlane</a:t>
            </a:r>
            <a:endParaRPr lang="en-US" sz="1000" dirty="0"/>
          </a:p>
        </p:txBody>
      </p:sp>
      <p:sp>
        <p:nvSpPr>
          <p:cNvPr id="7" name="Text 4"/>
          <p:cNvSpPr/>
          <p:nvPr/>
        </p:nvSpPr>
        <p:spPr>
          <a:xfrm>
            <a:off x="316666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3166668" y="6589652"/>
            <a:ext cx="17062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02 Jul 2026 - 31 Jul 2026</a:t>
            </a:r>
            <a:endParaRPr lang="en-US" sz="1000" dirty="0"/>
          </a:p>
        </p:txBody>
      </p:sp>
      <p:sp>
        <p:nvSpPr>
          <p:cNvPr id="9" name="Text 6"/>
          <p:cNvSpPr/>
          <p:nvPr/>
        </p:nvSpPr>
        <p:spPr>
          <a:xfrm>
            <a:off x="502536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5025364" y="6589652"/>
            <a:ext cx="158912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 Jun 2026 - 1 Jul 2026</a:t>
            </a:r>
            <a:endParaRPr lang="en-US" sz="1000" dirty="0"/>
          </a:p>
        </p:txBody>
      </p:sp>
      <p:sp>
        <p:nvSpPr>
          <p:cNvPr id="11" name="Text 8"/>
          <p:cNvSpPr/>
          <p:nvPr/>
        </p:nvSpPr>
        <p:spPr>
          <a:xfrm>
            <a:off x="6903998"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903998"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543497" y="139665"/>
            <a:ext cx="454965"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2/8</a:t>
            </a:r>
            <a:endParaRPr lang="en-US" sz="1500" dirty="0"/>
          </a:p>
        </p:txBody>
      </p:sp>
      <p:sp>
        <p:nvSpPr>
          <p:cNvPr id="6" name="Text 3"/>
          <p:cNvSpPr/>
          <p:nvPr/>
        </p:nvSpPr>
        <p:spPr>
          <a:xfrm>
            <a:off x="469783" y="1599800"/>
            <a:ext cx="5713571" cy="3555111"/>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02 Jul 2026 and 31 Jul 2026, Padmavathi Jewellery mart maintained a follower base of 563, experiencing a slight decline of 0.18%, whereas CaratLane Jewellery saw follower growth, increasing by 1.12% to 1.7 million. In terms of posting activity, Padmavathi Jewellery mart published 16 posts, down 11.11%, while CaratLane Jewellery posted more frequently at 26 times, with a smaller decline of 3.7%.Engagement metrics show a stark contrast: Padmavathi Jewellery mart's total engagement dropped significantly by 73.83% to 56 interactions, averaging 3.5 engagements per post. Conversely, CaratLane Jewellery increased engagement by 59.14% to 28.8K, averaging 1.1K engagements per post.Although Padmavathi Jewellery mart has a higher engagement rate relative to reach (1.59%) and impressions (1.25%), its small audience size results in much lower absolute engagement. Regarding content distribution, CaratLane Jewellery's average post reach and impressions remain vastly higher at 775.6K and 1.2M respectively, despite minor decreases, compared to Padmavathi Jewellery mart's 247.56 reach and 281.56 impressions.This comparison indicates CaratLane Jewellery's stronger audience scale and interaction despite slightly reduced posting frequency, while Padmavathi Jewellery mart struggles with declining reach and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1681674" y="104749"/>
            <a:ext cx="456453" cy="228543"/>
          </a:xfrm>
          <a:prstGeom prst="rect">
            <a:avLst/>
          </a:prstGeom>
          <a:ln/>
        </p:spPr>
        <p:txBody>
          <a:bodyPr wrap="none" lIns="0" tIns="0" rIns="0" bIns="0" rtlCol="0" anchor="t"/>
          <a:lstStyle/>
          <a:p>
            <a:pPr algn="l" indent="0" marL="0">
              <a:lnSpc>
                <a:spcPct val="100000"/>
              </a:lnSpc>
              <a:buNone/>
            </a:pPr>
            <a:r>
              <a:rPr lang="en-US" sz="1500" dirty="0">
                <a:solidFill>
                  <a:srgbClr val="5B5B69"/>
                </a:solidFill>
                <a:latin typeface="Inter" pitchFamily="34" charset="0"/>
                <a:ea typeface="Inter" pitchFamily="34" charset="-122"/>
                <a:cs typeface="Inter" pitchFamily="34" charset="-120"/>
              </a:rPr>
              <a:t>3/8</a:t>
            </a:r>
            <a:endParaRPr lang="en-US" sz="1500" dirty="0"/>
          </a:p>
        </p:txBody>
      </p:sp>
      <p:sp>
        <p:nvSpPr>
          <p:cNvPr id="4" name="Text 1"/>
          <p:cNvSpPr/>
          <p:nvPr/>
        </p:nvSpPr>
        <p:spPr>
          <a:xfrm>
            <a:off x="374556" y="1485529"/>
            <a:ext cx="4469282" cy="787203"/>
          </a:xfrm>
          <a:prstGeom prst="rect">
            <a:avLst/>
          </a:prstGeom>
          <a:ln/>
        </p:spPr>
        <p:txBody>
          <a:bodyPr wrap="square" lIns="0" tIns="0" rIns="0" bIns="0" rtlCol="0" anchor="t"/>
          <a:lstStyle/>
          <a:p>
            <a:pPr indent="0" marL="0">
              <a:lnSpc>
                <a:spcPct val="82000"/>
              </a:lnSpc>
              <a:buNone/>
            </a:pPr>
            <a:r>
              <a:rPr lang="en-US" sz="2999" b="1" dirty="0">
                <a:solidFill>
                  <a:srgbClr val="DDDCED"/>
                </a:solidFill>
                <a:latin typeface="Inter" pitchFamily="34" charset="0"/>
                <a:ea typeface="Inter" pitchFamily="34" charset="-122"/>
                <a:cs typeface="Inter" pitchFamily="34" charset="-120"/>
              </a:rPr>
              <a:t>CaratLane Jewellery leads on 9 of 10 metrics</a:t>
            </a:r>
            <a:endParaRPr lang="en-US" sz="2999" dirty="0"/>
          </a:p>
        </p:txBody>
      </p:sp>
      <p:sp>
        <p:nvSpPr>
          <p:cNvPr id="5" name="Text 2"/>
          <p:cNvSpPr/>
          <p:nvPr/>
        </p:nvSpPr>
        <p:spPr>
          <a:xfrm>
            <a:off x="374556" y="2463184"/>
            <a:ext cx="1640767" cy="126968"/>
          </a:xfrm>
          <a:prstGeom prst="rect">
            <a:avLst/>
          </a:prstGeom>
          <a:ln/>
        </p:spPr>
        <p:txBody>
          <a:bodyPr wrap="none" lIns="0" tIns="0" rIns="0" bIns="0" rtlCol="0" anchor="t"/>
          <a:lstStyle/>
          <a:p>
            <a:pPr algn="l" indent="0" marL="0">
              <a:lnSpc>
                <a:spcPct val="100000"/>
              </a:lnSpc>
              <a:buNone/>
            </a:pPr>
            <a:r>
              <a:rPr lang="en-US" sz="800" dirty="0">
                <a:solidFill>
                  <a:srgbClr val="DDDCED"/>
                </a:solidFill>
                <a:latin typeface="Inter" pitchFamily="34" charset="0"/>
                <a:ea typeface="Inter" pitchFamily="34" charset="-122"/>
                <a:cs typeface="Inter" pitchFamily="34" charset="-120"/>
              </a:rPr>
              <a:t>PERFORMANCE COMPARISON</a:t>
            </a:r>
            <a:endParaRPr lang="en-US" sz="800" dirty="0"/>
          </a:p>
        </p:txBody>
      </p:sp>
      <p:sp>
        <p:nvSpPr>
          <p:cNvPr id="6" name="Text 3"/>
          <p:cNvSpPr/>
          <p:nvPr/>
        </p:nvSpPr>
        <p:spPr>
          <a:xfrm>
            <a:off x="495176" y="2818695"/>
            <a:ext cx="1638672" cy="95226"/>
          </a:xfrm>
          <a:prstGeom prst="rect">
            <a:avLst/>
          </a:prstGeom>
          <a:ln/>
        </p:spPr>
        <p:txBody>
          <a:bodyPr wrap="none" lIns="0" tIns="0" rIns="0" bIns="0" rtlCol="0" anchor="t"/>
          <a:lstStyle/>
          <a:p>
            <a:pPr algn="l" indent="0" marL="0">
              <a:lnSpc>
                <a:spcPct val="100000"/>
              </a:lnSpc>
              <a:buNone/>
            </a:pPr>
            <a:r>
              <a:rPr lang="en-US" sz="600" dirty="0">
                <a:solidFill>
                  <a:srgbClr val="15803D"/>
                </a:solidFill>
                <a:latin typeface="Inter" pitchFamily="34" charset="0"/>
                <a:ea typeface="Inter" pitchFamily="34" charset="-122"/>
                <a:cs typeface="Inter" pitchFamily="34" charset="-120"/>
              </a:rPr>
              <a:t>CaratLane Jewellery • OVERALL LEADER</a:t>
            </a:r>
            <a:endParaRPr lang="en-US" sz="600" dirty="0"/>
          </a:p>
        </p:txBody>
      </p:sp>
      <p:sp>
        <p:nvSpPr>
          <p:cNvPr id="7" name="Text 4"/>
          <p:cNvSpPr/>
          <p:nvPr/>
        </p:nvSpPr>
        <p:spPr>
          <a:xfrm>
            <a:off x="533267" y="3459885"/>
            <a:ext cx="1753898" cy="126968"/>
          </a:xfrm>
          <a:prstGeom prst="rect">
            <a:avLst/>
          </a:prstGeom>
          <a:ln/>
        </p:spPr>
        <p:txBody>
          <a:bodyPr wrap="none" lIns="0" tIns="0" rIns="0" bIns="0" rtlCol="0" anchor="t"/>
          <a:lstStyle/>
          <a:p>
            <a:pPr algn="l" indent="0" marL="0">
              <a:lnSpc>
                <a:spcPct val="100000"/>
              </a:lnSpc>
              <a:buNone/>
            </a:pPr>
            <a:r>
              <a:rPr lang="en-US" sz="800" dirty="0">
                <a:solidFill>
                  <a:srgbClr val="DDDCED"/>
                </a:solidFill>
                <a:latin typeface="Inter" pitchFamily="34" charset="0"/>
                <a:ea typeface="Inter" pitchFamily="34" charset="-122"/>
                <a:cs typeface="Inter" pitchFamily="34" charset="-120"/>
              </a:rPr>
              <a:t>PADMAVATHI JEWELLERY MART</a:t>
            </a:r>
            <a:endParaRPr lang="en-US" sz="800" dirty="0"/>
          </a:p>
        </p:txBody>
      </p:sp>
      <p:sp>
        <p:nvSpPr>
          <p:cNvPr id="8" name="Text 5"/>
          <p:cNvSpPr/>
          <p:nvPr/>
        </p:nvSpPr>
        <p:spPr>
          <a:xfrm>
            <a:off x="653787" y="3777305"/>
            <a:ext cx="365356" cy="184104"/>
          </a:xfrm>
          <a:prstGeom prst="rect">
            <a:avLst/>
          </a:prstGeom>
          <a:ln/>
        </p:spPr>
        <p:txBody>
          <a:bodyPr wrap="none" lIns="0" tIns="0" rIns="0" bIns="0" rtlCol="0" anchor="t"/>
          <a:lstStyle/>
          <a:p>
            <a:pPr algn="l" indent="0" marL="0">
              <a:lnSpc>
                <a:spcPct val="100000"/>
              </a:lnSpc>
              <a:buNone/>
            </a:pPr>
            <a:r>
              <a:rPr lang="en-US" sz="1200" dirty="0">
                <a:solidFill>
                  <a:srgbClr val="DDDCED"/>
                </a:solidFill>
                <a:latin typeface="Inter" pitchFamily="34" charset="0"/>
                <a:ea typeface="Inter" pitchFamily="34" charset="-122"/>
                <a:cs typeface="Inter" pitchFamily="34" charset="-120"/>
              </a:rPr>
              <a:t>/10</a:t>
            </a:r>
            <a:endParaRPr lang="en-US" sz="1200" dirty="0"/>
          </a:p>
        </p:txBody>
      </p:sp>
      <p:sp>
        <p:nvSpPr>
          <p:cNvPr id="9" name="Text 6"/>
          <p:cNvSpPr/>
          <p:nvPr/>
        </p:nvSpPr>
        <p:spPr>
          <a:xfrm>
            <a:off x="533267" y="4050287"/>
            <a:ext cx="666577" cy="107923"/>
          </a:xfrm>
          <a:prstGeom prst="rect">
            <a:avLst/>
          </a:prstGeom>
          <a:ln/>
        </p:spPr>
        <p:txBody>
          <a:bodyPr wrap="none" lIns="0" tIns="0" rIns="0" bIns="0" rtlCol="0" anchor="t"/>
          <a:lstStyle/>
          <a:p>
            <a:pPr algn="l" indent="0" marL="0">
              <a:lnSpc>
                <a:spcPct val="100000"/>
              </a:lnSpc>
              <a:buNone/>
            </a:pPr>
            <a:r>
              <a:rPr lang="en-US" sz="700" dirty="0">
                <a:solidFill>
                  <a:srgbClr val="D1D1D8"/>
                </a:solidFill>
                <a:latin typeface="Inter" pitchFamily="34" charset="0"/>
                <a:ea typeface="Inter" pitchFamily="34" charset="-122"/>
                <a:cs typeface="Inter" pitchFamily="34" charset="-120"/>
              </a:rPr>
              <a:t>metrics won</a:t>
            </a:r>
            <a:endParaRPr lang="en-US" sz="700" dirty="0"/>
          </a:p>
        </p:txBody>
      </p:sp>
      <p:sp>
        <p:nvSpPr>
          <p:cNvPr id="10" name="Text 7"/>
          <p:cNvSpPr/>
          <p:nvPr/>
        </p:nvSpPr>
        <p:spPr>
          <a:xfrm>
            <a:off x="2844089" y="3459885"/>
            <a:ext cx="1379441" cy="126968"/>
          </a:xfrm>
          <a:prstGeom prst="rect">
            <a:avLst/>
          </a:prstGeom>
          <a:ln/>
        </p:spPr>
        <p:txBody>
          <a:bodyPr wrap="none" lIns="0" tIns="0" rIns="0" bIns="0" rtlCol="0" anchor="t"/>
          <a:lstStyle/>
          <a:p>
            <a:pPr algn="l" indent="0" marL="0">
              <a:lnSpc>
                <a:spcPct val="100000"/>
              </a:lnSpc>
              <a:buNone/>
            </a:pPr>
            <a:r>
              <a:rPr lang="en-US" sz="800" dirty="0">
                <a:solidFill>
                  <a:srgbClr val="DDDCED"/>
                </a:solidFill>
                <a:latin typeface="Inter" pitchFamily="34" charset="0"/>
                <a:ea typeface="Inter" pitchFamily="34" charset="-122"/>
                <a:cs typeface="Inter" pitchFamily="34" charset="-120"/>
              </a:rPr>
              <a:t>CARATLANE JEWELLERY</a:t>
            </a:r>
            <a:endParaRPr lang="en-US" sz="800" dirty="0"/>
          </a:p>
        </p:txBody>
      </p:sp>
      <p:sp>
        <p:nvSpPr>
          <p:cNvPr id="11" name="Text 8"/>
          <p:cNvSpPr/>
          <p:nvPr/>
        </p:nvSpPr>
        <p:spPr>
          <a:xfrm>
            <a:off x="3025515" y="3777305"/>
            <a:ext cx="365356" cy="184104"/>
          </a:xfrm>
          <a:prstGeom prst="rect">
            <a:avLst/>
          </a:prstGeom>
          <a:ln/>
        </p:spPr>
        <p:txBody>
          <a:bodyPr wrap="none" lIns="0" tIns="0" rIns="0" bIns="0" rtlCol="0" anchor="t"/>
          <a:lstStyle/>
          <a:p>
            <a:pPr algn="l" indent="0" marL="0">
              <a:lnSpc>
                <a:spcPct val="100000"/>
              </a:lnSpc>
              <a:buNone/>
            </a:pPr>
            <a:r>
              <a:rPr lang="en-US" sz="1200" dirty="0">
                <a:solidFill>
                  <a:srgbClr val="DDDCED"/>
                </a:solidFill>
                <a:latin typeface="Inter" pitchFamily="34" charset="0"/>
                <a:ea typeface="Inter" pitchFamily="34" charset="-122"/>
                <a:cs typeface="Inter" pitchFamily="34" charset="-120"/>
              </a:rPr>
              <a:t>/10</a:t>
            </a:r>
            <a:endParaRPr lang="en-US" sz="1200" dirty="0"/>
          </a:p>
        </p:txBody>
      </p:sp>
      <p:sp>
        <p:nvSpPr>
          <p:cNvPr id="12" name="Text 9"/>
          <p:cNvSpPr/>
          <p:nvPr/>
        </p:nvSpPr>
        <p:spPr>
          <a:xfrm>
            <a:off x="2844089" y="4050287"/>
            <a:ext cx="666577" cy="107923"/>
          </a:xfrm>
          <a:prstGeom prst="rect">
            <a:avLst/>
          </a:prstGeom>
          <a:ln/>
        </p:spPr>
        <p:txBody>
          <a:bodyPr wrap="none" lIns="0" tIns="0" rIns="0" bIns="0" rtlCol="0" anchor="t"/>
          <a:lstStyle/>
          <a:p>
            <a:pPr algn="l" indent="0" marL="0">
              <a:lnSpc>
                <a:spcPct val="100000"/>
              </a:lnSpc>
              <a:buNone/>
            </a:pPr>
            <a:r>
              <a:rPr lang="en-US" sz="700" dirty="0">
                <a:solidFill>
                  <a:srgbClr val="D1D1D8"/>
                </a:solidFill>
                <a:latin typeface="Inter" pitchFamily="34" charset="0"/>
                <a:ea typeface="Inter" pitchFamily="34" charset="-122"/>
                <a:cs typeface="Inter" pitchFamily="34" charset="-120"/>
              </a:rPr>
              <a:t>metrics won</a:t>
            </a:r>
            <a:endParaRPr lang="en-US" sz="700" dirty="0"/>
          </a:p>
        </p:txBody>
      </p:sp>
      <p:sp>
        <p:nvSpPr>
          <p:cNvPr id="13" name="Text 10"/>
          <p:cNvSpPr/>
          <p:nvPr/>
        </p:nvSpPr>
        <p:spPr>
          <a:xfrm>
            <a:off x="520570" y="4799400"/>
            <a:ext cx="1064134" cy="133317"/>
          </a:xfrm>
          <a:prstGeom prst="rect">
            <a:avLst/>
          </a:prstGeom>
          <a:ln/>
        </p:spPr>
        <p:txBody>
          <a:bodyPr wrap="none" lIns="0" tIns="0" rIns="0" bIns="0" rtlCol="0" anchor="t"/>
          <a:lstStyle/>
          <a:p>
            <a:pPr algn="l" indent="0" marL="0">
              <a:lnSpc>
                <a:spcPct val="100000"/>
              </a:lnSpc>
              <a:buNone/>
            </a:pPr>
            <a:r>
              <a:rPr lang="en-US" sz="900" dirty="0">
                <a:solidFill>
                  <a:srgbClr val="EFEFF4"/>
                </a:solidFill>
                <a:latin typeface="Inter" pitchFamily="34" charset="0"/>
                <a:ea typeface="Inter" pitchFamily="34" charset="-122"/>
                <a:cs typeface="Inter" pitchFamily="34" charset="-120"/>
              </a:rPr>
              <a:t>KEY TAKEAWAY:</a:t>
            </a:r>
            <a:endParaRPr lang="en-US" sz="900" dirty="0"/>
          </a:p>
        </p:txBody>
      </p:sp>
      <p:sp>
        <p:nvSpPr>
          <p:cNvPr id="14" name="Text 11"/>
          <p:cNvSpPr/>
          <p:nvPr/>
        </p:nvSpPr>
        <p:spPr>
          <a:xfrm>
            <a:off x="520570" y="4805748"/>
            <a:ext cx="4057528" cy="285679"/>
          </a:xfrm>
          <a:prstGeom prst="rect">
            <a:avLst/>
          </a:prstGeom>
          <a:ln/>
        </p:spPr>
        <p:txBody>
          <a:bodyPr wrap="square" lIns="0" tIns="0" rIns="0" bIns="0" rtlCol="0" anchor="t"/>
          <a:lstStyle/>
          <a:p>
            <a:pPr algn="l" indent="0" marL="0">
              <a:lnSpc>
                <a:spcPct val="100000"/>
              </a:lnSpc>
              <a:buNone/>
            </a:pPr>
            <a:r>
              <a:rPr lang="en-US" sz="800" dirty="0">
                <a:solidFill>
                  <a:srgbClr val="EFEFF4"/>
                </a:solidFill>
                <a:latin typeface="Inter" pitchFamily="34" charset="0"/>
                <a:ea typeface="Inter" pitchFamily="34" charset="-122"/>
                <a:cs typeface="Inter" pitchFamily="34" charset="-120"/>
              </a:rPr>
              <a:t>CaratLane Jewellery is ahead on avg. views / post (4352.8x), but Padmavathi Jewellery mart still takes avg. eng. rate by followers.</a:t>
            </a:r>
            <a:endParaRPr lang="en-US" sz="800" dirty="0"/>
          </a:p>
        </p:txBody>
      </p:sp>
      <p:sp>
        <p:nvSpPr>
          <p:cNvPr id="15" name="Text 12"/>
          <p:cNvSpPr/>
          <p:nvPr/>
        </p:nvSpPr>
        <p:spPr>
          <a:xfrm>
            <a:off x="5472332" y="1037965"/>
            <a:ext cx="1942317" cy="152362"/>
          </a:xfrm>
          <a:prstGeom prst="rect">
            <a:avLst/>
          </a:prstGeom>
          <a:ln/>
        </p:spPr>
        <p:txBody>
          <a:bodyPr wrap="none" lIns="0" tIns="0" rIns="0" bIns="0" rtlCol="0" anchor="t"/>
          <a:lstStyle/>
          <a:p>
            <a:pPr algn="l" indent="0" marL="0">
              <a:lnSpc>
                <a:spcPct val="100000"/>
              </a:lnSpc>
              <a:buNone/>
            </a:pPr>
            <a:r>
              <a:rPr lang="en-US" sz="1000" b="1" dirty="0">
                <a:solidFill>
                  <a:srgbClr val="2C2362"/>
                </a:solidFill>
                <a:latin typeface="Inter" pitchFamily="34" charset="0"/>
                <a:ea typeface="Inter" pitchFamily="34" charset="-122"/>
                <a:cs typeface="Inter" pitchFamily="34" charset="-120"/>
              </a:rPr>
              <a:t>INSTAGRAM HEAD-TO-HEAD</a:t>
            </a:r>
            <a:endParaRPr lang="en-US" sz="1000" dirty="0"/>
          </a:p>
        </p:txBody>
      </p:sp>
      <p:sp>
        <p:nvSpPr>
          <p:cNvPr id="16" name="Text 13"/>
          <p:cNvSpPr/>
          <p:nvPr/>
        </p:nvSpPr>
        <p:spPr>
          <a:xfrm>
            <a:off x="7262286" y="1057011"/>
            <a:ext cx="1243594" cy="126968"/>
          </a:xfrm>
          <a:prstGeom prst="rect">
            <a:avLst/>
          </a:prstGeom>
          <a:ln/>
        </p:spPr>
        <p:txBody>
          <a:bodyPr wrap="none" lIns="0" tIns="0" rIns="0" bIns="0" rtlCol="0" anchor="t"/>
          <a:lstStyle/>
          <a:p>
            <a:pPr algn="l" indent="0" marL="0">
              <a:lnSpc>
                <a:spcPct val="100000"/>
              </a:lnSpc>
              <a:buNone/>
            </a:pPr>
            <a:r>
              <a:rPr lang="en-US" sz="800" dirty="0">
                <a:solidFill>
                  <a:srgbClr val="A8A8B4"/>
                </a:solidFill>
                <a:latin typeface="Inter" pitchFamily="34" charset="0"/>
                <a:ea typeface="Inter" pitchFamily="34" charset="-122"/>
                <a:cs typeface="Inter" pitchFamily="34" charset="-120"/>
              </a:rPr>
              <a:t>• 10 metrics compared</a:t>
            </a:r>
            <a:endParaRPr lang="en-US" sz="800" dirty="0"/>
          </a:p>
        </p:txBody>
      </p:sp>
      <p:sp>
        <p:nvSpPr>
          <p:cNvPr id="17" name="Text 14"/>
          <p:cNvSpPr/>
          <p:nvPr/>
        </p:nvSpPr>
        <p:spPr>
          <a:xfrm>
            <a:off x="10578935" y="1050662"/>
            <a:ext cx="1387773" cy="126968"/>
          </a:xfrm>
          <a:prstGeom prst="rect">
            <a:avLst/>
          </a:prstGeom>
          <a:ln/>
        </p:spPr>
        <p:txBody>
          <a:bodyPr wrap="none" lIns="0" tIns="0" rIns="0" bIns="0" rtlCol="0" anchor="t"/>
          <a:lstStyle/>
          <a:p>
            <a:pPr algn="r" indent="0" marL="0">
              <a:lnSpc>
                <a:spcPct val="100000"/>
              </a:lnSpc>
              <a:buNone/>
            </a:pPr>
            <a:r>
              <a:rPr lang="en-US" sz="800" dirty="0">
                <a:solidFill>
                  <a:srgbClr val="A8A8B4"/>
                </a:solidFill>
                <a:latin typeface="Inter" pitchFamily="34" charset="0"/>
                <a:ea typeface="Inter" pitchFamily="34" charset="-122"/>
                <a:cs typeface="Inter" pitchFamily="34" charset="-120"/>
              </a:rPr>
              <a:t>02 Jul 2026 - 31 Jul 2026</a:t>
            </a:r>
            <a:endParaRPr lang="en-US" sz="800" dirty="0"/>
          </a:p>
        </p:txBody>
      </p:sp>
      <p:sp>
        <p:nvSpPr>
          <p:cNvPr id="18" name="Text 15"/>
          <p:cNvSpPr/>
          <p:nvPr/>
        </p:nvSpPr>
        <p:spPr>
          <a:xfrm>
            <a:off x="5599300" y="1431567"/>
            <a:ext cx="409380" cy="282504"/>
          </a:xfrm>
          <a:prstGeom prst="rect">
            <a:avLst/>
          </a:prstGeom>
          <a:ln/>
        </p:spPr>
        <p:txBody>
          <a:bodyPr wrap="square" lIns="0" tIns="0" rIns="0" bIns="0" rtlCol="0" anchor="t"/>
          <a:lstStyle/>
          <a:p>
            <a:pPr algn="l" indent="0" marL="0">
              <a:lnSpc>
                <a:spcPct val="100000"/>
              </a:lnSpc>
              <a:buNone/>
            </a:pPr>
            <a:r>
              <a:rPr lang="en-US" sz="650" b="1" dirty="0">
                <a:solidFill>
                  <a:srgbClr val="5B5B69"/>
                </a:solidFill>
                <a:latin typeface="Inter" pitchFamily="34" charset="0"/>
                <a:ea typeface="Inter" pitchFamily="34" charset="-122"/>
                <a:cs typeface="Inter" pitchFamily="34" charset="-120"/>
              </a:rPr>
              <a:t>Metric</a:t>
            </a:r>
            <a:endParaRPr lang="en-US" sz="650" dirty="0"/>
          </a:p>
        </p:txBody>
      </p:sp>
      <p:sp>
        <p:nvSpPr>
          <p:cNvPr id="19" name="Text 16"/>
          <p:cNvSpPr/>
          <p:nvPr/>
        </p:nvSpPr>
        <p:spPr>
          <a:xfrm>
            <a:off x="8179731" y="1431567"/>
            <a:ext cx="1234149" cy="101575"/>
          </a:xfrm>
          <a:prstGeom prst="rect">
            <a:avLst/>
          </a:prstGeom>
          <a:ln/>
        </p:spPr>
        <p:txBody>
          <a:bodyPr wrap="none" lIns="0" tIns="0" rIns="0" bIns="0" rtlCol="0" anchor="t"/>
          <a:lstStyle/>
          <a:p>
            <a:pPr algn="l" indent="0" marL="0">
              <a:lnSpc>
                <a:spcPct val="100000"/>
              </a:lnSpc>
              <a:buNone/>
            </a:pPr>
            <a:r>
              <a:rPr lang="en-US" sz="650" b="1" dirty="0">
                <a:solidFill>
                  <a:srgbClr val="5B5B69"/>
                </a:solidFill>
                <a:latin typeface="Inter" pitchFamily="34" charset="0"/>
                <a:ea typeface="Inter" pitchFamily="34" charset="-122"/>
                <a:cs typeface="Inter" pitchFamily="34" charset="-120"/>
              </a:rPr>
              <a:t>Padmavathi Jewellery mart</a:t>
            </a:r>
            <a:endParaRPr lang="en-US" sz="650" dirty="0"/>
          </a:p>
        </p:txBody>
      </p:sp>
      <p:sp>
        <p:nvSpPr>
          <p:cNvPr id="20" name="Text 17"/>
          <p:cNvSpPr/>
          <p:nvPr/>
        </p:nvSpPr>
        <p:spPr>
          <a:xfrm>
            <a:off x="10358625" y="1431567"/>
            <a:ext cx="970200" cy="101575"/>
          </a:xfrm>
          <a:prstGeom prst="rect">
            <a:avLst/>
          </a:prstGeom>
          <a:ln/>
        </p:spPr>
        <p:txBody>
          <a:bodyPr wrap="none" lIns="0" tIns="0" rIns="0" bIns="0" rtlCol="0" anchor="t"/>
          <a:lstStyle/>
          <a:p>
            <a:pPr algn="l" indent="0" marL="0">
              <a:lnSpc>
                <a:spcPct val="100000"/>
              </a:lnSpc>
              <a:buNone/>
            </a:pPr>
            <a:r>
              <a:rPr lang="en-US" sz="650" b="1" dirty="0">
                <a:solidFill>
                  <a:srgbClr val="5B5B69"/>
                </a:solidFill>
                <a:latin typeface="Inter" pitchFamily="34" charset="0"/>
                <a:ea typeface="Inter" pitchFamily="34" charset="-122"/>
                <a:cs typeface="Inter" pitchFamily="34" charset="-120"/>
              </a:rPr>
              <a:t>CaratLane Jewellery</a:t>
            </a:r>
            <a:endParaRPr lang="en-US" sz="650" dirty="0"/>
          </a:p>
        </p:txBody>
      </p:sp>
      <p:sp>
        <p:nvSpPr>
          <p:cNvPr id="21" name="Text 18"/>
          <p:cNvSpPr/>
          <p:nvPr/>
        </p:nvSpPr>
        <p:spPr>
          <a:xfrm>
            <a:off x="5599300" y="1758510"/>
            <a:ext cx="667030"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Followers</a:t>
            </a:r>
            <a:endParaRPr lang="en-US" sz="900" dirty="0"/>
          </a:p>
        </p:txBody>
      </p:sp>
      <p:sp>
        <p:nvSpPr>
          <p:cNvPr id="22" name="Text 19"/>
          <p:cNvSpPr/>
          <p:nvPr/>
        </p:nvSpPr>
        <p:spPr>
          <a:xfrm>
            <a:off x="7951188" y="1764859"/>
            <a:ext cx="34127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563</a:t>
            </a:r>
            <a:endParaRPr lang="en-US" sz="800" dirty="0"/>
          </a:p>
        </p:txBody>
      </p:sp>
      <p:sp>
        <p:nvSpPr>
          <p:cNvPr id="23" name="Text 20"/>
          <p:cNvSpPr/>
          <p:nvPr/>
        </p:nvSpPr>
        <p:spPr>
          <a:xfrm>
            <a:off x="10130082" y="1764859"/>
            <a:ext cx="377731"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1.7M</a:t>
            </a:r>
            <a:endParaRPr lang="en-US" sz="800" dirty="0"/>
          </a:p>
        </p:txBody>
      </p:sp>
      <p:sp>
        <p:nvSpPr>
          <p:cNvPr id="24" name="Text 21"/>
          <p:cNvSpPr/>
          <p:nvPr/>
        </p:nvSpPr>
        <p:spPr>
          <a:xfrm>
            <a:off x="5599300" y="2164809"/>
            <a:ext cx="1075293"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Followers growth</a:t>
            </a:r>
            <a:endParaRPr lang="en-US" sz="900" dirty="0"/>
          </a:p>
        </p:txBody>
      </p:sp>
      <p:sp>
        <p:nvSpPr>
          <p:cNvPr id="25" name="Text 22"/>
          <p:cNvSpPr/>
          <p:nvPr/>
        </p:nvSpPr>
        <p:spPr>
          <a:xfrm>
            <a:off x="7951188" y="2171157"/>
            <a:ext cx="260582"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-5</a:t>
            </a:r>
            <a:endParaRPr lang="en-US" sz="800" dirty="0"/>
          </a:p>
        </p:txBody>
      </p:sp>
      <p:sp>
        <p:nvSpPr>
          <p:cNvPr id="26" name="Text 23"/>
          <p:cNvSpPr/>
          <p:nvPr/>
        </p:nvSpPr>
        <p:spPr>
          <a:xfrm>
            <a:off x="10130082" y="2171157"/>
            <a:ext cx="429609"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18.4K</a:t>
            </a:r>
            <a:endParaRPr lang="en-US" sz="800" dirty="0"/>
          </a:p>
        </p:txBody>
      </p:sp>
      <p:sp>
        <p:nvSpPr>
          <p:cNvPr id="27" name="Text 24"/>
          <p:cNvSpPr/>
          <p:nvPr/>
        </p:nvSpPr>
        <p:spPr>
          <a:xfrm>
            <a:off x="5599300" y="2571107"/>
            <a:ext cx="743025"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Total posts</a:t>
            </a:r>
            <a:endParaRPr lang="en-US" sz="900" dirty="0"/>
          </a:p>
        </p:txBody>
      </p:sp>
      <p:sp>
        <p:nvSpPr>
          <p:cNvPr id="28" name="Text 25"/>
          <p:cNvSpPr/>
          <p:nvPr/>
        </p:nvSpPr>
        <p:spPr>
          <a:xfrm>
            <a:off x="7951188" y="2577455"/>
            <a:ext cx="258499"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16</a:t>
            </a:r>
            <a:endParaRPr lang="en-US" sz="800" dirty="0"/>
          </a:p>
        </p:txBody>
      </p:sp>
      <p:sp>
        <p:nvSpPr>
          <p:cNvPr id="29" name="Text 26"/>
          <p:cNvSpPr/>
          <p:nvPr/>
        </p:nvSpPr>
        <p:spPr>
          <a:xfrm>
            <a:off x="10130082" y="2577455"/>
            <a:ext cx="280620"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26</a:t>
            </a:r>
            <a:endParaRPr lang="en-US" sz="800" dirty="0"/>
          </a:p>
        </p:txBody>
      </p:sp>
      <p:sp>
        <p:nvSpPr>
          <p:cNvPr id="30" name="Text 27"/>
          <p:cNvSpPr/>
          <p:nvPr/>
        </p:nvSpPr>
        <p:spPr>
          <a:xfrm>
            <a:off x="5599300" y="2977405"/>
            <a:ext cx="1018102"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Avg. posts / day</a:t>
            </a:r>
            <a:endParaRPr lang="en-US" sz="900" dirty="0"/>
          </a:p>
        </p:txBody>
      </p:sp>
      <p:sp>
        <p:nvSpPr>
          <p:cNvPr id="31" name="Text 28"/>
          <p:cNvSpPr/>
          <p:nvPr/>
        </p:nvSpPr>
        <p:spPr>
          <a:xfrm>
            <a:off x="7951188" y="2983754"/>
            <a:ext cx="369745"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0.53</a:t>
            </a:r>
            <a:endParaRPr lang="en-US" sz="800" dirty="0"/>
          </a:p>
        </p:txBody>
      </p:sp>
      <p:sp>
        <p:nvSpPr>
          <p:cNvPr id="32" name="Text 29"/>
          <p:cNvSpPr/>
          <p:nvPr/>
        </p:nvSpPr>
        <p:spPr>
          <a:xfrm>
            <a:off x="10130082" y="2983754"/>
            <a:ext cx="369795"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0.87</a:t>
            </a:r>
            <a:endParaRPr lang="en-US" sz="800" dirty="0"/>
          </a:p>
        </p:txBody>
      </p:sp>
      <p:sp>
        <p:nvSpPr>
          <p:cNvPr id="33" name="Text 30"/>
          <p:cNvSpPr/>
          <p:nvPr/>
        </p:nvSpPr>
        <p:spPr>
          <a:xfrm>
            <a:off x="5599300" y="3383704"/>
            <a:ext cx="1124339"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Total engagement</a:t>
            </a:r>
            <a:endParaRPr lang="en-US" sz="900" dirty="0"/>
          </a:p>
        </p:txBody>
      </p:sp>
      <p:sp>
        <p:nvSpPr>
          <p:cNvPr id="34" name="Text 31"/>
          <p:cNvSpPr/>
          <p:nvPr/>
        </p:nvSpPr>
        <p:spPr>
          <a:xfrm>
            <a:off x="7951188" y="3390052"/>
            <a:ext cx="277594"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56</a:t>
            </a:r>
            <a:endParaRPr lang="en-US" sz="800" dirty="0"/>
          </a:p>
        </p:txBody>
      </p:sp>
      <p:sp>
        <p:nvSpPr>
          <p:cNvPr id="35" name="Text 32"/>
          <p:cNvSpPr/>
          <p:nvPr/>
        </p:nvSpPr>
        <p:spPr>
          <a:xfrm>
            <a:off x="10130082" y="3390052"/>
            <a:ext cx="444637"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28.8K</a:t>
            </a:r>
            <a:endParaRPr lang="en-US" sz="800" dirty="0"/>
          </a:p>
        </p:txBody>
      </p:sp>
      <p:sp>
        <p:nvSpPr>
          <p:cNvPr id="36" name="Text 33"/>
          <p:cNvSpPr/>
          <p:nvPr/>
        </p:nvSpPr>
        <p:spPr>
          <a:xfrm>
            <a:off x="5599300" y="3790002"/>
            <a:ext cx="1586837"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Avg. eng. rate by followers</a:t>
            </a:r>
            <a:endParaRPr lang="en-US" sz="900" dirty="0"/>
          </a:p>
        </p:txBody>
      </p:sp>
      <p:sp>
        <p:nvSpPr>
          <p:cNvPr id="37" name="Text 34"/>
          <p:cNvSpPr/>
          <p:nvPr/>
        </p:nvSpPr>
        <p:spPr>
          <a:xfrm>
            <a:off x="7951188" y="3796351"/>
            <a:ext cx="476379"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0.62%</a:t>
            </a:r>
            <a:endParaRPr lang="en-US" sz="800" dirty="0"/>
          </a:p>
        </p:txBody>
      </p:sp>
      <p:sp>
        <p:nvSpPr>
          <p:cNvPr id="38" name="Text 35"/>
          <p:cNvSpPr/>
          <p:nvPr/>
        </p:nvSpPr>
        <p:spPr>
          <a:xfrm>
            <a:off x="10130082" y="3796351"/>
            <a:ext cx="465765"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0.07%</a:t>
            </a:r>
            <a:endParaRPr lang="en-US" sz="800" dirty="0"/>
          </a:p>
        </p:txBody>
      </p:sp>
      <p:sp>
        <p:nvSpPr>
          <p:cNvPr id="39" name="Text 36"/>
          <p:cNvSpPr/>
          <p:nvPr/>
        </p:nvSpPr>
        <p:spPr>
          <a:xfrm>
            <a:off x="5599300" y="4196301"/>
            <a:ext cx="1438920"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Avg. engagement / post</a:t>
            </a:r>
            <a:endParaRPr lang="en-US" sz="900" dirty="0"/>
          </a:p>
        </p:txBody>
      </p:sp>
      <p:sp>
        <p:nvSpPr>
          <p:cNvPr id="40" name="Text 37"/>
          <p:cNvSpPr/>
          <p:nvPr/>
        </p:nvSpPr>
        <p:spPr>
          <a:xfrm>
            <a:off x="7951188" y="4202649"/>
            <a:ext cx="304674"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3.5</a:t>
            </a:r>
            <a:endParaRPr lang="en-US" sz="800" dirty="0"/>
          </a:p>
        </p:txBody>
      </p:sp>
      <p:sp>
        <p:nvSpPr>
          <p:cNvPr id="41" name="Text 38"/>
          <p:cNvSpPr/>
          <p:nvPr/>
        </p:nvSpPr>
        <p:spPr>
          <a:xfrm>
            <a:off x="10130082" y="4202649"/>
            <a:ext cx="333044"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1.1K</a:t>
            </a:r>
            <a:endParaRPr lang="en-US" sz="800" dirty="0"/>
          </a:p>
        </p:txBody>
      </p:sp>
      <p:sp>
        <p:nvSpPr>
          <p:cNvPr id="42" name="Text 39"/>
          <p:cNvSpPr/>
          <p:nvPr/>
        </p:nvSpPr>
        <p:spPr>
          <a:xfrm>
            <a:off x="5599300" y="4602599"/>
            <a:ext cx="1068096"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Avg. reach / post</a:t>
            </a:r>
            <a:endParaRPr lang="en-US" sz="900" dirty="0"/>
          </a:p>
        </p:txBody>
      </p:sp>
      <p:sp>
        <p:nvSpPr>
          <p:cNvPr id="43" name="Text 40"/>
          <p:cNvSpPr/>
          <p:nvPr/>
        </p:nvSpPr>
        <p:spPr>
          <a:xfrm>
            <a:off x="7951188" y="4608947"/>
            <a:ext cx="480198"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247.56</a:t>
            </a:r>
            <a:endParaRPr lang="en-US" sz="800" dirty="0"/>
          </a:p>
        </p:txBody>
      </p:sp>
      <p:sp>
        <p:nvSpPr>
          <p:cNvPr id="44" name="Text 41"/>
          <p:cNvSpPr/>
          <p:nvPr/>
        </p:nvSpPr>
        <p:spPr>
          <a:xfrm>
            <a:off x="10130082" y="4608947"/>
            <a:ext cx="496069"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775.6K</a:t>
            </a:r>
            <a:endParaRPr lang="en-US" sz="800" dirty="0"/>
          </a:p>
        </p:txBody>
      </p:sp>
      <p:sp>
        <p:nvSpPr>
          <p:cNvPr id="45" name="Text 42"/>
          <p:cNvSpPr/>
          <p:nvPr/>
        </p:nvSpPr>
        <p:spPr>
          <a:xfrm>
            <a:off x="5599300" y="5008897"/>
            <a:ext cx="1072504"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Avg. views / post</a:t>
            </a:r>
            <a:endParaRPr lang="en-US" sz="900" dirty="0"/>
          </a:p>
        </p:txBody>
      </p:sp>
      <p:sp>
        <p:nvSpPr>
          <p:cNvPr id="46" name="Text 43"/>
          <p:cNvSpPr/>
          <p:nvPr/>
        </p:nvSpPr>
        <p:spPr>
          <a:xfrm>
            <a:off x="7951188" y="5015246"/>
            <a:ext cx="475883"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281.56</a:t>
            </a:r>
            <a:endParaRPr lang="en-US" sz="800" dirty="0"/>
          </a:p>
        </p:txBody>
      </p:sp>
      <p:sp>
        <p:nvSpPr>
          <p:cNvPr id="47" name="Text 44"/>
          <p:cNvSpPr/>
          <p:nvPr/>
        </p:nvSpPr>
        <p:spPr>
          <a:xfrm>
            <a:off x="10130082" y="5015246"/>
            <a:ext cx="384674"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1.2M</a:t>
            </a:r>
            <a:endParaRPr lang="en-US" sz="800" dirty="0"/>
          </a:p>
        </p:txBody>
      </p:sp>
      <p:sp>
        <p:nvSpPr>
          <p:cNvPr id="48" name="Text 45"/>
          <p:cNvSpPr/>
          <p:nvPr/>
        </p:nvSpPr>
        <p:spPr>
          <a:xfrm>
            <a:off x="5599300" y="5415196"/>
            <a:ext cx="991598" cy="133317"/>
          </a:xfrm>
          <a:prstGeom prst="rect">
            <a:avLst/>
          </a:prstGeom>
          <a:ln/>
        </p:spPr>
        <p:txBody>
          <a:bodyPr wrap="none" lIns="0" tIns="0" rIns="0" bIns="0" rtlCol="0" anchor="t"/>
          <a:lstStyle/>
          <a:p>
            <a:pPr algn="l" indent="0" marL="0">
              <a:lnSpc>
                <a:spcPct val="100000"/>
              </a:lnSpc>
              <a:buNone/>
            </a:pPr>
            <a:r>
              <a:rPr lang="en-US" sz="900" dirty="0">
                <a:solidFill>
                  <a:srgbClr val="080812"/>
                </a:solidFill>
                <a:latin typeface="Inter" pitchFamily="34" charset="0"/>
                <a:ea typeface="Inter" pitchFamily="34" charset="-122"/>
                <a:cs typeface="Inter" pitchFamily="34" charset="-120"/>
              </a:rPr>
              <a:t>Avg. reel length</a:t>
            </a:r>
            <a:endParaRPr lang="en-US" sz="900" dirty="0"/>
          </a:p>
        </p:txBody>
      </p:sp>
      <p:sp>
        <p:nvSpPr>
          <p:cNvPr id="49" name="Text 46"/>
          <p:cNvSpPr/>
          <p:nvPr/>
        </p:nvSpPr>
        <p:spPr>
          <a:xfrm>
            <a:off x="7951188" y="5421544"/>
            <a:ext cx="27075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3s</a:t>
            </a:r>
            <a:endParaRPr lang="en-US" sz="800" dirty="0"/>
          </a:p>
        </p:txBody>
      </p:sp>
      <p:sp>
        <p:nvSpPr>
          <p:cNvPr id="50" name="Text 47"/>
          <p:cNvSpPr/>
          <p:nvPr/>
        </p:nvSpPr>
        <p:spPr>
          <a:xfrm>
            <a:off x="10130082" y="5421544"/>
            <a:ext cx="336416" cy="126968"/>
          </a:xfrm>
          <a:prstGeom prst="rect">
            <a:avLst/>
          </a:prstGeom>
          <a:ln/>
        </p:spPr>
        <p:txBody>
          <a:bodyPr wrap="none" lIns="0" tIns="0" rIns="0" bIns="0" rtlCol="0" anchor="t"/>
          <a:lstStyle/>
          <a:p>
            <a:pPr algn="l" indent="0" marL="0">
              <a:lnSpc>
                <a:spcPct val="100000"/>
              </a:lnSpc>
              <a:buNone/>
            </a:pPr>
            <a:r>
              <a:rPr lang="en-US" sz="800" b="1" dirty="0">
                <a:solidFill>
                  <a:srgbClr val="413494"/>
                </a:solidFill>
                <a:latin typeface="Inter" pitchFamily="34" charset="0"/>
                <a:ea typeface="Inter" pitchFamily="34" charset="-122"/>
                <a:cs typeface="Inter" pitchFamily="34" charset="-120"/>
              </a:rPr>
              <a:t>29s</a:t>
            </a:r>
            <a:endParaRPr lang="en-US" sz="800" dirty="0"/>
          </a:p>
        </p:txBody>
      </p:sp>
      <p:sp>
        <p:nvSpPr>
          <p:cNvPr id="51" name="Text 48"/>
          <p:cNvSpPr/>
          <p:nvPr/>
        </p:nvSpPr>
        <p:spPr>
          <a:xfrm>
            <a:off x="317421" y="6389677"/>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2" name="Text 49"/>
          <p:cNvSpPr/>
          <p:nvPr/>
        </p:nvSpPr>
        <p:spPr>
          <a:xfrm>
            <a:off x="317421" y="6592826"/>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536653" y="139665"/>
            <a:ext cx="46184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4/8</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Padmavathi Jewellery mart posted 11.11%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5037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16</a:t>
            </a:r>
            <a:endParaRPr lang="en-US" sz="2999" dirty="0"/>
          </a:p>
        </p:txBody>
      </p:sp>
      <p:sp>
        <p:nvSpPr>
          <p:cNvPr id="10" name="Text 7"/>
          <p:cNvSpPr/>
          <p:nvPr/>
        </p:nvSpPr>
        <p:spPr>
          <a:xfrm>
            <a:off x="691977" y="5104124"/>
            <a:ext cx="698704"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11.11%</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62198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56</a:t>
            </a:r>
            <a:endParaRPr lang="en-US" sz="2999" dirty="0"/>
          </a:p>
        </p:txBody>
      </p:sp>
      <p:sp>
        <p:nvSpPr>
          <p:cNvPr id="13" name="Text 10"/>
          <p:cNvSpPr/>
          <p:nvPr/>
        </p:nvSpPr>
        <p:spPr>
          <a:xfrm>
            <a:off x="3590027"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6" name="Text 13"/>
          <p:cNvSpPr/>
          <p:nvPr/>
        </p:nvSpPr>
        <p:spPr>
          <a:xfrm>
            <a:off x="6488078" y="5104124"/>
            <a:ext cx="8554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70.56%</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66252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1.9</a:t>
            </a:r>
            <a:endParaRPr lang="en-US" sz="2999" dirty="0"/>
          </a:p>
        </p:txBody>
      </p:sp>
      <p:sp>
        <p:nvSpPr>
          <p:cNvPr id="19" name="Text 16"/>
          <p:cNvSpPr/>
          <p:nvPr/>
        </p:nvSpPr>
        <p:spPr>
          <a:xfrm>
            <a:off x="9386128"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36458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CaratLane Jewellery</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546671" y="139665"/>
            <a:ext cx="45180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5/8</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CaratLane Jewellery posted 3.70% less, and earned 59.14% more engagement.</a:t>
            </a:r>
            <a:endParaRPr lang="en-US" sz="3599" dirty="0"/>
          </a:p>
        </p:txBody>
      </p:sp>
      <p:sp>
        <p:nvSpPr>
          <p:cNvPr id="8" name="Text 5"/>
          <p:cNvSpPr/>
          <p:nvPr/>
        </p:nvSpPr>
        <p:spPr>
          <a:xfrm>
            <a:off x="374556" y="2558410"/>
            <a:ext cx="3797274"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Fewer posts, more engagement — quality over quantity is working.</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27005"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26</a:t>
            </a:r>
            <a:endParaRPr lang="en-US" sz="2999" dirty="0"/>
          </a:p>
        </p:txBody>
      </p:sp>
      <p:sp>
        <p:nvSpPr>
          <p:cNvPr id="11" name="Text 8"/>
          <p:cNvSpPr/>
          <p:nvPr/>
        </p:nvSpPr>
        <p:spPr>
          <a:xfrm>
            <a:off x="691977" y="5269182"/>
            <a:ext cx="619844"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3.7%</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226260"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28.8K</a:t>
            </a:r>
            <a:endParaRPr lang="en-US" sz="2999" dirty="0"/>
          </a:p>
        </p:txBody>
      </p:sp>
      <p:sp>
        <p:nvSpPr>
          <p:cNvPr id="14" name="Text 11"/>
          <p:cNvSpPr/>
          <p:nvPr/>
        </p:nvSpPr>
        <p:spPr>
          <a:xfrm>
            <a:off x="3590027" y="5269182"/>
            <a:ext cx="816248"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59.14%</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036366"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1,109</a:t>
            </a:r>
            <a:endParaRPr lang="en-US" sz="2999" dirty="0"/>
          </a:p>
        </p:txBody>
      </p:sp>
      <p:sp>
        <p:nvSpPr>
          <p:cNvPr id="17" name="Text 14"/>
          <p:cNvSpPr/>
          <p:nvPr/>
        </p:nvSpPr>
        <p:spPr>
          <a:xfrm>
            <a:off x="6488078" y="5269182"/>
            <a:ext cx="855399"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65.27%</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40520"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961.2</a:t>
            </a:r>
            <a:endParaRPr lang="en-US" sz="2999" dirty="0"/>
          </a:p>
        </p:txBody>
      </p:sp>
      <p:sp>
        <p:nvSpPr>
          <p:cNvPr id="20" name="Text 17"/>
          <p:cNvSpPr/>
          <p:nvPr/>
        </p:nvSpPr>
        <p:spPr>
          <a:xfrm>
            <a:off x="9386128" y="5269182"/>
            <a:ext cx="816248"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59.14%</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272357"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5" name="Text 2"/>
          <p:cNvSpPr/>
          <p:nvPr/>
        </p:nvSpPr>
        <p:spPr>
          <a:xfrm>
            <a:off x="11541513" y="139665"/>
            <a:ext cx="456918"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6/8</a:t>
            </a:r>
            <a:endParaRPr lang="en-US" sz="1500" dirty="0"/>
          </a:p>
        </p:txBody>
      </p:sp>
      <p:sp>
        <p:nvSpPr>
          <p:cNvPr id="6" name="Text 3"/>
          <p:cNvSpPr/>
          <p:nvPr/>
        </p:nvSpPr>
        <p:spPr>
          <a:xfrm>
            <a:off x="1422044"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7" name="Text 4"/>
          <p:cNvSpPr/>
          <p:nvPr/>
        </p:nvSpPr>
        <p:spPr>
          <a:xfrm>
            <a:off x="1422044"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8" name="Text 5"/>
          <p:cNvSpPr/>
          <p:nvPr/>
        </p:nvSpPr>
        <p:spPr>
          <a:xfrm>
            <a:off x="3064299" y="1022094"/>
            <a:ext cx="762603"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20, 2026</a:t>
            </a:r>
            <a:endParaRPr lang="en-US" sz="800" dirty="0"/>
          </a:p>
        </p:txBody>
      </p:sp>
      <p:sp>
        <p:nvSpPr>
          <p:cNvPr id="9" name="Text 6"/>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10" name="Text 7"/>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1" name="Text 8"/>
          <p:cNvSpPr/>
          <p:nvPr/>
        </p:nvSpPr>
        <p:spPr>
          <a:xfrm>
            <a:off x="1091927" y="3510672"/>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Light up your sacred moments with the elegance of silver. ✨ Discover ...</a:t>
            </a:r>
            <a:endParaRPr lang="en-US" sz="700" dirty="0"/>
          </a:p>
        </p:txBody>
      </p:sp>
      <p:sp>
        <p:nvSpPr>
          <p:cNvPr id="12" name="Text 9"/>
          <p:cNvSpPr/>
          <p:nvPr/>
        </p:nvSpPr>
        <p:spPr>
          <a:xfrm>
            <a:off x="1218895" y="3809048"/>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3" name="Text 10"/>
          <p:cNvSpPr/>
          <p:nvPr/>
        </p:nvSpPr>
        <p:spPr>
          <a:xfrm>
            <a:off x="2966792" y="3796351"/>
            <a:ext cx="498970"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2.31%</a:t>
            </a:r>
            <a:endParaRPr lang="en-US" sz="900" dirty="0"/>
          </a:p>
        </p:txBody>
      </p:sp>
      <p:sp>
        <p:nvSpPr>
          <p:cNvPr id="14" name="Text 11"/>
          <p:cNvSpPr/>
          <p:nvPr/>
        </p:nvSpPr>
        <p:spPr>
          <a:xfrm>
            <a:off x="1091927" y="4120120"/>
            <a:ext cx="34941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246</a:t>
            </a:r>
            <a:endParaRPr lang="en-US" sz="800" dirty="0"/>
          </a:p>
        </p:txBody>
      </p:sp>
      <p:sp>
        <p:nvSpPr>
          <p:cNvPr id="15" name="Text 12"/>
          <p:cNvSpPr/>
          <p:nvPr/>
        </p:nvSpPr>
        <p:spPr>
          <a:xfrm>
            <a:off x="1091927" y="4266133"/>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6" name="Text 13"/>
          <p:cNvSpPr/>
          <p:nvPr/>
        </p:nvSpPr>
        <p:spPr>
          <a:xfrm>
            <a:off x="2966792" y="4120120"/>
            <a:ext cx="2617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13</a:t>
            </a:r>
            <a:endParaRPr lang="en-US" sz="800" dirty="0"/>
          </a:p>
        </p:txBody>
      </p:sp>
      <p:sp>
        <p:nvSpPr>
          <p:cNvPr id="17" name="Text 14"/>
          <p:cNvSpPr/>
          <p:nvPr/>
        </p:nvSpPr>
        <p:spPr>
          <a:xfrm>
            <a:off x="2966792" y="4266133"/>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8" name="Text 15"/>
          <p:cNvSpPr/>
          <p:nvPr/>
        </p:nvSpPr>
        <p:spPr>
          <a:xfrm>
            <a:off x="1091927" y="4450237"/>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19" name="Text 16"/>
          <p:cNvSpPr/>
          <p:nvPr/>
        </p:nvSpPr>
        <p:spPr>
          <a:xfrm>
            <a:off x="1091927" y="4596251"/>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20" name="Text 17"/>
          <p:cNvSpPr/>
          <p:nvPr/>
        </p:nvSpPr>
        <p:spPr>
          <a:xfrm>
            <a:off x="2966792" y="4450237"/>
            <a:ext cx="32491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153</a:t>
            </a:r>
            <a:endParaRPr lang="en-US" sz="800" dirty="0"/>
          </a:p>
        </p:txBody>
      </p:sp>
      <p:sp>
        <p:nvSpPr>
          <p:cNvPr id="21" name="Text 18"/>
          <p:cNvSpPr/>
          <p:nvPr/>
        </p:nvSpPr>
        <p:spPr>
          <a:xfrm>
            <a:off x="2966792" y="4596251"/>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2" name="Text 19"/>
          <p:cNvSpPr/>
          <p:nvPr/>
        </p:nvSpPr>
        <p:spPr>
          <a:xfrm>
            <a:off x="5133683"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23" name="Text 20"/>
          <p:cNvSpPr/>
          <p:nvPr/>
        </p:nvSpPr>
        <p:spPr>
          <a:xfrm>
            <a:off x="5133683"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24" name="Text 21"/>
          <p:cNvSpPr/>
          <p:nvPr/>
        </p:nvSpPr>
        <p:spPr>
          <a:xfrm>
            <a:off x="6797860" y="1022094"/>
            <a:ext cx="74078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13, 2026</a:t>
            </a:r>
            <a:endParaRPr lang="en-US" sz="800" dirty="0"/>
          </a:p>
        </p:txBody>
      </p:sp>
      <p:sp>
        <p:nvSpPr>
          <p:cNvPr id="25" name="Text 22"/>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6" name="Text 23"/>
          <p:cNvSpPr/>
          <p:nvPr/>
        </p:nvSpPr>
        <p:spPr>
          <a:xfrm>
            <a:off x="4854353"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27" name="Text 24"/>
          <p:cNvSpPr/>
          <p:nvPr/>
        </p:nvSpPr>
        <p:spPr>
          <a:xfrm>
            <a:off x="4803566" y="3510672"/>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Add a touch of tradition and elegance to every ritual. ✨ Padmavathi J...</a:t>
            </a:r>
            <a:endParaRPr lang="en-US" sz="700" dirty="0"/>
          </a:p>
        </p:txBody>
      </p:sp>
      <p:sp>
        <p:nvSpPr>
          <p:cNvPr id="28" name="Text 25"/>
          <p:cNvSpPr/>
          <p:nvPr/>
        </p:nvSpPr>
        <p:spPr>
          <a:xfrm>
            <a:off x="4930534" y="3809048"/>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9" name="Text 26"/>
          <p:cNvSpPr/>
          <p:nvPr/>
        </p:nvSpPr>
        <p:spPr>
          <a:xfrm>
            <a:off x="6678431" y="3796351"/>
            <a:ext cx="49378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1.07%</a:t>
            </a:r>
            <a:endParaRPr lang="en-US" sz="900" dirty="0"/>
          </a:p>
        </p:txBody>
      </p:sp>
      <p:sp>
        <p:nvSpPr>
          <p:cNvPr id="30" name="Text 27"/>
          <p:cNvSpPr/>
          <p:nvPr/>
        </p:nvSpPr>
        <p:spPr>
          <a:xfrm>
            <a:off x="4803566" y="4120120"/>
            <a:ext cx="35000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605</a:t>
            </a:r>
            <a:endParaRPr lang="en-US" sz="800" dirty="0"/>
          </a:p>
        </p:txBody>
      </p:sp>
      <p:sp>
        <p:nvSpPr>
          <p:cNvPr id="31" name="Text 28"/>
          <p:cNvSpPr/>
          <p:nvPr/>
        </p:nvSpPr>
        <p:spPr>
          <a:xfrm>
            <a:off x="4803566" y="4266133"/>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2" name="Text 29"/>
          <p:cNvSpPr/>
          <p:nvPr/>
        </p:nvSpPr>
        <p:spPr>
          <a:xfrm>
            <a:off x="6678431" y="4120120"/>
            <a:ext cx="21832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a:t>
            </a:r>
            <a:endParaRPr lang="en-US" sz="800" dirty="0"/>
          </a:p>
        </p:txBody>
      </p:sp>
      <p:sp>
        <p:nvSpPr>
          <p:cNvPr id="33" name="Text 30"/>
          <p:cNvSpPr/>
          <p:nvPr/>
        </p:nvSpPr>
        <p:spPr>
          <a:xfrm>
            <a:off x="6678431" y="4266133"/>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4" name="Text 31"/>
          <p:cNvSpPr/>
          <p:nvPr/>
        </p:nvSpPr>
        <p:spPr>
          <a:xfrm>
            <a:off x="4803566" y="4450237"/>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35" name="Text 32"/>
          <p:cNvSpPr/>
          <p:nvPr/>
        </p:nvSpPr>
        <p:spPr>
          <a:xfrm>
            <a:off x="4803566" y="4596251"/>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6" name="Text 33"/>
          <p:cNvSpPr/>
          <p:nvPr/>
        </p:nvSpPr>
        <p:spPr>
          <a:xfrm>
            <a:off x="6678431" y="4450237"/>
            <a:ext cx="34722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a:t>
            </a:r>
            <a:endParaRPr lang="en-US" sz="800" dirty="0"/>
          </a:p>
        </p:txBody>
      </p:sp>
      <p:sp>
        <p:nvSpPr>
          <p:cNvPr id="37" name="Text 34"/>
          <p:cNvSpPr/>
          <p:nvPr/>
        </p:nvSpPr>
        <p:spPr>
          <a:xfrm>
            <a:off x="6678431" y="4596251"/>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8" name="Text 35"/>
          <p:cNvSpPr/>
          <p:nvPr/>
        </p:nvSpPr>
        <p:spPr>
          <a:xfrm>
            <a:off x="8845422"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39" name="Text 36"/>
          <p:cNvSpPr/>
          <p:nvPr/>
        </p:nvSpPr>
        <p:spPr>
          <a:xfrm>
            <a:off x="8845422"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40" name="Text 37"/>
          <p:cNvSpPr/>
          <p:nvPr/>
        </p:nvSpPr>
        <p:spPr>
          <a:xfrm>
            <a:off x="10485098"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41" name="Text 38"/>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2" name="Text 39"/>
          <p:cNvSpPr/>
          <p:nvPr/>
        </p:nvSpPr>
        <p:spPr>
          <a:xfrm>
            <a:off x="8566092"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43" name="Text 40"/>
          <p:cNvSpPr/>
          <p:nvPr/>
        </p:nvSpPr>
        <p:spPr>
          <a:xfrm>
            <a:off x="8515304" y="3510672"/>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Silver that shines with tradition. ✨🤍 Explore premium silver article...</a:t>
            </a:r>
            <a:endParaRPr lang="en-US" sz="700" dirty="0"/>
          </a:p>
        </p:txBody>
      </p:sp>
      <p:sp>
        <p:nvSpPr>
          <p:cNvPr id="44" name="Text 41"/>
          <p:cNvSpPr/>
          <p:nvPr/>
        </p:nvSpPr>
        <p:spPr>
          <a:xfrm>
            <a:off x="8642272" y="3809048"/>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5" name="Text 42"/>
          <p:cNvSpPr/>
          <p:nvPr/>
        </p:nvSpPr>
        <p:spPr>
          <a:xfrm>
            <a:off x="10390169" y="3796351"/>
            <a:ext cx="52564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0.89%</a:t>
            </a:r>
            <a:endParaRPr lang="en-US" sz="900" dirty="0"/>
          </a:p>
        </p:txBody>
      </p:sp>
      <p:sp>
        <p:nvSpPr>
          <p:cNvPr id="46" name="Text 43"/>
          <p:cNvSpPr/>
          <p:nvPr/>
        </p:nvSpPr>
        <p:spPr>
          <a:xfrm>
            <a:off x="8515304" y="4120120"/>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47" name="Text 44"/>
          <p:cNvSpPr/>
          <p:nvPr/>
        </p:nvSpPr>
        <p:spPr>
          <a:xfrm>
            <a:off x="8515304" y="4266133"/>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8" name="Text 45"/>
          <p:cNvSpPr/>
          <p:nvPr/>
        </p:nvSpPr>
        <p:spPr>
          <a:xfrm>
            <a:off x="10390169" y="4120120"/>
            <a:ext cx="2155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a:t>
            </a:r>
            <a:endParaRPr lang="en-US" sz="800" dirty="0"/>
          </a:p>
        </p:txBody>
      </p:sp>
      <p:sp>
        <p:nvSpPr>
          <p:cNvPr id="49" name="Text 46"/>
          <p:cNvSpPr/>
          <p:nvPr/>
        </p:nvSpPr>
        <p:spPr>
          <a:xfrm>
            <a:off x="10390169" y="4266133"/>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50" name="Text 47"/>
          <p:cNvSpPr/>
          <p:nvPr/>
        </p:nvSpPr>
        <p:spPr>
          <a:xfrm>
            <a:off x="8515304" y="4450237"/>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1" name="Text 48"/>
          <p:cNvSpPr/>
          <p:nvPr/>
        </p:nvSpPr>
        <p:spPr>
          <a:xfrm>
            <a:off x="8515304" y="4596251"/>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2" name="Text 49"/>
          <p:cNvSpPr/>
          <p:nvPr/>
        </p:nvSpPr>
        <p:spPr>
          <a:xfrm>
            <a:off x="10390169" y="4450237"/>
            <a:ext cx="35035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458</a:t>
            </a:r>
            <a:endParaRPr lang="en-US" sz="800" dirty="0"/>
          </a:p>
        </p:txBody>
      </p:sp>
      <p:sp>
        <p:nvSpPr>
          <p:cNvPr id="53" name="Text 50"/>
          <p:cNvSpPr/>
          <p:nvPr/>
        </p:nvSpPr>
        <p:spPr>
          <a:xfrm>
            <a:off x="10390169" y="4596251"/>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4" name="Text 51"/>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5" name="Text 52"/>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36458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CaratLane Jewellery</a:t>
            </a:r>
            <a:endParaRPr lang="en-US" sz="1800" dirty="0"/>
          </a:p>
        </p:txBody>
      </p:sp>
      <p:sp>
        <p:nvSpPr>
          <p:cNvPr id="4" name="Text 1"/>
          <p:cNvSpPr/>
          <p:nvPr/>
        </p:nvSpPr>
        <p:spPr>
          <a:xfrm>
            <a:off x="5272357"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5" name="Text 2"/>
          <p:cNvSpPr/>
          <p:nvPr/>
        </p:nvSpPr>
        <p:spPr>
          <a:xfrm>
            <a:off x="11551829" y="139665"/>
            <a:ext cx="44659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7/8</a:t>
            </a:r>
            <a:endParaRPr lang="en-US" sz="1500" dirty="0"/>
          </a:p>
        </p:txBody>
      </p:sp>
      <p:sp>
        <p:nvSpPr>
          <p:cNvPr id="6" name="Text 3"/>
          <p:cNvSpPr/>
          <p:nvPr/>
        </p:nvSpPr>
        <p:spPr>
          <a:xfrm>
            <a:off x="1422044" y="1015746"/>
            <a:ext cx="1220805"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CaratLane - A T...</a:t>
            </a:r>
            <a:endParaRPr lang="en-US" sz="1000" dirty="0"/>
          </a:p>
        </p:txBody>
      </p:sp>
      <p:sp>
        <p:nvSpPr>
          <p:cNvPr id="7" name="Text 4"/>
          <p:cNvSpPr/>
          <p:nvPr/>
        </p:nvSpPr>
        <p:spPr>
          <a:xfrm>
            <a:off x="1422044" y="1187153"/>
            <a:ext cx="8608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1656527 followers</a:t>
            </a:r>
            <a:endParaRPr lang="en-US" sz="650" dirty="0"/>
          </a:p>
        </p:txBody>
      </p:sp>
      <p:sp>
        <p:nvSpPr>
          <p:cNvPr id="8" name="Text 5"/>
          <p:cNvSpPr/>
          <p:nvPr/>
        </p:nvSpPr>
        <p:spPr>
          <a:xfrm>
            <a:off x="3085031" y="1022094"/>
            <a:ext cx="74192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21, 2026</a:t>
            </a:r>
            <a:endParaRPr lang="en-US" sz="800" dirty="0"/>
          </a:p>
        </p:txBody>
      </p:sp>
      <p:sp>
        <p:nvSpPr>
          <p:cNvPr id="9" name="Text 6"/>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10" name="Text 7"/>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1" name="Text 8"/>
          <p:cNvSpPr/>
          <p:nvPr/>
        </p:nvSpPr>
        <p:spPr>
          <a:xfrm>
            <a:off x="1091927" y="3510672"/>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This Aadi month , celebrate new beginnings with the glow of 22KT gold ...</a:t>
            </a:r>
            <a:endParaRPr lang="en-US" sz="700" dirty="0"/>
          </a:p>
        </p:txBody>
      </p:sp>
      <p:sp>
        <p:nvSpPr>
          <p:cNvPr id="12" name="Text 9"/>
          <p:cNvSpPr/>
          <p:nvPr/>
        </p:nvSpPr>
        <p:spPr>
          <a:xfrm>
            <a:off x="1218895" y="3809048"/>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3" name="Text 10"/>
          <p:cNvSpPr/>
          <p:nvPr/>
        </p:nvSpPr>
        <p:spPr>
          <a:xfrm>
            <a:off x="2966792" y="3796351"/>
            <a:ext cx="522628"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0.52%</a:t>
            </a:r>
            <a:endParaRPr lang="en-US" sz="900" dirty="0"/>
          </a:p>
        </p:txBody>
      </p:sp>
      <p:sp>
        <p:nvSpPr>
          <p:cNvPr id="14" name="Text 11"/>
          <p:cNvSpPr/>
          <p:nvPr/>
        </p:nvSpPr>
        <p:spPr>
          <a:xfrm>
            <a:off x="1091927" y="4120120"/>
            <a:ext cx="40788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2.6M</a:t>
            </a:r>
            <a:endParaRPr lang="en-US" sz="800" dirty="0"/>
          </a:p>
        </p:txBody>
      </p:sp>
      <p:sp>
        <p:nvSpPr>
          <p:cNvPr id="15" name="Text 12"/>
          <p:cNvSpPr/>
          <p:nvPr/>
        </p:nvSpPr>
        <p:spPr>
          <a:xfrm>
            <a:off x="1091927" y="4266133"/>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6" name="Text 13"/>
          <p:cNvSpPr/>
          <p:nvPr/>
        </p:nvSpPr>
        <p:spPr>
          <a:xfrm>
            <a:off x="2966792" y="4120120"/>
            <a:ext cx="42509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8,501</a:t>
            </a:r>
            <a:endParaRPr lang="en-US" sz="800" dirty="0"/>
          </a:p>
        </p:txBody>
      </p:sp>
      <p:sp>
        <p:nvSpPr>
          <p:cNvPr id="17" name="Text 14"/>
          <p:cNvSpPr/>
          <p:nvPr/>
        </p:nvSpPr>
        <p:spPr>
          <a:xfrm>
            <a:off x="2966792" y="4266133"/>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8" name="Text 15"/>
          <p:cNvSpPr/>
          <p:nvPr/>
        </p:nvSpPr>
        <p:spPr>
          <a:xfrm>
            <a:off x="1091927" y="4450237"/>
            <a:ext cx="28230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62</a:t>
            </a:r>
            <a:endParaRPr lang="en-US" sz="800" dirty="0"/>
          </a:p>
        </p:txBody>
      </p:sp>
      <p:sp>
        <p:nvSpPr>
          <p:cNvPr id="19" name="Text 16"/>
          <p:cNvSpPr/>
          <p:nvPr/>
        </p:nvSpPr>
        <p:spPr>
          <a:xfrm>
            <a:off x="1091927" y="4596251"/>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20" name="Text 17"/>
          <p:cNvSpPr/>
          <p:nvPr/>
        </p:nvSpPr>
        <p:spPr>
          <a:xfrm>
            <a:off x="2966792" y="4450237"/>
            <a:ext cx="38770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1.6M</a:t>
            </a:r>
            <a:endParaRPr lang="en-US" sz="800" dirty="0"/>
          </a:p>
        </p:txBody>
      </p:sp>
      <p:sp>
        <p:nvSpPr>
          <p:cNvPr id="21" name="Text 18"/>
          <p:cNvSpPr/>
          <p:nvPr/>
        </p:nvSpPr>
        <p:spPr>
          <a:xfrm>
            <a:off x="2966792" y="4596251"/>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2" name="Text 19"/>
          <p:cNvSpPr/>
          <p:nvPr/>
        </p:nvSpPr>
        <p:spPr>
          <a:xfrm>
            <a:off x="5133683" y="1015746"/>
            <a:ext cx="1220805"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CaratLane - A T...</a:t>
            </a:r>
            <a:endParaRPr lang="en-US" sz="1000" dirty="0"/>
          </a:p>
        </p:txBody>
      </p:sp>
      <p:sp>
        <p:nvSpPr>
          <p:cNvPr id="23" name="Text 20"/>
          <p:cNvSpPr/>
          <p:nvPr/>
        </p:nvSpPr>
        <p:spPr>
          <a:xfrm>
            <a:off x="5133683" y="1187153"/>
            <a:ext cx="8608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1656527 followers</a:t>
            </a:r>
            <a:endParaRPr lang="en-US" sz="650" dirty="0"/>
          </a:p>
        </p:txBody>
      </p:sp>
      <p:sp>
        <p:nvSpPr>
          <p:cNvPr id="24" name="Text 21"/>
          <p:cNvSpPr/>
          <p:nvPr/>
        </p:nvSpPr>
        <p:spPr>
          <a:xfrm>
            <a:off x="6775244"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25" name="Text 22"/>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6" name="Text 23"/>
          <p:cNvSpPr/>
          <p:nvPr/>
        </p:nvSpPr>
        <p:spPr>
          <a:xfrm>
            <a:off x="4854353" y="1479180"/>
            <a:ext cx="801196"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carousel album</a:t>
            </a:r>
            <a:endParaRPr lang="en-US" sz="700" dirty="0"/>
          </a:p>
        </p:txBody>
      </p:sp>
      <p:sp>
        <p:nvSpPr>
          <p:cNvPr id="27" name="Text 24"/>
          <p:cNvSpPr/>
          <p:nvPr/>
        </p:nvSpPr>
        <p:spPr>
          <a:xfrm>
            <a:off x="4803566" y="3510672"/>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Celebrate every little victory with designs made to shine with you.💜✨</a:t>
            </a:r>
            <a:endParaRPr lang="en-US" sz="700" dirty="0"/>
          </a:p>
        </p:txBody>
      </p:sp>
      <p:sp>
        <p:nvSpPr>
          <p:cNvPr id="28" name="Text 25"/>
          <p:cNvSpPr/>
          <p:nvPr/>
        </p:nvSpPr>
        <p:spPr>
          <a:xfrm>
            <a:off x="4930534" y="3809048"/>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9" name="Text 26"/>
          <p:cNvSpPr/>
          <p:nvPr/>
        </p:nvSpPr>
        <p:spPr>
          <a:xfrm>
            <a:off x="6678431" y="3796351"/>
            <a:ext cx="496515"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0.14%</a:t>
            </a:r>
            <a:endParaRPr lang="en-US" sz="900" dirty="0"/>
          </a:p>
        </p:txBody>
      </p:sp>
      <p:sp>
        <p:nvSpPr>
          <p:cNvPr id="30" name="Text 27"/>
          <p:cNvSpPr/>
          <p:nvPr/>
        </p:nvSpPr>
        <p:spPr>
          <a:xfrm>
            <a:off x="4803566" y="4120120"/>
            <a:ext cx="46670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169.1K</a:t>
            </a:r>
            <a:endParaRPr lang="en-US" sz="800" dirty="0"/>
          </a:p>
        </p:txBody>
      </p:sp>
      <p:sp>
        <p:nvSpPr>
          <p:cNvPr id="31" name="Text 28"/>
          <p:cNvSpPr/>
          <p:nvPr/>
        </p:nvSpPr>
        <p:spPr>
          <a:xfrm>
            <a:off x="4803566" y="4266133"/>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2" name="Text 29"/>
          <p:cNvSpPr/>
          <p:nvPr/>
        </p:nvSpPr>
        <p:spPr>
          <a:xfrm>
            <a:off x="6678431" y="4120120"/>
            <a:ext cx="44815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2,346</a:t>
            </a:r>
            <a:endParaRPr lang="en-US" sz="800" dirty="0"/>
          </a:p>
        </p:txBody>
      </p:sp>
      <p:sp>
        <p:nvSpPr>
          <p:cNvPr id="33" name="Text 30"/>
          <p:cNvSpPr/>
          <p:nvPr/>
        </p:nvSpPr>
        <p:spPr>
          <a:xfrm>
            <a:off x="6678431" y="4266133"/>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4" name="Text 31"/>
          <p:cNvSpPr/>
          <p:nvPr/>
        </p:nvSpPr>
        <p:spPr>
          <a:xfrm>
            <a:off x="4803566" y="4450237"/>
            <a:ext cx="2795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52</a:t>
            </a:r>
            <a:endParaRPr lang="en-US" sz="800" dirty="0"/>
          </a:p>
        </p:txBody>
      </p:sp>
      <p:sp>
        <p:nvSpPr>
          <p:cNvPr id="35" name="Text 32"/>
          <p:cNvSpPr/>
          <p:nvPr/>
        </p:nvSpPr>
        <p:spPr>
          <a:xfrm>
            <a:off x="4803566" y="4596251"/>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6" name="Text 33"/>
          <p:cNvSpPr/>
          <p:nvPr/>
        </p:nvSpPr>
        <p:spPr>
          <a:xfrm>
            <a:off x="6678431" y="4450237"/>
            <a:ext cx="48624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153.7K</a:t>
            </a:r>
            <a:endParaRPr lang="en-US" sz="800" dirty="0"/>
          </a:p>
        </p:txBody>
      </p:sp>
      <p:sp>
        <p:nvSpPr>
          <p:cNvPr id="37" name="Text 34"/>
          <p:cNvSpPr/>
          <p:nvPr/>
        </p:nvSpPr>
        <p:spPr>
          <a:xfrm>
            <a:off x="6678431" y="4596251"/>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8" name="Text 35"/>
          <p:cNvSpPr/>
          <p:nvPr/>
        </p:nvSpPr>
        <p:spPr>
          <a:xfrm>
            <a:off x="8845422" y="1015746"/>
            <a:ext cx="1220805"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CaratLane - A T...</a:t>
            </a:r>
            <a:endParaRPr lang="en-US" sz="1000" dirty="0"/>
          </a:p>
        </p:txBody>
      </p:sp>
      <p:sp>
        <p:nvSpPr>
          <p:cNvPr id="39" name="Text 36"/>
          <p:cNvSpPr/>
          <p:nvPr/>
        </p:nvSpPr>
        <p:spPr>
          <a:xfrm>
            <a:off x="8845422" y="1187153"/>
            <a:ext cx="8608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1656527 followers</a:t>
            </a:r>
            <a:endParaRPr lang="en-US" sz="650" dirty="0"/>
          </a:p>
        </p:txBody>
      </p:sp>
      <p:sp>
        <p:nvSpPr>
          <p:cNvPr id="40" name="Text 37"/>
          <p:cNvSpPr/>
          <p:nvPr/>
        </p:nvSpPr>
        <p:spPr>
          <a:xfrm>
            <a:off x="10486189" y="1022094"/>
            <a:ext cx="76419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03, 2026</a:t>
            </a:r>
            <a:endParaRPr lang="en-US" sz="800" dirty="0"/>
          </a:p>
        </p:txBody>
      </p:sp>
      <p:sp>
        <p:nvSpPr>
          <p:cNvPr id="41" name="Text 38"/>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2" name="Text 39"/>
          <p:cNvSpPr/>
          <p:nvPr/>
        </p:nvSpPr>
        <p:spPr>
          <a:xfrm>
            <a:off x="8566092"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43" name="Text 40"/>
          <p:cNvSpPr/>
          <p:nvPr/>
        </p:nvSpPr>
        <p:spPr>
          <a:xfrm>
            <a:off x="8515304" y="3510672"/>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He went all the way to the top, but honestly? The real showstopper is ...</a:t>
            </a:r>
            <a:endParaRPr lang="en-US" sz="700" dirty="0"/>
          </a:p>
        </p:txBody>
      </p:sp>
      <p:sp>
        <p:nvSpPr>
          <p:cNvPr id="44" name="Text 41"/>
          <p:cNvSpPr/>
          <p:nvPr/>
        </p:nvSpPr>
        <p:spPr>
          <a:xfrm>
            <a:off x="8642272" y="3809048"/>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5" name="Text 42"/>
          <p:cNvSpPr/>
          <p:nvPr/>
        </p:nvSpPr>
        <p:spPr>
          <a:xfrm>
            <a:off x="10390169" y="3796351"/>
            <a:ext cx="491215"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0.12%</a:t>
            </a:r>
            <a:endParaRPr lang="en-US" sz="900" dirty="0"/>
          </a:p>
        </p:txBody>
      </p:sp>
      <p:sp>
        <p:nvSpPr>
          <p:cNvPr id="46" name="Text 43"/>
          <p:cNvSpPr/>
          <p:nvPr/>
        </p:nvSpPr>
        <p:spPr>
          <a:xfrm>
            <a:off x="8515304" y="4120120"/>
            <a:ext cx="46740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118.7K</a:t>
            </a:r>
            <a:endParaRPr lang="en-US" sz="800" dirty="0"/>
          </a:p>
        </p:txBody>
      </p:sp>
      <p:sp>
        <p:nvSpPr>
          <p:cNvPr id="47" name="Text 44"/>
          <p:cNvSpPr/>
          <p:nvPr/>
        </p:nvSpPr>
        <p:spPr>
          <a:xfrm>
            <a:off x="8515304" y="4266133"/>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8" name="Text 45"/>
          <p:cNvSpPr/>
          <p:nvPr/>
        </p:nvSpPr>
        <p:spPr>
          <a:xfrm>
            <a:off x="10390169" y="4120120"/>
            <a:ext cx="42569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2,018</a:t>
            </a:r>
            <a:endParaRPr lang="en-US" sz="800" dirty="0"/>
          </a:p>
        </p:txBody>
      </p:sp>
      <p:sp>
        <p:nvSpPr>
          <p:cNvPr id="49" name="Text 46"/>
          <p:cNvSpPr/>
          <p:nvPr/>
        </p:nvSpPr>
        <p:spPr>
          <a:xfrm>
            <a:off x="10390169" y="4266133"/>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50" name="Text 47"/>
          <p:cNvSpPr/>
          <p:nvPr/>
        </p:nvSpPr>
        <p:spPr>
          <a:xfrm>
            <a:off x="8515304" y="4450237"/>
            <a:ext cx="28032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22</a:t>
            </a:r>
            <a:endParaRPr lang="en-US" sz="800" dirty="0"/>
          </a:p>
        </p:txBody>
      </p:sp>
      <p:sp>
        <p:nvSpPr>
          <p:cNvPr id="51" name="Text 48"/>
          <p:cNvSpPr/>
          <p:nvPr/>
        </p:nvSpPr>
        <p:spPr>
          <a:xfrm>
            <a:off x="8515304" y="4596251"/>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2" name="Text 49"/>
          <p:cNvSpPr/>
          <p:nvPr/>
        </p:nvSpPr>
        <p:spPr>
          <a:xfrm>
            <a:off x="10390169" y="4450237"/>
            <a:ext cx="48069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107.9K</a:t>
            </a:r>
            <a:endParaRPr lang="en-US" sz="800" dirty="0"/>
          </a:p>
        </p:txBody>
      </p:sp>
      <p:sp>
        <p:nvSpPr>
          <p:cNvPr id="53" name="Text 50"/>
          <p:cNvSpPr/>
          <p:nvPr/>
        </p:nvSpPr>
        <p:spPr>
          <a:xfrm>
            <a:off x="10390169" y="4596251"/>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4" name="Text 51"/>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5" name="Text 52"/>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541811" y="139665"/>
            <a:ext cx="45663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8/8</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3334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02 Jul 2026 - 31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15336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 Jun 2026 - 1 Jul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064897"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Profiles Compared</a:t>
            </a:r>
            <a:endParaRPr lang="en-US" sz="800" dirty="0"/>
          </a:p>
        </p:txBody>
      </p:sp>
      <p:sp>
        <p:nvSpPr>
          <p:cNvPr id="15" name="Text 12"/>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6" name="Text 13"/>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7" name="Text 14"/>
          <p:cNvSpPr/>
          <p:nvPr/>
        </p:nvSpPr>
        <p:spPr>
          <a:xfrm>
            <a:off x="4266133" y="3212297"/>
            <a:ext cx="202760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interactions on the organic posts</a:t>
            </a:r>
            <a:endParaRPr lang="en-US" sz="700" dirty="0"/>
          </a:p>
        </p:txBody>
      </p:sp>
      <p:sp>
        <p:nvSpPr>
          <p:cNvPr id="18" name="Text 15"/>
          <p:cNvSpPr/>
          <p:nvPr/>
        </p:nvSpPr>
        <p:spPr>
          <a:xfrm>
            <a:off x="4266133" y="3447188"/>
            <a:ext cx="1015597"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a:t>
            </a:r>
            <a:endParaRPr lang="en-US" sz="800" dirty="0"/>
          </a:p>
        </p:txBody>
      </p:sp>
      <p:sp>
        <p:nvSpPr>
          <p:cNvPr id="19" name="Text 16"/>
          <p:cNvSpPr/>
          <p:nvPr/>
        </p:nvSpPr>
        <p:spPr>
          <a:xfrm>
            <a:off x="4266133" y="3694776"/>
            <a:ext cx="309079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the audience size, expressed as a percentage</a:t>
            </a:r>
            <a:endParaRPr lang="en-US" sz="700" dirty="0"/>
          </a:p>
        </p:txBody>
      </p:sp>
      <p:sp>
        <p:nvSpPr>
          <p:cNvPr id="20" name="Text 17"/>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1" name="Text 18"/>
          <p:cNvSpPr/>
          <p:nvPr/>
        </p:nvSpPr>
        <p:spPr>
          <a:xfrm>
            <a:off x="4266133" y="4177255"/>
            <a:ext cx="2202713"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the content</a:t>
            </a:r>
            <a:endParaRPr lang="en-US" sz="700" dirty="0"/>
          </a:p>
        </p:txBody>
      </p:sp>
      <p:sp>
        <p:nvSpPr>
          <p:cNvPr id="22" name="Text 19"/>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3" name="Text 20"/>
          <p:cNvSpPr/>
          <p:nvPr/>
        </p:nvSpPr>
        <p:spPr>
          <a:xfrm>
            <a:off x="4266133" y="4659735"/>
            <a:ext cx="219103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the content was displayed</a:t>
            </a:r>
            <a:endParaRPr lang="en-US" sz="700" dirty="0"/>
          </a:p>
        </p:txBody>
      </p:sp>
      <p:sp>
        <p:nvSpPr>
          <p:cNvPr id="24" name="Text 21"/>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5" name="Text 22"/>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6" name="Text 23"/>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7" name="Text 24"/>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8" name="Text 25"/>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29" name="Text 26"/>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0" name="Text 27"/>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1" name="Text 2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2" name="Text 29"/>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2026-08-01T04:15:14Z</dcterms:created>
  <dcterms:modified xsi:type="dcterms:W3CDTF">2026-08-01T04:15:14Z</dcterms:modified>
</cp:coreProperties>
</file>