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949072"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PUKHRAJJEWELLS_SILVERNGP</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767921"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@pukhrajjewells_silverngp</a:t>
            </a:r>
            <a:endParaRPr lang="en-US" sz="1000" dirty="0"/>
          </a:p>
        </p:txBody>
      </p:sp>
      <p:sp>
        <p:nvSpPr>
          <p:cNvPr id="7" name="Text 4"/>
          <p:cNvSpPr/>
          <p:nvPr/>
        </p:nvSpPr>
        <p:spPr>
          <a:xfrm>
            <a:off x="2174232"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174232"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4077665"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077665"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6029504"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29504"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SILVANA's Instagram profile experienced a dynamic growth phase highlighted by significant increases in engagement and reach. The follower base grew modestly by 504 new followers, representing a growth rate of 0.85%.Notably, the posting activity more than doubled, with 55 posts made compared to just 21 in the previous period, predominantly consisting of reels. This surge in content production drove remarkable enhancements in audience interaction, with total engagement soaring to 178,707 from 22,743 previously, and average engagement per post nearly tripling to 3,249.22.Likes and comments also rose considerably, indicating strong audience involvement. The profile's content reached over 6.7 million accounts, a vast improvement over 990,430 before, leading to over 10.7 million total impressions and an engagement rate per post at 5.41%, significantly up from 1.82%.These factors contributed to elevated earned media values, underscoring the increased brand exposure and influence during this timeframe. Overall, SILVANA's strategic increase in posting frequency, especially with reels, effectively enhanced visibility and audience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19668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5.41 %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106977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197.29%</a:t>
            </a:r>
            <a:endParaRPr lang="en-US" sz="1800" dirty="0"/>
          </a:p>
        </p:txBody>
      </p:sp>
      <p:sp>
        <p:nvSpPr>
          <p:cNvPr id="10" name="Text 7"/>
          <p:cNvSpPr/>
          <p:nvPr/>
        </p:nvSpPr>
        <p:spPr>
          <a:xfrm>
            <a:off x="4547546" y="3916971"/>
            <a:ext cx="199953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10.8M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3" name="Text 10"/>
          <p:cNvSpPr/>
          <p:nvPr/>
        </p:nvSpPr>
        <p:spPr>
          <a:xfrm>
            <a:off x="8752378" y="3916971"/>
            <a:ext cx="167870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6.7M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161.90% more, and got 685.77% more engagement.</a:t>
            </a:r>
            <a:endParaRPr lang="en-US" sz="3599" dirty="0"/>
          </a:p>
        </p:txBody>
      </p:sp>
      <p:sp>
        <p:nvSpPr>
          <p:cNvPr id="8" name="Text 5"/>
          <p:cNvSpPr/>
          <p:nvPr/>
        </p:nvSpPr>
        <p:spPr>
          <a:xfrm>
            <a:off x="374556" y="2558410"/>
            <a:ext cx="465827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4.2x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11754"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55</a:t>
            </a:r>
            <a:endParaRPr lang="en-US" sz="2999" dirty="0"/>
          </a:p>
        </p:txBody>
      </p:sp>
      <p:sp>
        <p:nvSpPr>
          <p:cNvPr id="11" name="Text 8"/>
          <p:cNvSpPr/>
          <p:nvPr/>
        </p:nvSpPr>
        <p:spPr>
          <a:xfrm>
            <a:off x="691977" y="5269182"/>
            <a:ext cx="795604"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161.9%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4213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178.7K</a:t>
            </a:r>
            <a:endParaRPr lang="en-US" sz="2999" dirty="0"/>
          </a:p>
        </p:txBody>
      </p:sp>
      <p:sp>
        <p:nvSpPr>
          <p:cNvPr id="14" name="Text 11"/>
          <p:cNvSpPr/>
          <p:nvPr/>
        </p:nvSpPr>
        <p:spPr>
          <a:xfrm>
            <a:off x="3590027"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21696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3,249</a:t>
            </a:r>
            <a:endParaRPr lang="en-US" sz="2999" dirty="0"/>
          </a:p>
        </p:txBody>
      </p:sp>
      <p:sp>
        <p:nvSpPr>
          <p:cNvPr id="17" name="Text 14"/>
          <p:cNvSpPr/>
          <p:nvPr/>
        </p:nvSpPr>
        <p:spPr>
          <a:xfrm>
            <a:off x="6488078" y="5269182"/>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7176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5,957</a:t>
            </a:r>
            <a:endParaRPr lang="en-US" sz="2999" dirty="0"/>
          </a:p>
        </p:txBody>
      </p:sp>
      <p:sp>
        <p:nvSpPr>
          <p:cNvPr id="20" name="Text 17"/>
          <p:cNvSpPr/>
          <p:nvPr/>
        </p:nvSpPr>
        <p:spPr>
          <a:xfrm>
            <a:off x="9386128"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37645" y="3237690"/>
            <a:ext cx="276751"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55</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6" name="Text 3"/>
          <p:cNvSpPr/>
          <p:nvPr/>
        </p:nvSpPr>
        <p:spPr>
          <a:xfrm>
            <a:off x="1422044"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7" name="Text 4"/>
          <p:cNvSpPr/>
          <p:nvPr/>
        </p:nvSpPr>
        <p:spPr>
          <a:xfrm>
            <a:off x="3061621"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Chandi hali ho jae… uska kala sach 😎✅ Sabko lagta hai silver sirf sa...</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3583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175.26%</a:t>
            </a:r>
            <a:endParaRPr lang="en-US" sz="900" dirty="0"/>
          </a:p>
        </p:txBody>
      </p:sp>
      <p:sp>
        <p:nvSpPr>
          <p:cNvPr id="13" name="Text 10"/>
          <p:cNvSpPr/>
          <p:nvPr/>
        </p:nvSpPr>
        <p:spPr>
          <a:xfrm>
            <a:off x="1091927" y="4862884"/>
            <a:ext cx="39826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998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104.6K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225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0734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22" name="Text 19"/>
          <p:cNvSpPr/>
          <p:nvPr/>
        </p:nvSpPr>
        <p:spPr>
          <a:xfrm>
            <a:off x="5133683"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23" name="Text 20"/>
          <p:cNvSpPr/>
          <p:nvPr/>
        </p:nvSpPr>
        <p:spPr>
          <a:xfrm>
            <a:off x="6739435" y="1022094"/>
            <a:ext cx="79920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30,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BREAKING: Historic Gold Rate Update! 📉😱 आज Gold Rate में एक और ब...</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056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9.82%</a:t>
            </a:r>
            <a:endParaRPr lang="en-US" sz="900" dirty="0"/>
          </a:p>
        </p:txBody>
      </p:sp>
      <p:sp>
        <p:nvSpPr>
          <p:cNvPr id="29" name="Text 26"/>
          <p:cNvSpPr/>
          <p:nvPr/>
        </p:nvSpPr>
        <p:spPr>
          <a:xfrm>
            <a:off x="4803566" y="4862884"/>
            <a:ext cx="5121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478.5K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427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5,789</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278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105</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4878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298.1K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38" name="Text 35"/>
          <p:cNvSpPr/>
          <p:nvPr/>
        </p:nvSpPr>
        <p:spPr>
          <a:xfrm>
            <a:off x="8845422"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39" name="Text 36"/>
          <p:cNvSpPr/>
          <p:nvPr/>
        </p:nvSpPr>
        <p:spPr>
          <a:xfrm>
            <a:off x="10456431"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HISTORIC DROP IN GOLD RATE! 💥💥 At the beginning of the year, g...</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8.49%</a:t>
            </a:r>
            <a:endParaRPr lang="en-US" sz="900" dirty="0"/>
          </a:p>
        </p:txBody>
      </p:sp>
      <p:sp>
        <p:nvSpPr>
          <p:cNvPr id="45" name="Text 42"/>
          <p:cNvSpPr/>
          <p:nvPr/>
        </p:nvSpPr>
        <p:spPr>
          <a:xfrm>
            <a:off x="8515304" y="4862884"/>
            <a:ext cx="52052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346.2K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426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5,029</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842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8446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215.7K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173.9K Total Organic Likes — a volatile period.</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2337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173.9K</a:t>
            </a:r>
            <a:endParaRPr lang="en-US" sz="2399" dirty="0"/>
          </a:p>
        </p:txBody>
      </p:sp>
      <p:sp>
        <p:nvSpPr>
          <p:cNvPr id="11" name="Text 8"/>
          <p:cNvSpPr/>
          <p:nvPr/>
        </p:nvSpPr>
        <p:spPr>
          <a:xfrm>
            <a:off x="526918" y="4754961"/>
            <a:ext cx="81254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705.34%</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67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4,761</a:t>
            </a:r>
            <a:endParaRPr lang="en-US" sz="2399" dirty="0"/>
          </a:p>
        </p:txBody>
      </p:sp>
      <p:sp>
        <p:nvSpPr>
          <p:cNvPr id="14" name="Text 11"/>
          <p:cNvSpPr/>
          <p:nvPr/>
        </p:nvSpPr>
        <p:spPr>
          <a:xfrm>
            <a:off x="3336091" y="4754961"/>
            <a:ext cx="736589"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316.17%</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3667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1.7</a:t>
            </a:r>
            <a:endParaRPr lang="en-US" sz="2999" dirty="0"/>
          </a:p>
        </p:txBody>
      </p:sp>
      <p:sp>
        <p:nvSpPr>
          <p:cNvPr id="10" name="Text 7"/>
          <p:cNvSpPr/>
          <p:nvPr/>
        </p:nvSpPr>
        <p:spPr>
          <a:xfrm>
            <a:off x="691977" y="4088378"/>
            <a:ext cx="81104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15.72%</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21696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3,249</a:t>
            </a:r>
            <a:endParaRPr lang="en-US" sz="2999" dirty="0"/>
          </a:p>
        </p:txBody>
      </p:sp>
      <p:sp>
        <p:nvSpPr>
          <p:cNvPr id="13" name="Text 10"/>
          <p:cNvSpPr/>
          <p:nvPr/>
        </p:nvSpPr>
        <p:spPr>
          <a:xfrm>
            <a:off x="4555978" y="4088378"/>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122.3K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13959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122.3K</a:t>
            </a:r>
            <a:endParaRPr lang="en-US" sz="2399" dirty="0"/>
          </a:p>
        </p:txBody>
      </p:sp>
      <p:sp>
        <p:nvSpPr>
          <p:cNvPr id="11" name="Text 8"/>
          <p:cNvSpPr/>
          <p:nvPr/>
        </p:nvSpPr>
        <p:spPr>
          <a:xfrm>
            <a:off x="526918" y="4653386"/>
            <a:ext cx="80734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579.02%</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17818" y="3237690"/>
            <a:ext cx="39657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6.7M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196.3K Avg Views / Post — a volatile period.</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38102"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196.3K</a:t>
            </a:r>
            <a:endParaRPr lang="en-US" sz="2399" dirty="0"/>
          </a:p>
        </p:txBody>
      </p:sp>
      <p:sp>
        <p:nvSpPr>
          <p:cNvPr id="11" name="Text 8"/>
          <p:cNvSpPr/>
          <p:nvPr/>
        </p:nvSpPr>
        <p:spPr>
          <a:xfrm>
            <a:off x="526918" y="4653386"/>
            <a:ext cx="7867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159.26%</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504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7327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504</a:t>
            </a:r>
            <a:endParaRPr lang="en-US" sz="2399" dirty="0"/>
          </a:p>
        </p:txBody>
      </p:sp>
      <p:sp>
        <p:nvSpPr>
          <p:cNvPr id="11" name="Text 8"/>
          <p:cNvSpPr/>
          <p:nvPr/>
        </p:nvSpPr>
        <p:spPr>
          <a:xfrm>
            <a:off x="526918" y="4754961"/>
            <a:ext cx="7179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64.73%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61763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0.8</a:t>
            </a:r>
            <a:endParaRPr lang="en-US" sz="2399" dirty="0"/>
          </a:p>
        </p:txBody>
      </p:sp>
      <p:sp>
        <p:nvSpPr>
          <p:cNvPr id="14" name="Text 11"/>
          <p:cNvSpPr/>
          <p:nvPr/>
        </p:nvSpPr>
        <p:spPr>
          <a:xfrm>
            <a:off x="3336091" y="4754961"/>
            <a:ext cx="62574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65.6%</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5781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55</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2026-07-19T06:19:24Z</dcterms:created>
  <dcterms:modified xsi:type="dcterms:W3CDTF">2026-07-19T06:19:24Z</dcterms:modified>
</cp:coreProperties>
</file>