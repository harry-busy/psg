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065174"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TIFFANYANDCO</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03704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@tiffanyandco</a:t>
            </a:r>
            <a:endParaRPr lang="en-US" sz="1000" dirty="0"/>
          </a:p>
        </p:txBody>
      </p:sp>
      <p:sp>
        <p:nvSpPr>
          <p:cNvPr id="7" name="Text 4"/>
          <p:cNvSpPr/>
          <p:nvPr/>
        </p:nvSpPr>
        <p:spPr>
          <a:xfrm>
            <a:off x="1443371"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1443371"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3346804"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3346804"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5298643"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5298643"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Tiffany&amp;Co.'s Instagram profile saw a steady rise in its follower base, reaching over 16.8 million followers, although the growth rate slightly slowed compared to the previous period. The account was active, posting 26 times with an increased average post frequency each day.There was a notable increase in engagement in comments, with the average comments per post rising, even though overall likes and total engagement saw a slight decrease. Video and reel content duration extended significantly, correlating with a substantial boost in video views and reel engagement, which more than tripled compared to before.Impressions and reach roughly doubled, highlighting a dramatic expansion in content visibility. Despite the growth in reach and impressions, engagement rates per post and per impression saw a decrease, indicating that while more users are seeing the content, their rate of interaction has diminished.The earned media value indicated by awareness and audience growth also rose notably, supporting the profile's broader impact beyond immediate engagement.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Overall a positive period, with some room for improvement.</a:t>
            </a:r>
            <a:endParaRPr lang="en-US" sz="2999" dirty="0"/>
          </a:p>
        </p:txBody>
      </p:sp>
      <p:sp>
        <p:nvSpPr>
          <p:cNvPr id="7" name="Text 4"/>
          <p:cNvSpPr/>
          <p:nvPr/>
        </p:nvSpPr>
        <p:spPr>
          <a:xfrm>
            <a:off x="342814" y="3916971"/>
            <a:ext cx="230797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0.07 %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870464"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6.08%</a:t>
            </a:r>
            <a:endParaRPr lang="en-US" sz="1800" dirty="0"/>
          </a:p>
        </p:txBody>
      </p:sp>
      <p:sp>
        <p:nvSpPr>
          <p:cNvPr id="10" name="Text 7"/>
          <p:cNvSpPr/>
          <p:nvPr/>
        </p:nvSpPr>
        <p:spPr>
          <a:xfrm>
            <a:off x="4547546" y="3916971"/>
            <a:ext cx="168087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9.7M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1100458"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100.97%</a:t>
            </a:r>
            <a:endParaRPr lang="en-US" sz="1800" dirty="0"/>
          </a:p>
        </p:txBody>
      </p:sp>
      <p:sp>
        <p:nvSpPr>
          <p:cNvPr id="13" name="Text 10"/>
          <p:cNvSpPr/>
          <p:nvPr/>
        </p:nvSpPr>
        <p:spPr>
          <a:xfrm>
            <a:off x="8752378" y="3916971"/>
            <a:ext cx="1714977"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6.3M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825604"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81.8%</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4% more, but engagement dropped 2.20%.</a:t>
            </a:r>
            <a:endParaRPr lang="en-US" sz="3599" dirty="0"/>
          </a:p>
        </p:txBody>
      </p:sp>
      <p:sp>
        <p:nvSpPr>
          <p:cNvPr id="8" name="Text 5"/>
          <p:cNvSpPr/>
          <p:nvPr/>
        </p:nvSpPr>
        <p:spPr>
          <a:xfrm>
            <a:off x="374556" y="2558410"/>
            <a:ext cx="4430622"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More posts produced less engagement — review content quality or frequency.</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27005"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26</a:t>
            </a:r>
            <a:endParaRPr lang="en-US" sz="2999" dirty="0"/>
          </a:p>
        </p:txBody>
      </p:sp>
      <p:sp>
        <p:nvSpPr>
          <p:cNvPr id="11" name="Text 8"/>
          <p:cNvSpPr/>
          <p:nvPr/>
        </p:nvSpPr>
        <p:spPr>
          <a:xfrm>
            <a:off x="691977" y="5269182"/>
            <a:ext cx="466497"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383979"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327.7K</a:t>
            </a:r>
            <a:endParaRPr lang="en-US" sz="2999" dirty="0"/>
          </a:p>
        </p:txBody>
      </p:sp>
      <p:sp>
        <p:nvSpPr>
          <p:cNvPr id="14" name="Text 11"/>
          <p:cNvSpPr/>
          <p:nvPr/>
        </p:nvSpPr>
        <p:spPr>
          <a:xfrm>
            <a:off x="3590027" y="5269182"/>
            <a:ext cx="633980"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2.2%</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152237"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12.6K</a:t>
            </a:r>
            <a:endParaRPr lang="en-US" sz="2999" dirty="0"/>
          </a:p>
        </p:txBody>
      </p:sp>
      <p:sp>
        <p:nvSpPr>
          <p:cNvPr id="17" name="Text 14"/>
          <p:cNvSpPr/>
          <p:nvPr/>
        </p:nvSpPr>
        <p:spPr>
          <a:xfrm>
            <a:off x="6488078" y="5269182"/>
            <a:ext cx="747526"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5.96%</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16004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10.9K</a:t>
            </a:r>
            <a:endParaRPr lang="en-US" sz="2999" dirty="0"/>
          </a:p>
        </p:txBody>
      </p:sp>
      <p:sp>
        <p:nvSpPr>
          <p:cNvPr id="20" name="Text 17"/>
          <p:cNvSpPr/>
          <p:nvPr/>
        </p:nvSpPr>
        <p:spPr>
          <a:xfrm>
            <a:off x="9386128" y="5269182"/>
            <a:ext cx="633980"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2.2%</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2431442"/>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Image made up the majority of posts published during this period. Reel drove the results.</a:t>
            </a:r>
            <a:endParaRPr lang="en-US" sz="3599" dirty="0"/>
          </a:p>
        </p:txBody>
      </p:sp>
      <p:sp>
        <p:nvSpPr>
          <p:cNvPr id="7" name="Text 4"/>
          <p:cNvSpPr/>
          <p:nvPr/>
        </p:nvSpPr>
        <p:spPr>
          <a:xfrm>
            <a:off x="374556" y="3967758"/>
            <a:ext cx="3462160"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Image accounted for 42% of posts and 30% of engagement.</a:t>
            </a:r>
            <a:endParaRPr lang="en-US" sz="900" dirty="0"/>
          </a:p>
        </p:txBody>
      </p:sp>
      <p:sp>
        <p:nvSpPr>
          <p:cNvPr id="8" name="Text 5"/>
          <p:cNvSpPr/>
          <p:nvPr/>
        </p:nvSpPr>
        <p:spPr>
          <a:xfrm>
            <a:off x="679280" y="4843839"/>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2805998"/>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0" name="Text 7"/>
          <p:cNvSpPr/>
          <p:nvPr/>
        </p:nvSpPr>
        <p:spPr>
          <a:xfrm>
            <a:off x="11576132" y="2805998"/>
            <a:ext cx="23826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11</a:t>
            </a:r>
            <a:endParaRPr lang="en-US" sz="800" dirty="0"/>
          </a:p>
        </p:txBody>
      </p:sp>
      <p:sp>
        <p:nvSpPr>
          <p:cNvPr id="11" name="Text 8"/>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2" name="Text 9"/>
          <p:cNvSpPr/>
          <p:nvPr/>
        </p:nvSpPr>
        <p:spPr>
          <a:xfrm>
            <a:off x="11596963" y="3237690"/>
            <a:ext cx="21738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8</a:t>
            </a:r>
            <a:endParaRPr lang="en-US" sz="800" dirty="0"/>
          </a:p>
        </p:txBody>
      </p:sp>
      <p:sp>
        <p:nvSpPr>
          <p:cNvPr id="13" name="Text 10"/>
          <p:cNvSpPr/>
          <p:nvPr/>
        </p:nvSpPr>
        <p:spPr>
          <a:xfrm>
            <a:off x="6449987"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14" name="Text 11"/>
          <p:cNvSpPr/>
          <p:nvPr/>
        </p:nvSpPr>
        <p:spPr>
          <a:xfrm>
            <a:off x="11603509" y="3669382"/>
            <a:ext cx="210886"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7</a:t>
            </a:r>
            <a:endParaRPr lang="en-US" sz="8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6" name="Text 3"/>
          <p:cNvSpPr/>
          <p:nvPr/>
        </p:nvSpPr>
        <p:spPr>
          <a:xfrm>
            <a:off x="1422044"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7" name="Text 4"/>
          <p:cNvSpPr/>
          <p:nvPr/>
        </p:nvSpPr>
        <p:spPr>
          <a:xfrm>
            <a:off x="3082055" y="1022094"/>
            <a:ext cx="74489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01,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House ambassadors Anne Curtis and Win Metawin celebrate the opening of...</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517885"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0.37%</a:t>
            </a:r>
            <a:endParaRPr lang="en-US" sz="900" dirty="0"/>
          </a:p>
        </p:txBody>
      </p:sp>
      <p:sp>
        <p:nvSpPr>
          <p:cNvPr id="13" name="Text 10"/>
          <p:cNvSpPr/>
          <p:nvPr/>
        </p:nvSpPr>
        <p:spPr>
          <a:xfrm>
            <a:off x="1091927" y="4862884"/>
            <a:ext cx="39340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1.4M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2390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62.1K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4787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632</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42083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858K</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22" name="Text 19"/>
          <p:cNvSpPr/>
          <p:nvPr/>
        </p:nvSpPr>
        <p:spPr>
          <a:xfrm>
            <a:off x="5133683"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23" name="Text 20"/>
          <p:cNvSpPr/>
          <p:nvPr/>
        </p:nvSpPr>
        <p:spPr>
          <a:xfrm>
            <a:off x="6792603" y="1022094"/>
            <a:ext cx="74608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07,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The House’s iconic Sixteen Stone by Tiffany ring has been reimagined w...</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493614"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0.18%</a:t>
            </a:r>
            <a:endParaRPr lang="en-US" sz="900" dirty="0"/>
          </a:p>
        </p:txBody>
      </p:sp>
      <p:sp>
        <p:nvSpPr>
          <p:cNvPr id="29" name="Text 26"/>
          <p:cNvSpPr/>
          <p:nvPr/>
        </p:nvSpPr>
        <p:spPr>
          <a:xfrm>
            <a:off x="4803566" y="4862884"/>
            <a:ext cx="42633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884K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4929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29.6K</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349857"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366</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51446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550.8K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38" name="Text 35"/>
          <p:cNvSpPr/>
          <p:nvPr/>
        </p:nvSpPr>
        <p:spPr>
          <a:xfrm>
            <a:off x="8845422"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39" name="Text 36"/>
          <p:cNvSpPr/>
          <p:nvPr/>
        </p:nvSpPr>
        <p:spPr>
          <a:xfrm>
            <a:off x="10486982" y="1022094"/>
            <a:ext cx="76344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06,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Introducing the Sixteen Stone by Tiffany solitaire diamond ring. Since...</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490322"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0.15%</a:t>
            </a:r>
            <a:endParaRPr lang="en-US" sz="900" dirty="0"/>
          </a:p>
        </p:txBody>
      </p:sp>
      <p:sp>
        <p:nvSpPr>
          <p:cNvPr id="45" name="Text 42"/>
          <p:cNvSpPr/>
          <p:nvPr/>
        </p:nvSpPr>
        <p:spPr>
          <a:xfrm>
            <a:off x="8515304" y="4862884"/>
            <a:ext cx="42345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869K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35258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25K</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32332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251</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49983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541.4K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324.3K Total Organic Likes — a volatile period.</a:t>
            </a:r>
            <a:endParaRPr lang="en-US" sz="2999" dirty="0"/>
          </a:p>
        </p:txBody>
      </p:sp>
      <p:sp>
        <p:nvSpPr>
          <p:cNvPr id="8" name="Text 5"/>
          <p:cNvSpPr/>
          <p:nvPr/>
        </p:nvSpPr>
        <p:spPr>
          <a:xfrm>
            <a:off x="374556" y="2983754"/>
            <a:ext cx="51781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Total Organic Likes fell while Total Organic Comments held — Total Organic Comments is the bright spot.</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201338"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324.3K</a:t>
            </a:r>
            <a:endParaRPr lang="en-US" sz="2399" dirty="0"/>
          </a:p>
        </p:txBody>
      </p:sp>
      <p:sp>
        <p:nvSpPr>
          <p:cNvPr id="11" name="Text 8"/>
          <p:cNvSpPr/>
          <p:nvPr/>
        </p:nvSpPr>
        <p:spPr>
          <a:xfrm>
            <a:off x="526918" y="4754961"/>
            <a:ext cx="631394"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2.39%</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68778"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3,374</a:t>
            </a:r>
            <a:endParaRPr lang="en-US" sz="2399" dirty="0"/>
          </a:p>
        </p:txBody>
      </p:sp>
      <p:sp>
        <p:nvSpPr>
          <p:cNvPr id="14" name="Text 11"/>
          <p:cNvSpPr/>
          <p:nvPr/>
        </p:nvSpPr>
        <p:spPr>
          <a:xfrm>
            <a:off x="3336091" y="4754961"/>
            <a:ext cx="72952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20.24%</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0186598"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increased across the board this period.</a:t>
            </a:r>
            <a:endParaRPr lang="en-US" sz="3599" dirty="0"/>
          </a:p>
        </p:txBody>
      </p:sp>
      <p:sp>
        <p:nvSpPr>
          <p:cNvPr id="8" name="Text 5"/>
          <p:cNvSpPr/>
          <p:nvPr/>
        </p:nvSpPr>
        <p:spPr>
          <a:xfrm>
            <a:off x="501525" y="2456836"/>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034541"/>
            <a:ext cx="66252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1.9</a:t>
            </a:r>
            <a:endParaRPr lang="en-US" sz="2999" dirty="0"/>
          </a:p>
        </p:txBody>
      </p:sp>
      <p:sp>
        <p:nvSpPr>
          <p:cNvPr id="10" name="Text 7"/>
          <p:cNvSpPr/>
          <p:nvPr/>
        </p:nvSpPr>
        <p:spPr>
          <a:xfrm>
            <a:off x="691977" y="3618595"/>
            <a:ext cx="816899"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13.97%</a:t>
            </a:r>
            <a:endParaRPr lang="en-US" sz="1500" dirty="0"/>
          </a:p>
        </p:txBody>
      </p:sp>
      <p:sp>
        <p:nvSpPr>
          <p:cNvPr id="11" name="Text 8"/>
          <p:cNvSpPr/>
          <p:nvPr/>
        </p:nvSpPr>
        <p:spPr>
          <a:xfrm>
            <a:off x="4365526" y="2456836"/>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034541"/>
            <a:ext cx="1229236"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20.3K</a:t>
            </a:r>
            <a:endParaRPr lang="en-US" sz="2999" dirty="0"/>
          </a:p>
        </p:txBody>
      </p:sp>
      <p:sp>
        <p:nvSpPr>
          <p:cNvPr id="13" name="Text 10"/>
          <p:cNvSpPr/>
          <p:nvPr/>
        </p:nvSpPr>
        <p:spPr>
          <a:xfrm>
            <a:off x="4555978" y="3618595"/>
            <a:ext cx="953601"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134.26%</a:t>
            </a:r>
            <a:endParaRPr lang="en-US" sz="1500" dirty="0"/>
          </a:p>
        </p:txBody>
      </p:sp>
      <p:sp>
        <p:nvSpPr>
          <p:cNvPr id="14" name="Text 11"/>
          <p:cNvSpPr/>
          <p:nvPr/>
        </p:nvSpPr>
        <p:spPr>
          <a:xfrm>
            <a:off x="8229626" y="2456836"/>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034541"/>
            <a:ext cx="762777"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217</a:t>
            </a:r>
            <a:endParaRPr lang="en-US" sz="2999" dirty="0"/>
          </a:p>
        </p:txBody>
      </p:sp>
      <p:sp>
        <p:nvSpPr>
          <p:cNvPr id="16" name="Text 13"/>
          <p:cNvSpPr/>
          <p:nvPr/>
        </p:nvSpPr>
        <p:spPr>
          <a:xfrm>
            <a:off x="8420078" y="3618595"/>
            <a:ext cx="81355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75.91%</a:t>
            </a:r>
            <a:endParaRPr lang="en-US" sz="1500" dirty="0"/>
          </a:p>
        </p:txBody>
      </p:sp>
      <p:sp>
        <p:nvSpPr>
          <p:cNvPr id="17" name="Text 14"/>
          <p:cNvSpPr/>
          <p:nvPr/>
        </p:nvSpPr>
        <p:spPr>
          <a:xfrm>
            <a:off x="450737"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243.2K Avg Reach / Post — declining this period.</a:t>
            </a:r>
            <a:endParaRPr lang="en-US" sz="2999" dirty="0"/>
          </a:p>
        </p:txBody>
      </p:sp>
      <p:sp>
        <p:nvSpPr>
          <p:cNvPr id="8" name="Text 5"/>
          <p:cNvSpPr/>
          <p:nvPr/>
        </p:nvSpPr>
        <p:spPr>
          <a:xfrm>
            <a:off x="374556" y="2882179"/>
            <a:ext cx="4414825"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Reach / Post grew but Avg Engagement Rate by Reach dropped — worth monitoring.</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1209373"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243.2K</a:t>
            </a:r>
            <a:endParaRPr lang="en-US" sz="2399" dirty="0"/>
          </a:p>
        </p:txBody>
      </p:sp>
      <p:sp>
        <p:nvSpPr>
          <p:cNvPr id="11" name="Text 8"/>
          <p:cNvSpPr/>
          <p:nvPr/>
        </p:nvSpPr>
        <p:spPr>
          <a:xfrm>
            <a:off x="526918" y="4653386"/>
            <a:ext cx="60119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81.8%</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533564"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14.1</a:t>
            </a:r>
            <a:endParaRPr lang="en-US" sz="1800" dirty="0"/>
          </a:p>
        </p:txBody>
      </p:sp>
      <p:sp>
        <p:nvSpPr>
          <p:cNvPr id="14" name="Text 11"/>
          <p:cNvSpPr/>
          <p:nvPr/>
        </p:nvSpPr>
        <p:spPr>
          <a:xfrm>
            <a:off x="3625935"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05505"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7.36%</a:t>
            </a:r>
            <a:endParaRPr lang="en-US" sz="1200" dirty="0"/>
          </a:p>
        </p:txBody>
      </p:sp>
      <p:sp>
        <p:nvSpPr>
          <p:cNvPr id="16" name="Text 13"/>
          <p:cNvSpPr/>
          <p:nvPr/>
        </p:nvSpPr>
        <p:spPr>
          <a:xfrm>
            <a:off x="6399200" y="2805998"/>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408593" y="2805998"/>
            <a:ext cx="40580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5.4M</a:t>
            </a:r>
            <a:endParaRPr lang="en-US" sz="800" dirty="0"/>
          </a:p>
        </p:txBody>
      </p:sp>
      <p:sp>
        <p:nvSpPr>
          <p:cNvPr id="18" name="Text 15"/>
          <p:cNvSpPr/>
          <p:nvPr/>
        </p:nvSpPr>
        <p:spPr>
          <a:xfrm>
            <a:off x="6399200" y="3237690"/>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9" name="Text 16"/>
          <p:cNvSpPr/>
          <p:nvPr/>
        </p:nvSpPr>
        <p:spPr>
          <a:xfrm>
            <a:off x="11392921" y="3237690"/>
            <a:ext cx="42142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498K</a:t>
            </a:r>
            <a:endParaRPr lang="en-US" sz="800" dirty="0"/>
          </a:p>
        </p:txBody>
      </p:sp>
      <p:sp>
        <p:nvSpPr>
          <p:cNvPr id="20" name="Text 17"/>
          <p:cNvSpPr/>
          <p:nvPr/>
        </p:nvSpPr>
        <p:spPr>
          <a:xfrm>
            <a:off x="6399200"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21" name="Text 18"/>
          <p:cNvSpPr/>
          <p:nvPr/>
        </p:nvSpPr>
        <p:spPr>
          <a:xfrm>
            <a:off x="11418017" y="3669382"/>
            <a:ext cx="396379"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381K</a:t>
            </a:r>
            <a:endParaRPr lang="en-US" sz="800" dirty="0"/>
          </a:p>
        </p:txBody>
      </p:sp>
      <p:sp>
        <p:nvSpPr>
          <p:cNvPr id="22" name="Text 1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3" name="Text 2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373.3K Avg Views / Post — a volatile period.</a:t>
            </a:r>
            <a:endParaRPr lang="en-US" sz="2999" dirty="0"/>
          </a:p>
        </p:txBody>
      </p:sp>
      <p:sp>
        <p:nvSpPr>
          <p:cNvPr id="8" name="Text 5"/>
          <p:cNvSpPr/>
          <p:nvPr/>
        </p:nvSpPr>
        <p:spPr>
          <a:xfrm>
            <a:off x="374556" y="2882179"/>
            <a:ext cx="4393994"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Views / Post grew but Avg Engagement Rate by Views dropped — worth monitoring.</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18199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373.3K</a:t>
            </a:r>
            <a:endParaRPr lang="en-US" sz="2399" dirty="0"/>
          </a:p>
        </p:txBody>
      </p:sp>
      <p:sp>
        <p:nvSpPr>
          <p:cNvPr id="11" name="Text 8"/>
          <p:cNvSpPr/>
          <p:nvPr/>
        </p:nvSpPr>
        <p:spPr>
          <a:xfrm>
            <a:off x="526918" y="4653386"/>
            <a:ext cx="72952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93.24%</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592485"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12.5</a:t>
            </a:r>
            <a:endParaRPr lang="en-US" sz="1800" dirty="0"/>
          </a:p>
        </p:txBody>
      </p:sp>
      <p:sp>
        <p:nvSpPr>
          <p:cNvPr id="14" name="Text 11"/>
          <p:cNvSpPr/>
          <p:nvPr/>
        </p:nvSpPr>
        <p:spPr>
          <a:xfrm>
            <a:off x="3684857"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32287"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8.29%</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19.6K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94824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19.6K</a:t>
            </a:r>
            <a:endParaRPr lang="en-US" sz="2399" dirty="0"/>
          </a:p>
        </p:txBody>
      </p:sp>
      <p:sp>
        <p:nvSpPr>
          <p:cNvPr id="11" name="Text 8"/>
          <p:cNvSpPr/>
          <p:nvPr/>
        </p:nvSpPr>
        <p:spPr>
          <a:xfrm>
            <a:off x="526918" y="4754961"/>
            <a:ext cx="65319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18.71%</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53296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0.1</a:t>
            </a:r>
            <a:endParaRPr lang="en-US" sz="2399" dirty="0"/>
          </a:p>
        </p:txBody>
      </p:sp>
      <p:sp>
        <p:nvSpPr>
          <p:cNvPr id="14" name="Text 11"/>
          <p:cNvSpPr/>
          <p:nvPr/>
        </p:nvSpPr>
        <p:spPr>
          <a:xfrm>
            <a:off x="3336091" y="4754961"/>
            <a:ext cx="693366"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18.83%</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6168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26</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2026-07-19T06:02:00Z</dcterms:created>
  <dcterms:modified xsi:type="dcterms:W3CDTF">2026-07-19T06:02:00Z</dcterms:modified>
</cp:coreProperties>
</file>