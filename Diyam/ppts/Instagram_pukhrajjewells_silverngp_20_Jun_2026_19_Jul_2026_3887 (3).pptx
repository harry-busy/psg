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1022094" y="2729817"/>
            <a:ext cx="1949072" cy="126968"/>
          </a:xfrm>
          <a:prstGeom prst="rect">
            <a:avLst/>
          </a:prstGeom>
          <a:ln/>
        </p:spPr>
        <p:txBody>
          <a:bodyPr wrap="none" lIns="0" tIns="0" rIns="0" bIns="0" rtlCol="0" anchor="t"/>
          <a:lstStyle/>
          <a:p>
            <a:pPr algn="l" indent="0" marL="0">
              <a:lnSpc>
                <a:spcPct val="100000"/>
              </a:lnSpc>
              <a:buNone/>
            </a:pPr>
            <a:r>
              <a:rPr lang="en-US" sz="800" dirty="0">
                <a:solidFill>
                  <a:srgbClr val="6D57F6"/>
                </a:solidFill>
                <a:latin typeface="Inter" pitchFamily="34" charset="0"/>
                <a:ea typeface="Inter" pitchFamily="34" charset="-122"/>
                <a:cs typeface="Inter" pitchFamily="34" charset="-120"/>
              </a:rPr>
              <a:t>PUKHRAJJEWELLS_SILVERNGP</a:t>
            </a:r>
            <a:endParaRPr lang="en-US" sz="800" dirty="0"/>
          </a:p>
        </p:txBody>
      </p:sp>
      <p:sp>
        <p:nvSpPr>
          <p:cNvPr id="4" name="Text 1"/>
          <p:cNvSpPr/>
          <p:nvPr/>
        </p:nvSpPr>
        <p:spPr>
          <a:xfrm>
            <a:off x="933217" y="3091677"/>
            <a:ext cx="3888904" cy="552312"/>
          </a:xfrm>
          <a:prstGeom prst="rect">
            <a:avLst/>
          </a:prstGeom>
          <a:ln/>
        </p:spPr>
        <p:txBody>
          <a:bodyPr wrap="none" lIns="0" tIns="0" rIns="0" bIns="0" rtlCol="0" anchor="t"/>
          <a:lstStyle/>
          <a:p>
            <a:pPr algn="l" indent="0" marL="0">
              <a:lnSpc>
                <a:spcPct val="100000"/>
              </a:lnSpc>
              <a:buNone/>
            </a:pPr>
            <a:r>
              <a:rPr lang="en-US" sz="3599" b="1" dirty="0">
                <a:solidFill>
                  <a:srgbClr val="FFFFFF"/>
                </a:solidFill>
                <a:latin typeface="Inter" pitchFamily="34" charset="0"/>
                <a:ea typeface="Inter" pitchFamily="34" charset="-122"/>
                <a:cs typeface="Inter" pitchFamily="34" charset="-120"/>
              </a:rPr>
              <a:t>Instagram Report</a:t>
            </a:r>
            <a:endParaRPr lang="en-US" sz="3599" dirty="0"/>
          </a:p>
        </p:txBody>
      </p:sp>
      <p:sp>
        <p:nvSpPr>
          <p:cNvPr id="5" name="Text 2"/>
          <p:cNvSpPr/>
          <p:nvPr/>
        </p:nvSpPr>
        <p:spPr>
          <a:xfrm>
            <a:off x="253937" y="6399200"/>
            <a:ext cx="595697"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BRAND</a:t>
            </a:r>
            <a:endParaRPr lang="en-US" sz="1000" dirty="0"/>
          </a:p>
        </p:txBody>
      </p:sp>
      <p:sp>
        <p:nvSpPr>
          <p:cNvPr id="6" name="Text 3"/>
          <p:cNvSpPr/>
          <p:nvPr/>
        </p:nvSpPr>
        <p:spPr>
          <a:xfrm>
            <a:off x="253937" y="6589652"/>
            <a:ext cx="1767921"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@pukhrajjewells_silverngp</a:t>
            </a:r>
            <a:endParaRPr lang="en-US" sz="1000" dirty="0"/>
          </a:p>
        </p:txBody>
      </p:sp>
      <p:sp>
        <p:nvSpPr>
          <p:cNvPr id="7" name="Text 4"/>
          <p:cNvSpPr/>
          <p:nvPr/>
        </p:nvSpPr>
        <p:spPr>
          <a:xfrm>
            <a:off x="2174232" y="6399200"/>
            <a:ext cx="692399"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PERIOD</a:t>
            </a:r>
            <a:endParaRPr lang="en-US" sz="1000" dirty="0"/>
          </a:p>
        </p:txBody>
      </p:sp>
      <p:sp>
        <p:nvSpPr>
          <p:cNvPr id="8" name="Text 5"/>
          <p:cNvSpPr/>
          <p:nvPr/>
        </p:nvSpPr>
        <p:spPr>
          <a:xfrm>
            <a:off x="2174232" y="6589652"/>
            <a:ext cx="1751058"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20 Jun 2026 - 19 Jul 2026</a:t>
            </a:r>
            <a:endParaRPr lang="en-US" sz="1000" dirty="0"/>
          </a:p>
        </p:txBody>
      </p:sp>
      <p:sp>
        <p:nvSpPr>
          <p:cNvPr id="9" name="Text 6"/>
          <p:cNvSpPr/>
          <p:nvPr/>
        </p:nvSpPr>
        <p:spPr>
          <a:xfrm>
            <a:off x="4077665" y="6399200"/>
            <a:ext cx="1726235"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COMPARISON PERIOD</a:t>
            </a:r>
            <a:endParaRPr lang="en-US" sz="1000" dirty="0"/>
          </a:p>
        </p:txBody>
      </p:sp>
      <p:sp>
        <p:nvSpPr>
          <p:cNvPr id="10" name="Text 7"/>
          <p:cNvSpPr/>
          <p:nvPr/>
        </p:nvSpPr>
        <p:spPr>
          <a:xfrm>
            <a:off x="4077665" y="6589652"/>
            <a:ext cx="1799415"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21 May 2026 - 19 Jun 2026</a:t>
            </a:r>
            <a:endParaRPr lang="en-US" sz="1000" dirty="0"/>
          </a:p>
        </p:txBody>
      </p:sp>
      <p:sp>
        <p:nvSpPr>
          <p:cNvPr id="11" name="Text 8"/>
          <p:cNvSpPr/>
          <p:nvPr/>
        </p:nvSpPr>
        <p:spPr>
          <a:xfrm>
            <a:off x="6029504" y="6399200"/>
            <a:ext cx="859342"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CHANNEL</a:t>
            </a:r>
            <a:endParaRPr lang="en-US" sz="1000" dirty="0"/>
          </a:p>
        </p:txBody>
      </p:sp>
      <p:sp>
        <p:nvSpPr>
          <p:cNvPr id="12" name="Text 9"/>
          <p:cNvSpPr/>
          <p:nvPr/>
        </p:nvSpPr>
        <p:spPr>
          <a:xfrm>
            <a:off x="6029504" y="6589652"/>
            <a:ext cx="759739"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Instagram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4834515" y="114271"/>
            <a:ext cx="267224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EXECUTIVE SUMMARY</a:t>
            </a:r>
            <a:endParaRPr lang="en-US" sz="1800" dirty="0"/>
          </a:p>
        </p:txBody>
      </p:sp>
      <p:sp>
        <p:nvSpPr>
          <p:cNvPr id="5" name="Text 2"/>
          <p:cNvSpPr/>
          <p:nvPr/>
        </p:nvSpPr>
        <p:spPr>
          <a:xfrm>
            <a:off x="11467713" y="139665"/>
            <a:ext cx="53075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2/12</a:t>
            </a:r>
            <a:endParaRPr lang="en-US" sz="1500" dirty="0"/>
          </a:p>
        </p:txBody>
      </p:sp>
      <p:sp>
        <p:nvSpPr>
          <p:cNvPr id="6" name="Text 3"/>
          <p:cNvSpPr/>
          <p:nvPr/>
        </p:nvSpPr>
        <p:spPr>
          <a:xfrm>
            <a:off x="469783" y="1866433"/>
            <a:ext cx="5713571" cy="3021844"/>
          </a:xfrm>
          <a:prstGeom prst="rect">
            <a:avLst/>
          </a:prstGeom>
          <a:ln/>
        </p:spPr>
        <p:txBody>
          <a:bodyPr wrap="squar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Between June 20 and July 19, SILVANA's Instagram profile experienced a dynamic growth phase highlighted by significant increases in engagement and reach. The follower base grew modestly by 504 new followers, representing a growth rate of 0.85%.Notably, the posting activity more than doubled, with 55 posts made compared to just 21 in the previous period, predominantly consisting of reels. This surge in content production drove remarkable enhancements in audience interaction, with total engagement soaring to 178,707 from 22,743 previously, and average engagement per post nearly tripling to 3,249.22.Likes and comments also rose considerably, indicating strong audience involvement. The profile's content reached over 6.7 million accounts, a vast improvement over 990,430 before, leading to over 10.7 million total impressions and an engagement rate per post at 5.41%, significantly up from 1.82%.These factors contributed to elevated earned media values, underscoring the increased brand exposure and influence during this timeframe. Overall, SILVANA's strategic increase in posting frequency, especially with reels, effectively enhanced visibility and audience engagement.</a:t>
            </a:r>
            <a:endParaRPr lang="en-US" sz="1000" dirty="0"/>
          </a:p>
        </p:txBody>
      </p:sp>
      <p:sp>
        <p:nvSpPr>
          <p:cNvPr id="7" name="Text 4"/>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8" name="Text 5"/>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387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KEY INSIGHTS</a:t>
            </a:r>
            <a:endParaRPr lang="en-US" sz="1800" dirty="0"/>
          </a:p>
        </p:txBody>
      </p:sp>
      <p:sp>
        <p:nvSpPr>
          <p:cNvPr id="4" name="Text 1"/>
          <p:cNvSpPr/>
          <p:nvPr/>
        </p:nvSpPr>
        <p:spPr>
          <a:xfrm>
            <a:off x="11466225" y="139665"/>
            <a:ext cx="53224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3/12</a:t>
            </a:r>
            <a:endParaRPr lang="en-US" sz="1500" dirty="0"/>
          </a:p>
        </p:txBody>
      </p:sp>
      <p:sp>
        <p:nvSpPr>
          <p:cNvPr id="5" name="Text 2"/>
          <p:cNvSpPr/>
          <p:nvPr/>
        </p:nvSpPr>
        <p:spPr>
          <a:xfrm>
            <a:off x="342814" y="1136366"/>
            <a:ext cx="1598721" cy="133317"/>
          </a:xfrm>
          <a:prstGeom prst="rect">
            <a:avLst/>
          </a:prstGeom>
          <a:ln/>
        </p:spPr>
        <p:txBody>
          <a:bodyPr wrap="none" lIns="0" tIns="0" rIns="0" bIns="0" rtlCol="0" anchor="t"/>
          <a:lstStyle/>
          <a:p>
            <a:pPr algn="l" indent="0" marL="0">
              <a:lnSpc>
                <a:spcPct val="100000"/>
              </a:lnSpc>
              <a:buNone/>
            </a:pPr>
            <a:r>
              <a:rPr lang="en-US" sz="900" dirty="0">
                <a:solidFill>
                  <a:srgbClr val="DDDCED"/>
                </a:solidFill>
                <a:latin typeface="Inter" pitchFamily="34" charset="0"/>
                <a:ea typeface="Inter" pitchFamily="34" charset="-122"/>
                <a:cs typeface="Inter" pitchFamily="34" charset="-120"/>
              </a:rPr>
              <a:t>One month, three numbers</a:t>
            </a:r>
            <a:endParaRPr lang="en-US" sz="900" dirty="0"/>
          </a:p>
        </p:txBody>
      </p:sp>
      <p:sp>
        <p:nvSpPr>
          <p:cNvPr id="6" name="Text 3"/>
          <p:cNvSpPr/>
          <p:nvPr/>
        </p:nvSpPr>
        <p:spPr>
          <a:xfrm>
            <a:off x="342814" y="1409348"/>
            <a:ext cx="8627493" cy="850687"/>
          </a:xfrm>
          <a:prstGeom prst="rect">
            <a:avLst/>
          </a:prstGeom>
          <a:ln/>
        </p:spPr>
        <p:txBody>
          <a:bodyPr wrap="square" lIns="0" tIns="0" rIns="0" bIns="0" rtlCol="0" anchor="t"/>
          <a:lstStyle/>
          <a:p>
            <a:pPr algn="l" indent="0" marL="0">
              <a:lnSpc>
                <a:spcPct val="100000"/>
              </a:lnSpc>
              <a:buNone/>
            </a:pPr>
            <a:r>
              <a:rPr lang="en-US" sz="2999" b="1" dirty="0">
                <a:solidFill>
                  <a:srgbClr val="FFFFFF"/>
                </a:solidFill>
                <a:latin typeface="Inter" pitchFamily="34" charset="0"/>
                <a:ea typeface="Inter" pitchFamily="34" charset="-122"/>
                <a:cs typeface="Inter" pitchFamily="34" charset="-120"/>
              </a:rPr>
              <a:t>A strong period — most metrics moved in the right direction.</a:t>
            </a:r>
            <a:endParaRPr lang="en-US" sz="2999" dirty="0"/>
          </a:p>
        </p:txBody>
      </p:sp>
      <p:sp>
        <p:nvSpPr>
          <p:cNvPr id="7" name="Text 4"/>
          <p:cNvSpPr/>
          <p:nvPr/>
        </p:nvSpPr>
        <p:spPr>
          <a:xfrm>
            <a:off x="342814" y="3916971"/>
            <a:ext cx="2196687"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5.41 %</a:t>
            </a:r>
            <a:endParaRPr lang="en-US" sz="4999" dirty="0"/>
          </a:p>
        </p:txBody>
      </p:sp>
      <p:sp>
        <p:nvSpPr>
          <p:cNvPr id="8" name="Text 5"/>
          <p:cNvSpPr/>
          <p:nvPr/>
        </p:nvSpPr>
        <p:spPr>
          <a:xfrm>
            <a:off x="342814" y="4856536"/>
            <a:ext cx="3093760" cy="469783"/>
          </a:xfrm>
          <a:prstGeom prst="rect">
            <a:avLst/>
          </a:prstGeom>
          <a:ln/>
        </p:spPr>
        <p:txBody>
          <a:bodyPr wrap="squar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Avg. Engagement Rate by Followers</a:t>
            </a:r>
            <a:endParaRPr lang="en-US" sz="1500" dirty="0"/>
          </a:p>
        </p:txBody>
      </p:sp>
      <p:sp>
        <p:nvSpPr>
          <p:cNvPr id="9" name="Text 6"/>
          <p:cNvSpPr/>
          <p:nvPr/>
        </p:nvSpPr>
        <p:spPr>
          <a:xfrm>
            <a:off x="571357" y="5485028"/>
            <a:ext cx="1069770"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197.29%</a:t>
            </a:r>
            <a:endParaRPr lang="en-US" sz="1800" dirty="0"/>
          </a:p>
        </p:txBody>
      </p:sp>
      <p:sp>
        <p:nvSpPr>
          <p:cNvPr id="10" name="Text 7"/>
          <p:cNvSpPr/>
          <p:nvPr/>
        </p:nvSpPr>
        <p:spPr>
          <a:xfrm>
            <a:off x="4547546" y="3916971"/>
            <a:ext cx="1999539"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10.8M</a:t>
            </a:r>
            <a:endParaRPr lang="en-US" sz="4999" dirty="0"/>
          </a:p>
        </p:txBody>
      </p:sp>
      <p:sp>
        <p:nvSpPr>
          <p:cNvPr id="11" name="Text 8"/>
          <p:cNvSpPr/>
          <p:nvPr/>
        </p:nvSpPr>
        <p:spPr>
          <a:xfrm>
            <a:off x="4547546" y="4856536"/>
            <a:ext cx="2002670"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Views</a:t>
            </a:r>
            <a:endParaRPr lang="en-US" sz="1500" dirty="0"/>
          </a:p>
        </p:txBody>
      </p:sp>
      <p:sp>
        <p:nvSpPr>
          <p:cNvPr id="12" name="Text 9"/>
          <p:cNvSpPr/>
          <p:nvPr/>
        </p:nvSpPr>
        <p:spPr>
          <a:xfrm>
            <a:off x="4776089" y="5243789"/>
            <a:ext cx="1134828"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579.02%</a:t>
            </a:r>
            <a:endParaRPr lang="en-US" sz="1800" dirty="0"/>
          </a:p>
        </p:txBody>
      </p:sp>
      <p:sp>
        <p:nvSpPr>
          <p:cNvPr id="13" name="Text 10"/>
          <p:cNvSpPr/>
          <p:nvPr/>
        </p:nvSpPr>
        <p:spPr>
          <a:xfrm>
            <a:off x="8752378" y="3916971"/>
            <a:ext cx="1678709"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6.7M</a:t>
            </a:r>
            <a:endParaRPr lang="en-US" sz="4999" dirty="0"/>
          </a:p>
        </p:txBody>
      </p:sp>
      <p:sp>
        <p:nvSpPr>
          <p:cNvPr id="14" name="Text 11"/>
          <p:cNvSpPr/>
          <p:nvPr/>
        </p:nvSpPr>
        <p:spPr>
          <a:xfrm>
            <a:off x="8752378" y="4856536"/>
            <a:ext cx="2022199"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Reach</a:t>
            </a:r>
            <a:endParaRPr lang="en-US" sz="1500" dirty="0"/>
          </a:p>
        </p:txBody>
      </p:sp>
      <p:sp>
        <p:nvSpPr>
          <p:cNvPr id="15" name="Text 12"/>
          <p:cNvSpPr/>
          <p:nvPr/>
        </p:nvSpPr>
        <p:spPr>
          <a:xfrm>
            <a:off x="8980921" y="5243789"/>
            <a:ext cx="1134828"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579.02%</a:t>
            </a:r>
            <a:endParaRPr lang="en-US" sz="1800" dirty="0"/>
          </a:p>
        </p:txBody>
      </p:sp>
      <p:sp>
        <p:nvSpPr>
          <p:cNvPr id="16" name="Text 13"/>
          <p:cNvSpPr/>
          <p:nvPr/>
        </p:nvSpPr>
        <p:spPr>
          <a:xfrm>
            <a:off x="317421" y="6710272"/>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964209"/>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4818197" y="114271"/>
            <a:ext cx="270483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POSTS PERFORMANCE</a:t>
            </a:r>
            <a:endParaRPr lang="en-US" sz="1800" dirty="0"/>
          </a:p>
        </p:txBody>
      </p:sp>
      <p:sp>
        <p:nvSpPr>
          <p:cNvPr id="5" name="Text 2"/>
          <p:cNvSpPr/>
          <p:nvPr/>
        </p:nvSpPr>
        <p:spPr>
          <a:xfrm>
            <a:off x="11460769" y="139665"/>
            <a:ext cx="537637"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4/12</a:t>
            </a:r>
            <a:endParaRPr lang="en-US" sz="1500" dirty="0"/>
          </a:p>
        </p:txBody>
      </p:sp>
      <p:sp>
        <p:nvSpPr>
          <p:cNvPr id="6" name="Text 3"/>
          <p:cNvSpPr/>
          <p:nvPr/>
        </p:nvSpPr>
        <p:spPr>
          <a:xfrm>
            <a:off x="374556" y="1136366"/>
            <a:ext cx="1719254"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POSTS TO ENGAGEMENT</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We posted 161.90% more, and got 685.77% more engagement.</a:t>
            </a:r>
            <a:endParaRPr lang="en-US" sz="3599" dirty="0"/>
          </a:p>
        </p:txBody>
      </p:sp>
      <p:sp>
        <p:nvSpPr>
          <p:cNvPr id="8" name="Text 5"/>
          <p:cNvSpPr/>
          <p:nvPr/>
        </p:nvSpPr>
        <p:spPr>
          <a:xfrm>
            <a:off x="374556" y="2558410"/>
            <a:ext cx="4658272"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The engagement gain ran 4.2x ahead of the output increase. Quality compounded.</a:t>
            </a:r>
            <a:endParaRPr lang="en-US" sz="900" dirty="0"/>
          </a:p>
        </p:txBody>
      </p:sp>
      <p:sp>
        <p:nvSpPr>
          <p:cNvPr id="9" name="Text 6"/>
          <p:cNvSpPr/>
          <p:nvPr/>
        </p:nvSpPr>
        <p:spPr>
          <a:xfrm>
            <a:off x="501525" y="4107423"/>
            <a:ext cx="103786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POSTS</a:t>
            </a:r>
            <a:endParaRPr lang="en-US" sz="1200" dirty="0"/>
          </a:p>
        </p:txBody>
      </p:sp>
      <p:sp>
        <p:nvSpPr>
          <p:cNvPr id="10" name="Text 7"/>
          <p:cNvSpPr/>
          <p:nvPr/>
        </p:nvSpPr>
        <p:spPr>
          <a:xfrm>
            <a:off x="501525" y="4685128"/>
            <a:ext cx="611754"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55</a:t>
            </a:r>
            <a:endParaRPr lang="en-US" sz="2999" dirty="0"/>
          </a:p>
        </p:txBody>
      </p:sp>
      <p:sp>
        <p:nvSpPr>
          <p:cNvPr id="11" name="Text 8"/>
          <p:cNvSpPr/>
          <p:nvPr/>
        </p:nvSpPr>
        <p:spPr>
          <a:xfrm>
            <a:off x="691977" y="5269182"/>
            <a:ext cx="795604"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161.9%</a:t>
            </a:r>
            <a:endParaRPr lang="en-US" sz="1500" dirty="0"/>
          </a:p>
        </p:txBody>
      </p:sp>
      <p:sp>
        <p:nvSpPr>
          <p:cNvPr id="12" name="Text 9"/>
          <p:cNvSpPr/>
          <p:nvPr/>
        </p:nvSpPr>
        <p:spPr>
          <a:xfrm>
            <a:off x="3399575" y="4107423"/>
            <a:ext cx="15992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ENGAGEMENT</a:t>
            </a:r>
            <a:endParaRPr lang="en-US" sz="1200" dirty="0"/>
          </a:p>
        </p:txBody>
      </p:sp>
      <p:sp>
        <p:nvSpPr>
          <p:cNvPr id="13" name="Text 10"/>
          <p:cNvSpPr/>
          <p:nvPr/>
        </p:nvSpPr>
        <p:spPr>
          <a:xfrm>
            <a:off x="3399575" y="4685128"/>
            <a:ext cx="1342131"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178.7K</a:t>
            </a:r>
            <a:endParaRPr lang="en-US" sz="2999" dirty="0"/>
          </a:p>
        </p:txBody>
      </p:sp>
      <p:sp>
        <p:nvSpPr>
          <p:cNvPr id="14" name="Text 11"/>
          <p:cNvSpPr/>
          <p:nvPr/>
        </p:nvSpPr>
        <p:spPr>
          <a:xfrm>
            <a:off x="3590027" y="5269182"/>
            <a:ext cx="966992"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685.77%</a:t>
            </a:r>
            <a:endParaRPr lang="en-US" sz="1500" dirty="0"/>
          </a:p>
        </p:txBody>
      </p:sp>
      <p:sp>
        <p:nvSpPr>
          <p:cNvPr id="15" name="Text 12"/>
          <p:cNvSpPr/>
          <p:nvPr/>
        </p:nvSpPr>
        <p:spPr>
          <a:xfrm>
            <a:off x="6297625" y="4107423"/>
            <a:ext cx="197435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POST</a:t>
            </a:r>
            <a:endParaRPr lang="en-US" sz="1200" dirty="0"/>
          </a:p>
        </p:txBody>
      </p:sp>
      <p:sp>
        <p:nvSpPr>
          <p:cNvPr id="16" name="Text 13"/>
          <p:cNvSpPr/>
          <p:nvPr/>
        </p:nvSpPr>
        <p:spPr>
          <a:xfrm>
            <a:off x="6297625" y="4685128"/>
            <a:ext cx="1216961"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3,249</a:t>
            </a:r>
            <a:endParaRPr lang="en-US" sz="2999" dirty="0"/>
          </a:p>
        </p:txBody>
      </p:sp>
      <p:sp>
        <p:nvSpPr>
          <p:cNvPr id="17" name="Text 14"/>
          <p:cNvSpPr/>
          <p:nvPr/>
        </p:nvSpPr>
        <p:spPr>
          <a:xfrm>
            <a:off x="6488078" y="5269182"/>
            <a:ext cx="992566"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200.02%</a:t>
            </a:r>
            <a:endParaRPr lang="en-US" sz="1500" dirty="0"/>
          </a:p>
        </p:txBody>
      </p:sp>
      <p:sp>
        <p:nvSpPr>
          <p:cNvPr id="18" name="Text 15"/>
          <p:cNvSpPr/>
          <p:nvPr/>
        </p:nvSpPr>
        <p:spPr>
          <a:xfrm>
            <a:off x="9195676" y="4107423"/>
            <a:ext cx="186980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DAY</a:t>
            </a:r>
            <a:endParaRPr lang="en-US" sz="1200" dirty="0"/>
          </a:p>
        </p:txBody>
      </p:sp>
      <p:sp>
        <p:nvSpPr>
          <p:cNvPr id="19" name="Text 16"/>
          <p:cNvSpPr/>
          <p:nvPr/>
        </p:nvSpPr>
        <p:spPr>
          <a:xfrm>
            <a:off x="9195676" y="4685128"/>
            <a:ext cx="1171766"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5,957</a:t>
            </a:r>
            <a:endParaRPr lang="en-US" sz="2999" dirty="0"/>
          </a:p>
        </p:txBody>
      </p:sp>
      <p:sp>
        <p:nvSpPr>
          <p:cNvPr id="20" name="Text 17"/>
          <p:cNvSpPr/>
          <p:nvPr/>
        </p:nvSpPr>
        <p:spPr>
          <a:xfrm>
            <a:off x="9386128" y="5269182"/>
            <a:ext cx="966992"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685.77%</a:t>
            </a:r>
            <a:endParaRPr lang="en-US" sz="1500" dirty="0"/>
          </a:p>
        </p:txBody>
      </p:sp>
      <p:sp>
        <p:nvSpPr>
          <p:cNvPr id="21" name="Text 18"/>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2" name="Text 19"/>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11470887" y="139665"/>
            <a:ext cx="52759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5/12</a:t>
            </a:r>
            <a:endParaRPr lang="en-US" sz="1500" dirty="0"/>
          </a:p>
        </p:txBody>
      </p:sp>
      <p:sp>
        <p:nvSpPr>
          <p:cNvPr id="5" name="Text 2"/>
          <p:cNvSpPr/>
          <p:nvPr/>
        </p:nvSpPr>
        <p:spPr>
          <a:xfrm>
            <a:off x="374556" y="1136366"/>
            <a:ext cx="1523780"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WHAT WE PUBLISHED</a:t>
            </a:r>
            <a:endParaRPr lang="en-US" sz="1000" dirty="0"/>
          </a:p>
        </p:txBody>
      </p:sp>
      <p:sp>
        <p:nvSpPr>
          <p:cNvPr id="6" name="Text 3"/>
          <p:cNvSpPr/>
          <p:nvPr/>
        </p:nvSpPr>
        <p:spPr>
          <a:xfrm>
            <a:off x="374556" y="1409348"/>
            <a:ext cx="5516770" cy="1961659"/>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Reel made up the majority of posts published during this period.</a:t>
            </a:r>
            <a:endParaRPr lang="en-US" sz="3599" dirty="0"/>
          </a:p>
        </p:txBody>
      </p:sp>
      <p:sp>
        <p:nvSpPr>
          <p:cNvPr id="7" name="Text 4"/>
          <p:cNvSpPr/>
          <p:nvPr/>
        </p:nvSpPr>
        <p:spPr>
          <a:xfrm>
            <a:off x="374556" y="3497975"/>
            <a:ext cx="3461323"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Reel accounted for 100% of posts and 100% of engagement.</a:t>
            </a:r>
            <a:endParaRPr lang="en-US" sz="900" dirty="0"/>
          </a:p>
        </p:txBody>
      </p:sp>
      <p:sp>
        <p:nvSpPr>
          <p:cNvPr id="8" name="Text 5"/>
          <p:cNvSpPr/>
          <p:nvPr/>
        </p:nvSpPr>
        <p:spPr>
          <a:xfrm>
            <a:off x="679280" y="4374056"/>
            <a:ext cx="38626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Note</a:t>
            </a:r>
            <a:endParaRPr lang="en-US" sz="800" dirty="0"/>
          </a:p>
        </p:txBody>
      </p:sp>
      <p:sp>
        <p:nvSpPr>
          <p:cNvPr id="9" name="Text 6"/>
          <p:cNvSpPr/>
          <p:nvPr/>
        </p:nvSpPr>
        <p:spPr>
          <a:xfrm>
            <a:off x="6449987" y="3237690"/>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0" name="Text 7"/>
          <p:cNvSpPr/>
          <p:nvPr/>
        </p:nvSpPr>
        <p:spPr>
          <a:xfrm>
            <a:off x="11537645" y="3237690"/>
            <a:ext cx="276751"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55</a:t>
            </a:r>
            <a:endParaRPr lang="en-US" sz="800" dirty="0"/>
          </a:p>
        </p:txBody>
      </p:sp>
      <p:sp>
        <p:nvSpPr>
          <p:cNvPr id="11" name="Text 8"/>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2" name="Text 9"/>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96576"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TOP CONTENT</a:t>
            </a:r>
            <a:endParaRPr lang="en-US" sz="1800" dirty="0"/>
          </a:p>
        </p:txBody>
      </p:sp>
      <p:sp>
        <p:nvSpPr>
          <p:cNvPr id="4" name="Text 1"/>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6/12</a:t>
            </a:r>
            <a:endParaRPr lang="en-US" sz="1500" dirty="0"/>
          </a:p>
        </p:txBody>
      </p:sp>
      <p:sp>
        <p:nvSpPr>
          <p:cNvPr id="5" name="Text 2"/>
          <p:cNvSpPr/>
          <p:nvPr/>
        </p:nvSpPr>
        <p:spPr>
          <a:xfrm>
            <a:off x="1422044" y="1015746"/>
            <a:ext cx="688753"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SILVANA</a:t>
            </a:r>
            <a:endParaRPr lang="en-US" sz="1000" dirty="0"/>
          </a:p>
        </p:txBody>
      </p:sp>
      <p:sp>
        <p:nvSpPr>
          <p:cNvPr id="6" name="Text 3"/>
          <p:cNvSpPr/>
          <p:nvPr/>
        </p:nvSpPr>
        <p:spPr>
          <a:xfrm>
            <a:off x="1422044" y="1187153"/>
            <a:ext cx="76915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60012 followers</a:t>
            </a:r>
            <a:endParaRPr lang="en-US" sz="650" dirty="0"/>
          </a:p>
        </p:txBody>
      </p:sp>
      <p:sp>
        <p:nvSpPr>
          <p:cNvPr id="7" name="Text 4"/>
          <p:cNvSpPr/>
          <p:nvPr/>
        </p:nvSpPr>
        <p:spPr>
          <a:xfrm>
            <a:off x="3061621" y="1022094"/>
            <a:ext cx="765331"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02, 2026</a:t>
            </a:r>
            <a:endParaRPr lang="en-US" sz="800" dirty="0"/>
          </a:p>
        </p:txBody>
      </p:sp>
      <p:sp>
        <p:nvSpPr>
          <p:cNvPr id="8" name="Text 5"/>
          <p:cNvSpPr/>
          <p:nvPr/>
        </p:nvSpPr>
        <p:spPr>
          <a:xfrm>
            <a:off x="3181646"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9" name="Text 6"/>
          <p:cNvSpPr/>
          <p:nvPr/>
        </p:nvSpPr>
        <p:spPr>
          <a:xfrm>
            <a:off x="1142714"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10" name="Text 7"/>
          <p:cNvSpPr/>
          <p:nvPr/>
        </p:nvSpPr>
        <p:spPr>
          <a:xfrm>
            <a:off x="1091927" y="4253436"/>
            <a:ext cx="2581622"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Chandi hali ho jae… uska kala sach 😎✅ Sabko lagta hai silver sirf sa...</a:t>
            </a:r>
            <a:endParaRPr lang="en-US" sz="700" dirty="0"/>
          </a:p>
        </p:txBody>
      </p:sp>
      <p:sp>
        <p:nvSpPr>
          <p:cNvPr id="11" name="Text 8"/>
          <p:cNvSpPr/>
          <p:nvPr/>
        </p:nvSpPr>
        <p:spPr>
          <a:xfrm>
            <a:off x="1218895"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12" name="Text 9"/>
          <p:cNvSpPr/>
          <p:nvPr/>
        </p:nvSpPr>
        <p:spPr>
          <a:xfrm>
            <a:off x="2966792" y="4539115"/>
            <a:ext cx="635839"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175.26%</a:t>
            </a:r>
            <a:endParaRPr lang="en-US" sz="900" dirty="0"/>
          </a:p>
        </p:txBody>
      </p:sp>
      <p:sp>
        <p:nvSpPr>
          <p:cNvPr id="13" name="Text 10"/>
          <p:cNvSpPr/>
          <p:nvPr/>
        </p:nvSpPr>
        <p:spPr>
          <a:xfrm>
            <a:off x="1091927" y="4862884"/>
            <a:ext cx="398264"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5.7M</a:t>
            </a:r>
            <a:endParaRPr lang="en-US" sz="800" dirty="0"/>
          </a:p>
        </p:txBody>
      </p:sp>
      <p:sp>
        <p:nvSpPr>
          <p:cNvPr id="14" name="Text 11"/>
          <p:cNvSpPr/>
          <p:nvPr/>
        </p:nvSpPr>
        <p:spPr>
          <a:xfrm>
            <a:off x="1091927"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15" name="Text 12"/>
          <p:cNvSpPr/>
          <p:nvPr/>
        </p:nvSpPr>
        <p:spPr>
          <a:xfrm>
            <a:off x="2966792" y="4862884"/>
            <a:ext cx="49988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104.6K</a:t>
            </a:r>
            <a:endParaRPr lang="en-US" sz="800" dirty="0"/>
          </a:p>
        </p:txBody>
      </p:sp>
      <p:sp>
        <p:nvSpPr>
          <p:cNvPr id="16" name="Text 13"/>
          <p:cNvSpPr/>
          <p:nvPr/>
        </p:nvSpPr>
        <p:spPr>
          <a:xfrm>
            <a:off x="2966792"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17" name="Text 14"/>
          <p:cNvSpPr/>
          <p:nvPr/>
        </p:nvSpPr>
        <p:spPr>
          <a:xfrm>
            <a:off x="1091927" y="5193001"/>
            <a:ext cx="32252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551</a:t>
            </a:r>
            <a:endParaRPr lang="en-US" sz="800" dirty="0"/>
          </a:p>
        </p:txBody>
      </p:sp>
      <p:sp>
        <p:nvSpPr>
          <p:cNvPr id="18" name="Text 15"/>
          <p:cNvSpPr/>
          <p:nvPr/>
        </p:nvSpPr>
        <p:spPr>
          <a:xfrm>
            <a:off x="1091927"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19" name="Text 16"/>
          <p:cNvSpPr/>
          <p:nvPr/>
        </p:nvSpPr>
        <p:spPr>
          <a:xfrm>
            <a:off x="2966792" y="5193001"/>
            <a:ext cx="40734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3.6M</a:t>
            </a:r>
            <a:endParaRPr lang="en-US" sz="800" dirty="0"/>
          </a:p>
        </p:txBody>
      </p:sp>
      <p:sp>
        <p:nvSpPr>
          <p:cNvPr id="20" name="Text 17"/>
          <p:cNvSpPr/>
          <p:nvPr/>
        </p:nvSpPr>
        <p:spPr>
          <a:xfrm>
            <a:off x="2966792"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21" name="Text 18"/>
          <p:cNvSpPr/>
          <p:nvPr/>
        </p:nvSpPr>
        <p:spPr>
          <a:xfrm>
            <a:off x="5133683" y="1015746"/>
            <a:ext cx="688753"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SILVANA</a:t>
            </a:r>
            <a:endParaRPr lang="en-US" sz="1000" dirty="0"/>
          </a:p>
        </p:txBody>
      </p:sp>
      <p:sp>
        <p:nvSpPr>
          <p:cNvPr id="22" name="Text 19"/>
          <p:cNvSpPr/>
          <p:nvPr/>
        </p:nvSpPr>
        <p:spPr>
          <a:xfrm>
            <a:off x="5133683" y="1187153"/>
            <a:ext cx="76915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60012 followers</a:t>
            </a:r>
            <a:endParaRPr lang="en-US" sz="650" dirty="0"/>
          </a:p>
        </p:txBody>
      </p:sp>
      <p:sp>
        <p:nvSpPr>
          <p:cNvPr id="23" name="Text 20"/>
          <p:cNvSpPr/>
          <p:nvPr/>
        </p:nvSpPr>
        <p:spPr>
          <a:xfrm>
            <a:off x="6739435" y="1022094"/>
            <a:ext cx="799206"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Jun 30, 2026</a:t>
            </a:r>
            <a:endParaRPr lang="en-US" sz="800" dirty="0"/>
          </a:p>
        </p:txBody>
      </p:sp>
      <p:sp>
        <p:nvSpPr>
          <p:cNvPr id="24" name="Text 21"/>
          <p:cNvSpPr/>
          <p:nvPr/>
        </p:nvSpPr>
        <p:spPr>
          <a:xfrm>
            <a:off x="6893384"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25" name="Text 22"/>
          <p:cNvSpPr/>
          <p:nvPr/>
        </p:nvSpPr>
        <p:spPr>
          <a:xfrm>
            <a:off x="4854353"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26" name="Text 23"/>
          <p:cNvSpPr/>
          <p:nvPr/>
        </p:nvSpPr>
        <p:spPr>
          <a:xfrm>
            <a:off x="4803566"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 BREAKING: Historic Gold Rate Update! 📉😱 आज Gold Rate में एक और ब...</a:t>
            </a:r>
            <a:endParaRPr lang="en-US" sz="700" dirty="0"/>
          </a:p>
        </p:txBody>
      </p:sp>
      <p:sp>
        <p:nvSpPr>
          <p:cNvPr id="27" name="Text 24"/>
          <p:cNvSpPr/>
          <p:nvPr/>
        </p:nvSpPr>
        <p:spPr>
          <a:xfrm>
            <a:off x="4930534"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28" name="Text 25"/>
          <p:cNvSpPr/>
          <p:nvPr/>
        </p:nvSpPr>
        <p:spPr>
          <a:xfrm>
            <a:off x="6678431" y="4539115"/>
            <a:ext cx="520564"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9.82%</a:t>
            </a:r>
            <a:endParaRPr lang="en-US" sz="900" dirty="0"/>
          </a:p>
        </p:txBody>
      </p:sp>
      <p:sp>
        <p:nvSpPr>
          <p:cNvPr id="29" name="Text 26"/>
          <p:cNvSpPr/>
          <p:nvPr/>
        </p:nvSpPr>
        <p:spPr>
          <a:xfrm>
            <a:off x="4803566" y="4862884"/>
            <a:ext cx="51218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478.5K</a:t>
            </a:r>
            <a:endParaRPr lang="en-US" sz="800" dirty="0"/>
          </a:p>
        </p:txBody>
      </p:sp>
      <p:sp>
        <p:nvSpPr>
          <p:cNvPr id="30" name="Text 27"/>
          <p:cNvSpPr/>
          <p:nvPr/>
        </p:nvSpPr>
        <p:spPr>
          <a:xfrm>
            <a:off x="4803566"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31" name="Text 28"/>
          <p:cNvSpPr/>
          <p:nvPr/>
        </p:nvSpPr>
        <p:spPr>
          <a:xfrm>
            <a:off x="6678431" y="4862884"/>
            <a:ext cx="43427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5,789</a:t>
            </a:r>
            <a:endParaRPr lang="en-US" sz="800" dirty="0"/>
          </a:p>
        </p:txBody>
      </p:sp>
      <p:sp>
        <p:nvSpPr>
          <p:cNvPr id="32" name="Text 29"/>
          <p:cNvSpPr/>
          <p:nvPr/>
        </p:nvSpPr>
        <p:spPr>
          <a:xfrm>
            <a:off x="6678431"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33" name="Text 30"/>
          <p:cNvSpPr/>
          <p:nvPr/>
        </p:nvSpPr>
        <p:spPr>
          <a:xfrm>
            <a:off x="4803566" y="5193001"/>
            <a:ext cx="32783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105</a:t>
            </a:r>
            <a:endParaRPr lang="en-US" sz="800" dirty="0"/>
          </a:p>
        </p:txBody>
      </p:sp>
      <p:sp>
        <p:nvSpPr>
          <p:cNvPr id="34" name="Text 31"/>
          <p:cNvSpPr/>
          <p:nvPr/>
        </p:nvSpPr>
        <p:spPr>
          <a:xfrm>
            <a:off x="4803566"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35" name="Text 32"/>
          <p:cNvSpPr/>
          <p:nvPr/>
        </p:nvSpPr>
        <p:spPr>
          <a:xfrm>
            <a:off x="6678431" y="5193001"/>
            <a:ext cx="48788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298.1K</a:t>
            </a:r>
            <a:endParaRPr lang="en-US" sz="800" dirty="0"/>
          </a:p>
        </p:txBody>
      </p:sp>
      <p:sp>
        <p:nvSpPr>
          <p:cNvPr id="36" name="Text 33"/>
          <p:cNvSpPr/>
          <p:nvPr/>
        </p:nvSpPr>
        <p:spPr>
          <a:xfrm>
            <a:off x="6678431"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37" name="Text 34"/>
          <p:cNvSpPr/>
          <p:nvPr/>
        </p:nvSpPr>
        <p:spPr>
          <a:xfrm>
            <a:off x="8845422" y="1015746"/>
            <a:ext cx="688753"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SILVANA</a:t>
            </a:r>
            <a:endParaRPr lang="en-US" sz="1000" dirty="0"/>
          </a:p>
        </p:txBody>
      </p:sp>
      <p:sp>
        <p:nvSpPr>
          <p:cNvPr id="38" name="Text 35"/>
          <p:cNvSpPr/>
          <p:nvPr/>
        </p:nvSpPr>
        <p:spPr>
          <a:xfrm>
            <a:off x="8845422" y="1187153"/>
            <a:ext cx="76915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60012 followers</a:t>
            </a:r>
            <a:endParaRPr lang="en-US" sz="650" dirty="0"/>
          </a:p>
        </p:txBody>
      </p:sp>
      <p:sp>
        <p:nvSpPr>
          <p:cNvPr id="39" name="Text 36"/>
          <p:cNvSpPr/>
          <p:nvPr/>
        </p:nvSpPr>
        <p:spPr>
          <a:xfrm>
            <a:off x="10456431" y="1022094"/>
            <a:ext cx="793948"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Jun 25, 2026</a:t>
            </a:r>
            <a:endParaRPr lang="en-US" sz="800" dirty="0"/>
          </a:p>
        </p:txBody>
      </p:sp>
      <p:sp>
        <p:nvSpPr>
          <p:cNvPr id="40" name="Text 37"/>
          <p:cNvSpPr/>
          <p:nvPr/>
        </p:nvSpPr>
        <p:spPr>
          <a:xfrm>
            <a:off x="10605122"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41" name="Text 38"/>
          <p:cNvSpPr/>
          <p:nvPr/>
        </p:nvSpPr>
        <p:spPr>
          <a:xfrm>
            <a:off x="8566092"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42" name="Text 39"/>
          <p:cNvSpPr/>
          <p:nvPr/>
        </p:nvSpPr>
        <p:spPr>
          <a:xfrm>
            <a:off x="8515304"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 HISTORIC DROP IN GOLD RATE! 💥💥 At the beginning of the year, g...</a:t>
            </a:r>
            <a:endParaRPr lang="en-US" sz="700" dirty="0"/>
          </a:p>
        </p:txBody>
      </p:sp>
      <p:sp>
        <p:nvSpPr>
          <p:cNvPr id="43" name="Text 40"/>
          <p:cNvSpPr/>
          <p:nvPr/>
        </p:nvSpPr>
        <p:spPr>
          <a:xfrm>
            <a:off x="8642272"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44" name="Text 41"/>
          <p:cNvSpPr/>
          <p:nvPr/>
        </p:nvSpPr>
        <p:spPr>
          <a:xfrm>
            <a:off x="10390169" y="4539115"/>
            <a:ext cx="530049"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8.49%</a:t>
            </a:r>
            <a:endParaRPr lang="en-US" sz="900" dirty="0"/>
          </a:p>
        </p:txBody>
      </p:sp>
      <p:sp>
        <p:nvSpPr>
          <p:cNvPr id="45" name="Text 42"/>
          <p:cNvSpPr/>
          <p:nvPr/>
        </p:nvSpPr>
        <p:spPr>
          <a:xfrm>
            <a:off x="8515304" y="4862884"/>
            <a:ext cx="52052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346.2K</a:t>
            </a:r>
            <a:endParaRPr lang="en-US" sz="800" dirty="0"/>
          </a:p>
        </p:txBody>
      </p:sp>
      <p:sp>
        <p:nvSpPr>
          <p:cNvPr id="46" name="Text 43"/>
          <p:cNvSpPr/>
          <p:nvPr/>
        </p:nvSpPr>
        <p:spPr>
          <a:xfrm>
            <a:off x="8515304"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47" name="Text 44"/>
          <p:cNvSpPr/>
          <p:nvPr/>
        </p:nvSpPr>
        <p:spPr>
          <a:xfrm>
            <a:off x="10390169" y="4862884"/>
            <a:ext cx="44260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5,029</a:t>
            </a:r>
            <a:endParaRPr lang="en-US" sz="800" dirty="0"/>
          </a:p>
        </p:txBody>
      </p:sp>
      <p:sp>
        <p:nvSpPr>
          <p:cNvPr id="48" name="Text 45"/>
          <p:cNvSpPr/>
          <p:nvPr/>
        </p:nvSpPr>
        <p:spPr>
          <a:xfrm>
            <a:off x="10390169"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49" name="Text 46"/>
          <p:cNvSpPr/>
          <p:nvPr/>
        </p:nvSpPr>
        <p:spPr>
          <a:xfrm>
            <a:off x="8515304" y="5193001"/>
            <a:ext cx="28429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69</a:t>
            </a:r>
            <a:endParaRPr lang="en-US" sz="800" dirty="0"/>
          </a:p>
        </p:txBody>
      </p:sp>
      <p:sp>
        <p:nvSpPr>
          <p:cNvPr id="50" name="Text 47"/>
          <p:cNvSpPr/>
          <p:nvPr/>
        </p:nvSpPr>
        <p:spPr>
          <a:xfrm>
            <a:off x="8515304"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51" name="Text 48"/>
          <p:cNvSpPr/>
          <p:nvPr/>
        </p:nvSpPr>
        <p:spPr>
          <a:xfrm>
            <a:off x="10390169" y="5193001"/>
            <a:ext cx="48446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215.7K</a:t>
            </a:r>
            <a:endParaRPr lang="en-US" sz="800" dirty="0"/>
          </a:p>
        </p:txBody>
      </p:sp>
      <p:sp>
        <p:nvSpPr>
          <p:cNvPr id="52" name="Text 49"/>
          <p:cNvSpPr/>
          <p:nvPr/>
        </p:nvSpPr>
        <p:spPr>
          <a:xfrm>
            <a:off x="10390169"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53" name="Text 50"/>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54" name="Text 51"/>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5296362" y="114271"/>
            <a:ext cx="174859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ENGAGEMENT</a:t>
            </a:r>
            <a:endParaRPr lang="en-US" sz="1800" dirty="0"/>
          </a:p>
        </p:txBody>
      </p:sp>
      <p:sp>
        <p:nvSpPr>
          <p:cNvPr id="5" name="Text 2"/>
          <p:cNvSpPr/>
          <p:nvPr/>
        </p:nvSpPr>
        <p:spPr>
          <a:xfrm>
            <a:off x="11476045" y="139665"/>
            <a:ext cx="52238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7/12</a:t>
            </a:r>
            <a:endParaRPr lang="en-US" sz="1500" dirty="0"/>
          </a:p>
        </p:txBody>
      </p:sp>
      <p:sp>
        <p:nvSpPr>
          <p:cNvPr id="6" name="Text 3"/>
          <p:cNvSpPr/>
          <p:nvPr/>
        </p:nvSpPr>
        <p:spPr>
          <a:xfrm>
            <a:off x="374556" y="1663284"/>
            <a:ext cx="2800778"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Engagement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173.9K Total Organic Likes — a volatile period.</a:t>
            </a:r>
            <a:endParaRPr lang="en-US" sz="2999" dirty="0"/>
          </a:p>
        </p:txBody>
      </p:sp>
      <p:sp>
        <p:nvSpPr>
          <p:cNvPr id="8" name="Text 5"/>
          <p:cNvSpPr/>
          <p:nvPr/>
        </p:nvSpPr>
        <p:spPr>
          <a:xfrm>
            <a:off x="374556" y="2983754"/>
            <a:ext cx="3781472"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Total Organic Likes and Total Organic Comments improved this period.</a:t>
            </a:r>
            <a:endParaRPr lang="en-US" sz="800" dirty="0"/>
          </a:p>
        </p:txBody>
      </p:sp>
      <p:sp>
        <p:nvSpPr>
          <p:cNvPr id="9" name="Text 6"/>
          <p:cNvSpPr/>
          <p:nvPr/>
        </p:nvSpPr>
        <p:spPr>
          <a:xfrm>
            <a:off x="374556" y="3993151"/>
            <a:ext cx="184590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LIKES</a:t>
            </a:r>
            <a:endParaRPr lang="en-US" sz="1200" dirty="0"/>
          </a:p>
        </p:txBody>
      </p:sp>
      <p:sp>
        <p:nvSpPr>
          <p:cNvPr id="10" name="Text 7"/>
          <p:cNvSpPr/>
          <p:nvPr/>
        </p:nvSpPr>
        <p:spPr>
          <a:xfrm>
            <a:off x="374556" y="4278830"/>
            <a:ext cx="1123371"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173.9K</a:t>
            </a:r>
            <a:endParaRPr lang="en-US" sz="2399" dirty="0"/>
          </a:p>
        </p:txBody>
      </p:sp>
      <p:sp>
        <p:nvSpPr>
          <p:cNvPr id="11" name="Text 8"/>
          <p:cNvSpPr/>
          <p:nvPr/>
        </p:nvSpPr>
        <p:spPr>
          <a:xfrm>
            <a:off x="526918" y="4754961"/>
            <a:ext cx="812547"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705.34%</a:t>
            </a:r>
            <a:endParaRPr lang="en-US" sz="1200" dirty="0"/>
          </a:p>
        </p:txBody>
      </p:sp>
      <p:sp>
        <p:nvSpPr>
          <p:cNvPr id="12" name="Text 9"/>
          <p:cNvSpPr/>
          <p:nvPr/>
        </p:nvSpPr>
        <p:spPr>
          <a:xfrm>
            <a:off x="3183729" y="3993151"/>
            <a:ext cx="233453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COMMENTS</a:t>
            </a:r>
            <a:endParaRPr lang="en-US" sz="1200" dirty="0"/>
          </a:p>
        </p:txBody>
      </p:sp>
      <p:sp>
        <p:nvSpPr>
          <p:cNvPr id="13" name="Text 10"/>
          <p:cNvSpPr/>
          <p:nvPr/>
        </p:nvSpPr>
        <p:spPr>
          <a:xfrm>
            <a:off x="3183729" y="4278830"/>
            <a:ext cx="916701"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4,761</a:t>
            </a:r>
            <a:endParaRPr lang="en-US" sz="2399" dirty="0"/>
          </a:p>
        </p:txBody>
      </p:sp>
      <p:sp>
        <p:nvSpPr>
          <p:cNvPr id="14" name="Text 11"/>
          <p:cNvSpPr/>
          <p:nvPr/>
        </p:nvSpPr>
        <p:spPr>
          <a:xfrm>
            <a:off x="3336091" y="4754961"/>
            <a:ext cx="736589"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316.17%</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5745611" y="114271"/>
            <a:ext cx="85004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REELS</a:t>
            </a:r>
            <a:endParaRPr lang="en-US" sz="1800" dirty="0"/>
          </a:p>
        </p:txBody>
      </p:sp>
      <p:sp>
        <p:nvSpPr>
          <p:cNvPr id="5" name="Text 2"/>
          <p:cNvSpPr/>
          <p:nvPr/>
        </p:nvSpPr>
        <p:spPr>
          <a:xfrm>
            <a:off x="11466027" y="139665"/>
            <a:ext cx="53243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8/12</a:t>
            </a:r>
            <a:endParaRPr lang="en-US" sz="1500" dirty="0"/>
          </a:p>
        </p:txBody>
      </p:sp>
      <p:sp>
        <p:nvSpPr>
          <p:cNvPr id="6" name="Text 3"/>
          <p:cNvSpPr/>
          <p:nvPr/>
        </p:nvSpPr>
        <p:spPr>
          <a:xfrm>
            <a:off x="374556" y="1136366"/>
            <a:ext cx="314126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Key metrics for reels published during the period</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Reels was mixed — some metrics increased while others decreased.</a:t>
            </a:r>
            <a:endParaRPr lang="en-US" sz="3599" dirty="0"/>
          </a:p>
        </p:txBody>
      </p:sp>
      <p:sp>
        <p:nvSpPr>
          <p:cNvPr id="8" name="Text 5"/>
          <p:cNvSpPr/>
          <p:nvPr/>
        </p:nvSpPr>
        <p:spPr>
          <a:xfrm>
            <a:off x="501525" y="2926618"/>
            <a:ext cx="1352807"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VIEWS / REEL</a:t>
            </a:r>
            <a:endParaRPr lang="en-US" sz="1200" dirty="0"/>
          </a:p>
        </p:txBody>
      </p:sp>
      <p:sp>
        <p:nvSpPr>
          <p:cNvPr id="9" name="Text 6"/>
          <p:cNvSpPr/>
          <p:nvPr/>
        </p:nvSpPr>
        <p:spPr>
          <a:xfrm>
            <a:off x="501525" y="3504324"/>
            <a:ext cx="636676"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1.7</a:t>
            </a:r>
            <a:endParaRPr lang="en-US" sz="2999" dirty="0"/>
          </a:p>
        </p:txBody>
      </p:sp>
      <p:sp>
        <p:nvSpPr>
          <p:cNvPr id="10" name="Text 7"/>
          <p:cNvSpPr/>
          <p:nvPr/>
        </p:nvSpPr>
        <p:spPr>
          <a:xfrm>
            <a:off x="691977" y="4088378"/>
            <a:ext cx="811041"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15.72%</a:t>
            </a:r>
            <a:endParaRPr lang="en-US" sz="1500" dirty="0"/>
          </a:p>
        </p:txBody>
      </p:sp>
      <p:sp>
        <p:nvSpPr>
          <p:cNvPr id="11" name="Text 8"/>
          <p:cNvSpPr/>
          <p:nvPr/>
        </p:nvSpPr>
        <p:spPr>
          <a:xfrm>
            <a:off x="4365526" y="2926618"/>
            <a:ext cx="19314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REEL</a:t>
            </a:r>
            <a:endParaRPr lang="en-US" sz="1200" dirty="0"/>
          </a:p>
        </p:txBody>
      </p:sp>
      <p:sp>
        <p:nvSpPr>
          <p:cNvPr id="12" name="Text 9"/>
          <p:cNvSpPr/>
          <p:nvPr/>
        </p:nvSpPr>
        <p:spPr>
          <a:xfrm>
            <a:off x="4365526" y="3504324"/>
            <a:ext cx="1216961"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3,249</a:t>
            </a:r>
            <a:endParaRPr lang="en-US" sz="2999" dirty="0"/>
          </a:p>
        </p:txBody>
      </p:sp>
      <p:sp>
        <p:nvSpPr>
          <p:cNvPr id="13" name="Text 10"/>
          <p:cNvSpPr/>
          <p:nvPr/>
        </p:nvSpPr>
        <p:spPr>
          <a:xfrm>
            <a:off x="4555978" y="4088378"/>
            <a:ext cx="992566"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200.02%</a:t>
            </a:r>
            <a:endParaRPr lang="en-US" sz="1500" dirty="0"/>
          </a:p>
        </p:txBody>
      </p:sp>
      <p:sp>
        <p:nvSpPr>
          <p:cNvPr id="14" name="Text 11"/>
          <p:cNvSpPr/>
          <p:nvPr/>
        </p:nvSpPr>
        <p:spPr>
          <a:xfrm>
            <a:off x="8229626" y="2926618"/>
            <a:ext cx="1378994"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REEL LENGTH</a:t>
            </a:r>
            <a:endParaRPr lang="en-US" sz="1200" dirty="0"/>
          </a:p>
        </p:txBody>
      </p:sp>
      <p:sp>
        <p:nvSpPr>
          <p:cNvPr id="15" name="Text 12"/>
          <p:cNvSpPr/>
          <p:nvPr/>
        </p:nvSpPr>
        <p:spPr>
          <a:xfrm>
            <a:off x="8229626" y="3504324"/>
            <a:ext cx="398239"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0</a:t>
            </a:r>
            <a:endParaRPr lang="en-US" sz="2999" dirty="0"/>
          </a:p>
        </p:txBody>
      </p:sp>
      <p:sp>
        <p:nvSpPr>
          <p:cNvPr id="16" name="Text 13"/>
          <p:cNvSpPr/>
          <p:nvPr/>
        </p:nvSpPr>
        <p:spPr>
          <a:xfrm>
            <a:off x="8229626" y="4088378"/>
            <a:ext cx="464451" cy="228543"/>
          </a:xfrm>
          <a:prstGeom prst="rect">
            <a:avLst/>
          </a:prstGeom>
          <a:ln/>
        </p:spPr>
        <p:txBody>
          <a:bodyPr wrap="none" lIns="0" tIns="0" rIns="0" bIns="0" rtlCol="0" anchor="t"/>
          <a:lstStyle/>
          <a:p>
            <a:pPr algn="l" indent="0" marL="0">
              <a:lnSpc>
                <a:spcPct val="100000"/>
              </a:lnSpc>
              <a:buNone/>
            </a:pPr>
            <a:r>
              <a:rPr lang="en-US" sz="1500" dirty="0">
                <a:solidFill>
                  <a:srgbClr val="FBAF3A"/>
                </a:solidFill>
                <a:latin typeface="Inter" pitchFamily="34" charset="0"/>
                <a:ea typeface="Inter" pitchFamily="34" charset="-122"/>
                <a:cs typeface="Inter" pitchFamily="34" charset="-120"/>
              </a:rPr>
              <a:t>0%</a:t>
            </a:r>
            <a:endParaRPr lang="en-US" sz="1500" dirty="0"/>
          </a:p>
        </p:txBody>
      </p:sp>
      <p:sp>
        <p:nvSpPr>
          <p:cNvPr id="17" name="Text 14"/>
          <p:cNvSpPr/>
          <p:nvPr/>
        </p:nvSpPr>
        <p:spPr>
          <a:xfrm>
            <a:off x="450737"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8" name="Text 15"/>
          <p:cNvSpPr/>
          <p:nvPr/>
        </p:nvSpPr>
        <p:spPr>
          <a:xfrm>
            <a:off x="43147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9" name="Text 16"/>
          <p:cNvSpPr/>
          <p:nvPr/>
        </p:nvSpPr>
        <p:spPr>
          <a:xfrm>
            <a:off x="81788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5708909" y="114271"/>
            <a:ext cx="9234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REACH</a:t>
            </a:r>
            <a:endParaRPr lang="en-US" sz="1800" dirty="0"/>
          </a:p>
        </p:txBody>
      </p:sp>
      <p:sp>
        <p:nvSpPr>
          <p:cNvPr id="5" name="Text 2"/>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9/12</a:t>
            </a:r>
            <a:endParaRPr lang="en-US" sz="1500" dirty="0"/>
          </a:p>
        </p:txBody>
      </p:sp>
      <p:sp>
        <p:nvSpPr>
          <p:cNvPr id="6" name="Text 3"/>
          <p:cNvSpPr/>
          <p:nvPr/>
        </p:nvSpPr>
        <p:spPr>
          <a:xfrm>
            <a:off x="374556" y="1561709"/>
            <a:ext cx="2987139"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Reach performance broken down by post type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122.3K Avg Reach / Post — holding steady.</a:t>
            </a:r>
            <a:endParaRPr lang="en-US" sz="2999" dirty="0"/>
          </a:p>
        </p:txBody>
      </p:sp>
      <p:sp>
        <p:nvSpPr>
          <p:cNvPr id="8" name="Text 5"/>
          <p:cNvSpPr/>
          <p:nvPr/>
        </p:nvSpPr>
        <p:spPr>
          <a:xfrm>
            <a:off x="374556" y="2882179"/>
            <a:ext cx="4022810"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Avg Reach / Post and Avg Engagement Rate by Reach improved this period.</a:t>
            </a:r>
            <a:endParaRPr lang="en-US" sz="800" dirty="0"/>
          </a:p>
        </p:txBody>
      </p:sp>
      <p:sp>
        <p:nvSpPr>
          <p:cNvPr id="9" name="Text 6"/>
          <p:cNvSpPr/>
          <p:nvPr/>
        </p:nvSpPr>
        <p:spPr>
          <a:xfrm>
            <a:off x="374556" y="3891577"/>
            <a:ext cx="157391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REACH / POST</a:t>
            </a:r>
            <a:endParaRPr lang="en-US" sz="1200" dirty="0"/>
          </a:p>
        </p:txBody>
      </p:sp>
      <p:sp>
        <p:nvSpPr>
          <p:cNvPr id="10" name="Text 7"/>
          <p:cNvSpPr/>
          <p:nvPr/>
        </p:nvSpPr>
        <p:spPr>
          <a:xfrm>
            <a:off x="374556" y="4177255"/>
            <a:ext cx="1139590"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122.3K</a:t>
            </a:r>
            <a:endParaRPr lang="en-US" sz="2399" dirty="0"/>
          </a:p>
        </p:txBody>
      </p:sp>
      <p:sp>
        <p:nvSpPr>
          <p:cNvPr id="11" name="Text 8"/>
          <p:cNvSpPr/>
          <p:nvPr/>
        </p:nvSpPr>
        <p:spPr>
          <a:xfrm>
            <a:off x="526918" y="4653386"/>
            <a:ext cx="807340"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579.02%</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REACH</a:t>
            </a:r>
            <a:endParaRPr lang="en-US" sz="1200" dirty="0"/>
          </a:p>
        </p:txBody>
      </p:sp>
      <p:sp>
        <p:nvSpPr>
          <p:cNvPr id="13" name="Text 10"/>
          <p:cNvSpPr/>
          <p:nvPr/>
        </p:nvSpPr>
        <p:spPr>
          <a:xfrm>
            <a:off x="3183729" y="4456586"/>
            <a:ext cx="497631"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2.5</a:t>
            </a:r>
            <a:endParaRPr lang="en-US" sz="1800" dirty="0"/>
          </a:p>
        </p:txBody>
      </p:sp>
      <p:sp>
        <p:nvSpPr>
          <p:cNvPr id="14" name="Text 11"/>
          <p:cNvSpPr/>
          <p:nvPr/>
        </p:nvSpPr>
        <p:spPr>
          <a:xfrm>
            <a:off x="3589928"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725430"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26.99%</a:t>
            </a:r>
            <a:endParaRPr lang="en-US" sz="1200" dirty="0"/>
          </a:p>
        </p:txBody>
      </p:sp>
      <p:sp>
        <p:nvSpPr>
          <p:cNvPr id="16" name="Text 13"/>
          <p:cNvSpPr/>
          <p:nvPr/>
        </p:nvSpPr>
        <p:spPr>
          <a:xfrm>
            <a:off x="6399200" y="3237690"/>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7" name="Text 14"/>
          <p:cNvSpPr/>
          <p:nvPr/>
        </p:nvSpPr>
        <p:spPr>
          <a:xfrm>
            <a:off x="11417818" y="3237690"/>
            <a:ext cx="396577"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6.7M</a:t>
            </a:r>
            <a:endParaRPr lang="en-US" sz="800" dirty="0"/>
          </a:p>
        </p:txBody>
      </p:sp>
      <p:sp>
        <p:nvSpPr>
          <p:cNvPr id="18" name="Text 15"/>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9" name="Text 16"/>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5730335" y="114271"/>
            <a:ext cx="880619"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VIEWS</a:t>
            </a:r>
            <a:endParaRPr lang="en-US" sz="1800" dirty="0"/>
          </a:p>
        </p:txBody>
      </p:sp>
      <p:sp>
        <p:nvSpPr>
          <p:cNvPr id="5" name="Text 2"/>
          <p:cNvSpPr/>
          <p:nvPr/>
        </p:nvSpPr>
        <p:spPr>
          <a:xfrm>
            <a:off x="11386275" y="139665"/>
            <a:ext cx="61221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10/12</a:t>
            </a:r>
            <a:endParaRPr lang="en-US" sz="1500" dirty="0"/>
          </a:p>
        </p:txBody>
      </p:sp>
      <p:sp>
        <p:nvSpPr>
          <p:cNvPr id="6" name="Text 3"/>
          <p:cNvSpPr/>
          <p:nvPr/>
        </p:nvSpPr>
        <p:spPr>
          <a:xfrm>
            <a:off x="374556" y="1561709"/>
            <a:ext cx="1355646"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Views performance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196.3K Avg Views / Post — a volatile period.</a:t>
            </a:r>
            <a:endParaRPr lang="en-US" sz="2999" dirty="0"/>
          </a:p>
        </p:txBody>
      </p:sp>
      <p:sp>
        <p:nvSpPr>
          <p:cNvPr id="8" name="Text 5"/>
          <p:cNvSpPr/>
          <p:nvPr/>
        </p:nvSpPr>
        <p:spPr>
          <a:xfrm>
            <a:off x="374556" y="2882179"/>
            <a:ext cx="4001980"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Avg Views / Post and Avg Engagement Rate by Views improved this period.</a:t>
            </a:r>
            <a:endParaRPr lang="en-US" sz="800" dirty="0"/>
          </a:p>
        </p:txBody>
      </p:sp>
      <p:sp>
        <p:nvSpPr>
          <p:cNvPr id="9" name="Text 6"/>
          <p:cNvSpPr/>
          <p:nvPr/>
        </p:nvSpPr>
        <p:spPr>
          <a:xfrm>
            <a:off x="374556" y="3891577"/>
            <a:ext cx="1548021"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VIEWS / POST</a:t>
            </a:r>
            <a:endParaRPr lang="en-US" sz="1200" dirty="0"/>
          </a:p>
        </p:txBody>
      </p:sp>
      <p:sp>
        <p:nvSpPr>
          <p:cNvPr id="10" name="Text 7"/>
          <p:cNvSpPr/>
          <p:nvPr/>
        </p:nvSpPr>
        <p:spPr>
          <a:xfrm>
            <a:off x="374556" y="4177255"/>
            <a:ext cx="1138102"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196.3K</a:t>
            </a:r>
            <a:endParaRPr lang="en-US" sz="2399" dirty="0"/>
          </a:p>
        </p:txBody>
      </p:sp>
      <p:sp>
        <p:nvSpPr>
          <p:cNvPr id="11" name="Text 8"/>
          <p:cNvSpPr/>
          <p:nvPr/>
        </p:nvSpPr>
        <p:spPr>
          <a:xfrm>
            <a:off x="526918" y="4653386"/>
            <a:ext cx="786732"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159.26%</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VIEWS</a:t>
            </a:r>
            <a:endParaRPr lang="en-US" sz="1200" dirty="0"/>
          </a:p>
        </p:txBody>
      </p:sp>
      <p:sp>
        <p:nvSpPr>
          <p:cNvPr id="13" name="Text 10"/>
          <p:cNvSpPr/>
          <p:nvPr/>
        </p:nvSpPr>
        <p:spPr>
          <a:xfrm>
            <a:off x="3183729" y="4456586"/>
            <a:ext cx="454333"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1.6</a:t>
            </a:r>
            <a:endParaRPr lang="en-US" sz="1800" dirty="0"/>
          </a:p>
        </p:txBody>
      </p:sp>
      <p:sp>
        <p:nvSpPr>
          <p:cNvPr id="14" name="Text 11"/>
          <p:cNvSpPr/>
          <p:nvPr/>
        </p:nvSpPr>
        <p:spPr>
          <a:xfrm>
            <a:off x="3546680"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725430"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26.99%</a:t>
            </a:r>
            <a:endParaRPr lang="en-US" sz="1200" dirty="0"/>
          </a:p>
        </p:txBody>
      </p:sp>
      <p:sp>
        <p:nvSpPr>
          <p:cNvPr id="16" name="Text 13"/>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5398135" y="114271"/>
            <a:ext cx="154504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FOLLOWERS</a:t>
            </a:r>
            <a:endParaRPr lang="en-US" sz="1800" dirty="0"/>
          </a:p>
        </p:txBody>
      </p:sp>
      <p:sp>
        <p:nvSpPr>
          <p:cNvPr id="5" name="Text 2"/>
          <p:cNvSpPr/>
          <p:nvPr/>
        </p:nvSpPr>
        <p:spPr>
          <a:xfrm>
            <a:off x="11428928" y="139665"/>
            <a:ext cx="56953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11/12</a:t>
            </a:r>
            <a:endParaRPr lang="en-US" sz="1500" dirty="0"/>
          </a:p>
        </p:txBody>
      </p:sp>
      <p:sp>
        <p:nvSpPr>
          <p:cNvPr id="6" name="Text 3"/>
          <p:cNvSpPr/>
          <p:nvPr/>
        </p:nvSpPr>
        <p:spPr>
          <a:xfrm>
            <a:off x="374556" y="1663284"/>
            <a:ext cx="3011131"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Follower growth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504 Follower Growth — holding steady.</a:t>
            </a:r>
            <a:endParaRPr lang="en-US" sz="2999" dirty="0"/>
          </a:p>
        </p:txBody>
      </p:sp>
      <p:sp>
        <p:nvSpPr>
          <p:cNvPr id="8" name="Text 5"/>
          <p:cNvSpPr/>
          <p:nvPr/>
        </p:nvSpPr>
        <p:spPr>
          <a:xfrm>
            <a:off x="374556" y="2983754"/>
            <a:ext cx="3385291"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Follower Growth and Followers Growth % declined this period.</a:t>
            </a:r>
            <a:endParaRPr lang="en-US" sz="800" dirty="0"/>
          </a:p>
        </p:txBody>
      </p:sp>
      <p:sp>
        <p:nvSpPr>
          <p:cNvPr id="9" name="Text 6"/>
          <p:cNvSpPr/>
          <p:nvPr/>
        </p:nvSpPr>
        <p:spPr>
          <a:xfrm>
            <a:off x="374556" y="3993151"/>
            <a:ext cx="1720395"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 GROWTH</a:t>
            </a:r>
            <a:endParaRPr lang="en-US" sz="1200" dirty="0"/>
          </a:p>
        </p:txBody>
      </p:sp>
      <p:sp>
        <p:nvSpPr>
          <p:cNvPr id="10" name="Text 7"/>
          <p:cNvSpPr/>
          <p:nvPr/>
        </p:nvSpPr>
        <p:spPr>
          <a:xfrm>
            <a:off x="374556" y="4278830"/>
            <a:ext cx="732795"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504</a:t>
            </a:r>
            <a:endParaRPr lang="en-US" sz="2399" dirty="0"/>
          </a:p>
        </p:txBody>
      </p:sp>
      <p:sp>
        <p:nvSpPr>
          <p:cNvPr id="11" name="Text 8"/>
          <p:cNvSpPr/>
          <p:nvPr/>
        </p:nvSpPr>
        <p:spPr>
          <a:xfrm>
            <a:off x="526918" y="4754961"/>
            <a:ext cx="717991"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64.73%</a:t>
            </a:r>
            <a:endParaRPr lang="en-US" sz="1200" dirty="0"/>
          </a:p>
        </p:txBody>
      </p:sp>
      <p:sp>
        <p:nvSpPr>
          <p:cNvPr id="12" name="Text 9"/>
          <p:cNvSpPr/>
          <p:nvPr/>
        </p:nvSpPr>
        <p:spPr>
          <a:xfrm>
            <a:off x="3183729" y="3993151"/>
            <a:ext cx="201076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FOLLOWERS GROWTH %</a:t>
            </a:r>
            <a:endParaRPr lang="en-US" sz="1200" dirty="0"/>
          </a:p>
        </p:txBody>
      </p:sp>
      <p:sp>
        <p:nvSpPr>
          <p:cNvPr id="13" name="Text 10"/>
          <p:cNvSpPr/>
          <p:nvPr/>
        </p:nvSpPr>
        <p:spPr>
          <a:xfrm>
            <a:off x="3183729" y="4278830"/>
            <a:ext cx="617631"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0.8</a:t>
            </a:r>
            <a:endParaRPr lang="en-US" sz="2399" dirty="0"/>
          </a:p>
        </p:txBody>
      </p:sp>
      <p:sp>
        <p:nvSpPr>
          <p:cNvPr id="14" name="Text 11"/>
          <p:cNvSpPr/>
          <p:nvPr/>
        </p:nvSpPr>
        <p:spPr>
          <a:xfrm>
            <a:off x="3336091" y="4754961"/>
            <a:ext cx="625740"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65.6%</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47005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REFERENCE</a:t>
            </a:r>
            <a:endParaRPr lang="en-US" sz="1800" dirty="0"/>
          </a:p>
        </p:txBody>
      </p:sp>
      <p:sp>
        <p:nvSpPr>
          <p:cNvPr id="4" name="Text 1"/>
          <p:cNvSpPr/>
          <p:nvPr/>
        </p:nvSpPr>
        <p:spPr>
          <a:xfrm>
            <a:off x="11390242" y="139665"/>
            <a:ext cx="60822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12/12</a:t>
            </a:r>
            <a:endParaRPr lang="en-US" sz="1500" dirty="0"/>
          </a:p>
        </p:txBody>
      </p:sp>
      <p:sp>
        <p:nvSpPr>
          <p:cNvPr id="5" name="Text 2"/>
          <p:cNvSpPr/>
          <p:nvPr/>
        </p:nvSpPr>
        <p:spPr>
          <a:xfrm>
            <a:off x="374556" y="799900"/>
            <a:ext cx="317418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Definitions and reference materials for this report</a:t>
            </a:r>
            <a:endParaRPr lang="en-US" sz="1000" dirty="0"/>
          </a:p>
        </p:txBody>
      </p:sp>
      <p:sp>
        <p:nvSpPr>
          <p:cNvPr id="6" name="Text 3"/>
          <p:cNvSpPr/>
          <p:nvPr/>
        </p:nvSpPr>
        <p:spPr>
          <a:xfrm>
            <a:off x="374556" y="1072882"/>
            <a:ext cx="5028984" cy="552312"/>
          </a:xfrm>
          <a:prstGeom prst="rect">
            <a:avLst/>
          </a:prstGeom>
          <a:ln/>
        </p:spPr>
        <p:txBody>
          <a:bodyPr wrap="non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Glossary &amp; Resources</a:t>
            </a:r>
            <a:endParaRPr lang="en-US" sz="3599" dirty="0"/>
          </a:p>
        </p:txBody>
      </p:sp>
      <p:sp>
        <p:nvSpPr>
          <p:cNvPr id="7" name="Text 4"/>
          <p:cNvSpPr/>
          <p:nvPr/>
        </p:nvSpPr>
        <p:spPr>
          <a:xfrm>
            <a:off x="749113" y="2609198"/>
            <a:ext cx="537420"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Scope</a:t>
            </a:r>
            <a:endParaRPr lang="en-US" sz="1000" dirty="0"/>
          </a:p>
        </p:txBody>
      </p:sp>
      <p:sp>
        <p:nvSpPr>
          <p:cNvPr id="8" name="Text 5"/>
          <p:cNvSpPr/>
          <p:nvPr/>
        </p:nvSpPr>
        <p:spPr>
          <a:xfrm>
            <a:off x="596751" y="2964709"/>
            <a:ext cx="469981"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Period</a:t>
            </a:r>
            <a:endParaRPr lang="en-US" sz="800" dirty="0"/>
          </a:p>
        </p:txBody>
      </p:sp>
      <p:sp>
        <p:nvSpPr>
          <p:cNvPr id="9" name="Text 6"/>
          <p:cNvSpPr/>
          <p:nvPr/>
        </p:nvSpPr>
        <p:spPr>
          <a:xfrm>
            <a:off x="596751" y="3212297"/>
            <a:ext cx="126454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20 Jun 2026 - 19 Jul 2026</a:t>
            </a:r>
            <a:endParaRPr lang="en-US" sz="700" dirty="0"/>
          </a:p>
        </p:txBody>
      </p:sp>
      <p:sp>
        <p:nvSpPr>
          <p:cNvPr id="10" name="Text 7"/>
          <p:cNvSpPr/>
          <p:nvPr/>
        </p:nvSpPr>
        <p:spPr>
          <a:xfrm>
            <a:off x="596751" y="3447188"/>
            <a:ext cx="109376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Comparison Period</a:t>
            </a:r>
            <a:endParaRPr lang="en-US" sz="800" dirty="0"/>
          </a:p>
        </p:txBody>
      </p:sp>
      <p:sp>
        <p:nvSpPr>
          <p:cNvPr id="11" name="Text 8"/>
          <p:cNvSpPr/>
          <p:nvPr/>
        </p:nvSpPr>
        <p:spPr>
          <a:xfrm>
            <a:off x="596751" y="3694776"/>
            <a:ext cx="1298660"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21 May 2026 - 19 Jun 2026</a:t>
            </a:r>
            <a:endParaRPr lang="en-US" sz="700" dirty="0"/>
          </a:p>
        </p:txBody>
      </p:sp>
      <p:sp>
        <p:nvSpPr>
          <p:cNvPr id="12" name="Text 9"/>
          <p:cNvSpPr/>
          <p:nvPr/>
        </p:nvSpPr>
        <p:spPr>
          <a:xfrm>
            <a:off x="596751" y="3929667"/>
            <a:ext cx="882826"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 Channel</a:t>
            </a:r>
            <a:endParaRPr lang="en-US" sz="800" dirty="0"/>
          </a:p>
        </p:txBody>
      </p:sp>
      <p:sp>
        <p:nvSpPr>
          <p:cNvPr id="13" name="Text 10"/>
          <p:cNvSpPr/>
          <p:nvPr/>
        </p:nvSpPr>
        <p:spPr>
          <a:xfrm>
            <a:off x="596751" y="4177255"/>
            <a:ext cx="57079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Instagram</a:t>
            </a:r>
            <a:endParaRPr lang="en-US" sz="700" dirty="0"/>
          </a:p>
        </p:txBody>
      </p:sp>
      <p:sp>
        <p:nvSpPr>
          <p:cNvPr id="14" name="Text 11"/>
          <p:cNvSpPr/>
          <p:nvPr/>
        </p:nvSpPr>
        <p:spPr>
          <a:xfrm>
            <a:off x="596751" y="4412147"/>
            <a:ext cx="183583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Content Analysis (posts analyzed)</a:t>
            </a:r>
            <a:endParaRPr lang="en-US" sz="800" dirty="0"/>
          </a:p>
        </p:txBody>
      </p:sp>
      <p:sp>
        <p:nvSpPr>
          <p:cNvPr id="15" name="Text 12"/>
          <p:cNvSpPr/>
          <p:nvPr/>
        </p:nvSpPr>
        <p:spPr>
          <a:xfrm>
            <a:off x="596751" y="4659735"/>
            <a:ext cx="257817"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55</a:t>
            </a:r>
            <a:endParaRPr lang="en-US" sz="700" dirty="0"/>
          </a:p>
        </p:txBody>
      </p:sp>
      <p:sp>
        <p:nvSpPr>
          <p:cNvPr id="16" name="Text 13"/>
          <p:cNvSpPr/>
          <p:nvPr/>
        </p:nvSpPr>
        <p:spPr>
          <a:xfrm>
            <a:off x="4418495" y="2609198"/>
            <a:ext cx="804128"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Definitions</a:t>
            </a:r>
            <a:endParaRPr lang="en-US" sz="1000" dirty="0"/>
          </a:p>
        </p:txBody>
      </p:sp>
      <p:sp>
        <p:nvSpPr>
          <p:cNvPr id="17" name="Text 14"/>
          <p:cNvSpPr/>
          <p:nvPr/>
        </p:nvSpPr>
        <p:spPr>
          <a:xfrm>
            <a:off x="4266133" y="2964709"/>
            <a:ext cx="770985"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a:t>
            </a:r>
            <a:endParaRPr lang="en-US" sz="800" dirty="0"/>
          </a:p>
        </p:txBody>
      </p:sp>
      <p:sp>
        <p:nvSpPr>
          <p:cNvPr id="18" name="Text 15"/>
          <p:cNvSpPr/>
          <p:nvPr/>
        </p:nvSpPr>
        <p:spPr>
          <a:xfrm>
            <a:off x="4266133" y="3212297"/>
            <a:ext cx="237070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The sum of likes and comments on the organic posts</a:t>
            </a:r>
            <a:endParaRPr lang="en-US" sz="700" dirty="0"/>
          </a:p>
        </p:txBody>
      </p:sp>
      <p:sp>
        <p:nvSpPr>
          <p:cNvPr id="19" name="Text 16"/>
          <p:cNvSpPr/>
          <p:nvPr/>
        </p:nvSpPr>
        <p:spPr>
          <a:xfrm>
            <a:off x="4266133" y="3447188"/>
            <a:ext cx="1659713"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 Rate by Followers</a:t>
            </a:r>
            <a:endParaRPr lang="en-US" sz="800" dirty="0"/>
          </a:p>
        </p:txBody>
      </p:sp>
      <p:sp>
        <p:nvSpPr>
          <p:cNvPr id="20" name="Text 17"/>
          <p:cNvSpPr/>
          <p:nvPr/>
        </p:nvSpPr>
        <p:spPr>
          <a:xfrm>
            <a:off x="4266133" y="3694776"/>
            <a:ext cx="295192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Engagement divided by follower count, expressed as a percentage</a:t>
            </a:r>
            <a:endParaRPr lang="en-US" sz="700" dirty="0"/>
          </a:p>
        </p:txBody>
      </p:sp>
      <p:sp>
        <p:nvSpPr>
          <p:cNvPr id="21" name="Text 18"/>
          <p:cNvSpPr/>
          <p:nvPr/>
        </p:nvSpPr>
        <p:spPr>
          <a:xfrm>
            <a:off x="4266133" y="3929667"/>
            <a:ext cx="45807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Reach</a:t>
            </a:r>
            <a:endParaRPr lang="en-US" sz="800" dirty="0"/>
          </a:p>
        </p:txBody>
      </p:sp>
      <p:sp>
        <p:nvSpPr>
          <p:cNvPr id="22" name="Text 19"/>
          <p:cNvSpPr/>
          <p:nvPr/>
        </p:nvSpPr>
        <p:spPr>
          <a:xfrm>
            <a:off x="4266133" y="4177255"/>
            <a:ext cx="225678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Number of unique accounts that saw your content</a:t>
            </a:r>
            <a:endParaRPr lang="en-US" sz="700" dirty="0"/>
          </a:p>
        </p:txBody>
      </p:sp>
      <p:sp>
        <p:nvSpPr>
          <p:cNvPr id="23" name="Text 20"/>
          <p:cNvSpPr/>
          <p:nvPr/>
        </p:nvSpPr>
        <p:spPr>
          <a:xfrm>
            <a:off x="4266133" y="4412147"/>
            <a:ext cx="45242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Views</a:t>
            </a:r>
            <a:endParaRPr lang="en-US" sz="800" dirty="0"/>
          </a:p>
        </p:txBody>
      </p:sp>
      <p:sp>
        <p:nvSpPr>
          <p:cNvPr id="24" name="Text 21"/>
          <p:cNvSpPr/>
          <p:nvPr/>
        </p:nvSpPr>
        <p:spPr>
          <a:xfrm>
            <a:off x="4266133" y="4659735"/>
            <a:ext cx="2245112"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Total number of times your content was displayed</a:t>
            </a:r>
            <a:endParaRPr lang="en-US" sz="700" dirty="0"/>
          </a:p>
        </p:txBody>
      </p:sp>
      <p:sp>
        <p:nvSpPr>
          <p:cNvPr id="25" name="Text 22"/>
          <p:cNvSpPr/>
          <p:nvPr/>
        </p:nvSpPr>
        <p:spPr>
          <a:xfrm>
            <a:off x="8259285" y="2571107"/>
            <a:ext cx="791853"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Resources</a:t>
            </a:r>
            <a:endParaRPr lang="en-US" sz="1000" dirty="0"/>
          </a:p>
        </p:txBody>
      </p:sp>
      <p:sp>
        <p:nvSpPr>
          <p:cNvPr id="26" name="Text 23"/>
          <p:cNvSpPr/>
          <p:nvPr/>
        </p:nvSpPr>
        <p:spPr>
          <a:xfrm>
            <a:off x="8106923" y="2926618"/>
            <a:ext cx="103032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Blog</a:t>
            </a:r>
            <a:endParaRPr lang="en-US" sz="800" dirty="0"/>
          </a:p>
        </p:txBody>
      </p:sp>
      <p:sp>
        <p:nvSpPr>
          <p:cNvPr id="27" name="Text 24"/>
          <p:cNvSpPr/>
          <p:nvPr/>
        </p:nvSpPr>
        <p:spPr>
          <a:xfrm>
            <a:off x="8106923" y="3174206"/>
            <a:ext cx="98910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socialinsider.io/blog</a:t>
            </a:r>
            <a:endParaRPr lang="en-US" sz="700" dirty="0"/>
          </a:p>
        </p:txBody>
      </p:sp>
      <p:sp>
        <p:nvSpPr>
          <p:cNvPr id="28" name="Text 25"/>
          <p:cNvSpPr/>
          <p:nvPr/>
        </p:nvSpPr>
        <p:spPr>
          <a:xfrm>
            <a:off x="8106923" y="3409098"/>
            <a:ext cx="139506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Help Center</a:t>
            </a:r>
            <a:endParaRPr lang="en-US" sz="800" dirty="0"/>
          </a:p>
        </p:txBody>
      </p:sp>
      <p:sp>
        <p:nvSpPr>
          <p:cNvPr id="29" name="Text 26"/>
          <p:cNvSpPr/>
          <p:nvPr/>
        </p:nvSpPr>
        <p:spPr>
          <a:xfrm>
            <a:off x="8106923" y="3656686"/>
            <a:ext cx="152749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https://howto.socialinsider.io/en/</a:t>
            </a:r>
            <a:endParaRPr lang="en-US" sz="700" dirty="0"/>
          </a:p>
        </p:txBody>
      </p:sp>
      <p:sp>
        <p:nvSpPr>
          <p:cNvPr id="30" name="Text 27"/>
          <p:cNvSpPr/>
          <p:nvPr/>
        </p:nvSpPr>
        <p:spPr>
          <a:xfrm>
            <a:off x="8106923" y="3891577"/>
            <a:ext cx="1181350"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Studies</a:t>
            </a:r>
            <a:endParaRPr lang="en-US" sz="800" dirty="0"/>
          </a:p>
        </p:txBody>
      </p:sp>
      <p:sp>
        <p:nvSpPr>
          <p:cNvPr id="31" name="Text 28"/>
          <p:cNvSpPr/>
          <p:nvPr/>
        </p:nvSpPr>
        <p:spPr>
          <a:xfrm>
            <a:off x="8106923" y="4139165"/>
            <a:ext cx="164579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https://www.socialinsider.io/reports</a:t>
            </a:r>
            <a:endParaRPr lang="en-US" sz="700" dirty="0"/>
          </a:p>
        </p:txBody>
      </p:sp>
      <p:sp>
        <p:nvSpPr>
          <p:cNvPr id="32" name="Text 29"/>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33" name="Text 30"/>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2026-07-19T06:19:56Z</dcterms:created>
  <dcterms:modified xsi:type="dcterms:W3CDTF">2026-07-19T06:19:56Z</dcterms:modified>
</cp:coreProperties>
</file>