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1022094" y="2729817"/>
            <a:ext cx="1065174" cy="126968"/>
          </a:xfrm>
          <a:prstGeom prst="rect">
            <a:avLst/>
          </a:prstGeom>
          <a:ln/>
        </p:spPr>
        <p:txBody>
          <a:bodyPr wrap="none" lIns="0" tIns="0" rIns="0" bIns="0" rtlCol="0" anchor="t"/>
          <a:lstStyle/>
          <a:p>
            <a:pPr algn="l" indent="0" marL="0">
              <a:lnSpc>
                <a:spcPct val="100000"/>
              </a:lnSpc>
              <a:buNone/>
            </a:pPr>
            <a:r>
              <a:rPr lang="en-US" sz="800" dirty="0">
                <a:solidFill>
                  <a:srgbClr val="6D57F6"/>
                </a:solidFill>
                <a:latin typeface="Inter" pitchFamily="34" charset="0"/>
                <a:ea typeface="Inter" pitchFamily="34" charset="-122"/>
                <a:cs typeface="Inter" pitchFamily="34" charset="-120"/>
              </a:rPr>
              <a:t>TIFFANYANDCO</a:t>
            </a:r>
            <a:endParaRPr lang="en-US" sz="800" dirty="0"/>
          </a:p>
        </p:txBody>
      </p:sp>
      <p:sp>
        <p:nvSpPr>
          <p:cNvPr id="4" name="Text 1"/>
          <p:cNvSpPr/>
          <p:nvPr/>
        </p:nvSpPr>
        <p:spPr>
          <a:xfrm>
            <a:off x="933217" y="3091677"/>
            <a:ext cx="3888904" cy="552312"/>
          </a:xfrm>
          <a:prstGeom prst="rect">
            <a:avLst/>
          </a:prstGeom>
          <a:ln/>
        </p:spPr>
        <p:txBody>
          <a:bodyPr wrap="none" lIns="0" tIns="0" rIns="0" bIns="0" rtlCol="0" anchor="t"/>
          <a:lstStyle/>
          <a:p>
            <a:pPr algn="l" indent="0" marL="0">
              <a:lnSpc>
                <a:spcPct val="100000"/>
              </a:lnSpc>
              <a:buNone/>
            </a:pPr>
            <a:r>
              <a:rPr lang="en-US" sz="3599" b="1" dirty="0">
                <a:solidFill>
                  <a:srgbClr val="FFFFFF"/>
                </a:solidFill>
                <a:latin typeface="Inter" pitchFamily="34" charset="0"/>
                <a:ea typeface="Inter" pitchFamily="34" charset="-122"/>
                <a:cs typeface="Inter" pitchFamily="34" charset="-120"/>
              </a:rPr>
              <a:t>Instagram Report</a:t>
            </a:r>
            <a:endParaRPr lang="en-US" sz="3599" dirty="0"/>
          </a:p>
        </p:txBody>
      </p:sp>
      <p:sp>
        <p:nvSpPr>
          <p:cNvPr id="5" name="Text 2"/>
          <p:cNvSpPr/>
          <p:nvPr/>
        </p:nvSpPr>
        <p:spPr>
          <a:xfrm>
            <a:off x="253937" y="6399200"/>
            <a:ext cx="595697"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BRAND</a:t>
            </a:r>
            <a:endParaRPr lang="en-US" sz="1000" dirty="0"/>
          </a:p>
        </p:txBody>
      </p:sp>
      <p:sp>
        <p:nvSpPr>
          <p:cNvPr id="6" name="Text 3"/>
          <p:cNvSpPr/>
          <p:nvPr/>
        </p:nvSpPr>
        <p:spPr>
          <a:xfrm>
            <a:off x="253937" y="6589652"/>
            <a:ext cx="1037048"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@tiffanyandco</a:t>
            </a:r>
            <a:endParaRPr lang="en-US" sz="1000" dirty="0"/>
          </a:p>
        </p:txBody>
      </p:sp>
      <p:sp>
        <p:nvSpPr>
          <p:cNvPr id="7" name="Text 4"/>
          <p:cNvSpPr/>
          <p:nvPr/>
        </p:nvSpPr>
        <p:spPr>
          <a:xfrm>
            <a:off x="1443371" y="6399200"/>
            <a:ext cx="692399"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PERIOD</a:t>
            </a:r>
            <a:endParaRPr lang="en-US" sz="1000" dirty="0"/>
          </a:p>
        </p:txBody>
      </p:sp>
      <p:sp>
        <p:nvSpPr>
          <p:cNvPr id="8" name="Text 5"/>
          <p:cNvSpPr/>
          <p:nvPr/>
        </p:nvSpPr>
        <p:spPr>
          <a:xfrm>
            <a:off x="1443371" y="6589652"/>
            <a:ext cx="1751058"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20 Jun 2026 - 19 Jul 2026</a:t>
            </a:r>
            <a:endParaRPr lang="en-US" sz="1000" dirty="0"/>
          </a:p>
        </p:txBody>
      </p:sp>
      <p:sp>
        <p:nvSpPr>
          <p:cNvPr id="9" name="Text 6"/>
          <p:cNvSpPr/>
          <p:nvPr/>
        </p:nvSpPr>
        <p:spPr>
          <a:xfrm>
            <a:off x="3346804" y="6399200"/>
            <a:ext cx="1726235"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COMPARISON PERIOD</a:t>
            </a:r>
            <a:endParaRPr lang="en-US" sz="1000" dirty="0"/>
          </a:p>
        </p:txBody>
      </p:sp>
      <p:sp>
        <p:nvSpPr>
          <p:cNvPr id="10" name="Text 7"/>
          <p:cNvSpPr/>
          <p:nvPr/>
        </p:nvSpPr>
        <p:spPr>
          <a:xfrm>
            <a:off x="3346804" y="6589652"/>
            <a:ext cx="1799415"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21 May 2026 - 19 Jun 2026</a:t>
            </a:r>
            <a:endParaRPr lang="en-US" sz="1000" dirty="0"/>
          </a:p>
        </p:txBody>
      </p:sp>
      <p:sp>
        <p:nvSpPr>
          <p:cNvPr id="11" name="Text 8"/>
          <p:cNvSpPr/>
          <p:nvPr/>
        </p:nvSpPr>
        <p:spPr>
          <a:xfrm>
            <a:off x="5298643" y="6399200"/>
            <a:ext cx="859342"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CHANNEL</a:t>
            </a:r>
            <a:endParaRPr lang="en-US" sz="1000" dirty="0"/>
          </a:p>
        </p:txBody>
      </p:sp>
      <p:sp>
        <p:nvSpPr>
          <p:cNvPr id="12" name="Text 9"/>
          <p:cNvSpPr/>
          <p:nvPr/>
        </p:nvSpPr>
        <p:spPr>
          <a:xfrm>
            <a:off x="5298643" y="6589652"/>
            <a:ext cx="759739"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Instagram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4834515" y="114271"/>
            <a:ext cx="267224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EXECUTIVE SUMMARY</a:t>
            </a:r>
            <a:endParaRPr lang="en-US" sz="1800" dirty="0"/>
          </a:p>
        </p:txBody>
      </p:sp>
      <p:sp>
        <p:nvSpPr>
          <p:cNvPr id="5" name="Text 2"/>
          <p:cNvSpPr/>
          <p:nvPr/>
        </p:nvSpPr>
        <p:spPr>
          <a:xfrm>
            <a:off x="11467713" y="139665"/>
            <a:ext cx="53075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2/12</a:t>
            </a:r>
            <a:endParaRPr lang="en-US" sz="1500" dirty="0"/>
          </a:p>
        </p:txBody>
      </p:sp>
      <p:sp>
        <p:nvSpPr>
          <p:cNvPr id="6" name="Text 3"/>
          <p:cNvSpPr/>
          <p:nvPr/>
        </p:nvSpPr>
        <p:spPr>
          <a:xfrm>
            <a:off x="469783" y="1866433"/>
            <a:ext cx="5713571" cy="3021844"/>
          </a:xfrm>
          <a:prstGeom prst="rect">
            <a:avLst/>
          </a:prstGeom>
          <a:ln/>
        </p:spPr>
        <p:txBody>
          <a:bodyPr wrap="squar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Between June 20 and July 19, Tiffany&amp;Co.'s Instagram profile saw a steady rise in its follower base, reaching over 16.8 million followers, although the growth rate slightly slowed compared to the previous period. The account was active, posting 26 times with an increased average post frequency each day.There was a notable increase in engagement in comments, with the average comments per post rising, even though overall likes and total engagement saw a slight decrease. Video and reel content duration extended significantly, correlating with a substantial boost in video views and reel engagement, which more than tripled compared to before.Impressions and reach roughly doubled, highlighting a dramatic expansion in content visibility. Despite the growth in reach and impressions, engagement rates per post and per impression saw a decrease, indicating that while more users are seeing the content, their rate of interaction has diminished.The earned media value indicated by awareness and audience growth also rose notably, supporting the profile's broader impact beyond immediate engagement.</a:t>
            </a:r>
            <a:endParaRPr lang="en-US" sz="1000" dirty="0"/>
          </a:p>
        </p:txBody>
      </p:sp>
      <p:sp>
        <p:nvSpPr>
          <p:cNvPr id="7" name="Text 4"/>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8" name="Text 5"/>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387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KEY INSIGHTS</a:t>
            </a:r>
            <a:endParaRPr lang="en-US" sz="1800" dirty="0"/>
          </a:p>
        </p:txBody>
      </p:sp>
      <p:sp>
        <p:nvSpPr>
          <p:cNvPr id="4" name="Text 1"/>
          <p:cNvSpPr/>
          <p:nvPr/>
        </p:nvSpPr>
        <p:spPr>
          <a:xfrm>
            <a:off x="11466225" y="139665"/>
            <a:ext cx="53224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3/12</a:t>
            </a:r>
            <a:endParaRPr lang="en-US" sz="1500" dirty="0"/>
          </a:p>
        </p:txBody>
      </p:sp>
      <p:sp>
        <p:nvSpPr>
          <p:cNvPr id="5" name="Text 2"/>
          <p:cNvSpPr/>
          <p:nvPr/>
        </p:nvSpPr>
        <p:spPr>
          <a:xfrm>
            <a:off x="342814" y="1136366"/>
            <a:ext cx="1598721" cy="133317"/>
          </a:xfrm>
          <a:prstGeom prst="rect">
            <a:avLst/>
          </a:prstGeom>
          <a:ln/>
        </p:spPr>
        <p:txBody>
          <a:bodyPr wrap="none" lIns="0" tIns="0" rIns="0" bIns="0" rtlCol="0" anchor="t"/>
          <a:lstStyle/>
          <a:p>
            <a:pPr algn="l" indent="0" marL="0">
              <a:lnSpc>
                <a:spcPct val="100000"/>
              </a:lnSpc>
              <a:buNone/>
            </a:pPr>
            <a:r>
              <a:rPr lang="en-US" sz="900" dirty="0">
                <a:solidFill>
                  <a:srgbClr val="DDDCED"/>
                </a:solidFill>
                <a:latin typeface="Inter" pitchFamily="34" charset="0"/>
                <a:ea typeface="Inter" pitchFamily="34" charset="-122"/>
                <a:cs typeface="Inter" pitchFamily="34" charset="-120"/>
              </a:rPr>
              <a:t>One month, three numbers</a:t>
            </a:r>
            <a:endParaRPr lang="en-US" sz="900" dirty="0"/>
          </a:p>
        </p:txBody>
      </p:sp>
      <p:sp>
        <p:nvSpPr>
          <p:cNvPr id="6" name="Text 3"/>
          <p:cNvSpPr/>
          <p:nvPr/>
        </p:nvSpPr>
        <p:spPr>
          <a:xfrm>
            <a:off x="342814" y="1409348"/>
            <a:ext cx="8627493" cy="850687"/>
          </a:xfrm>
          <a:prstGeom prst="rect">
            <a:avLst/>
          </a:prstGeom>
          <a:ln/>
        </p:spPr>
        <p:txBody>
          <a:bodyPr wrap="square" lIns="0" tIns="0" rIns="0" bIns="0" rtlCol="0" anchor="t"/>
          <a:lstStyle/>
          <a:p>
            <a:pPr algn="l" indent="0" marL="0">
              <a:lnSpc>
                <a:spcPct val="100000"/>
              </a:lnSpc>
              <a:buNone/>
            </a:pPr>
            <a:r>
              <a:rPr lang="en-US" sz="2999" b="1" dirty="0">
                <a:solidFill>
                  <a:srgbClr val="FFFFFF"/>
                </a:solidFill>
                <a:latin typeface="Inter" pitchFamily="34" charset="0"/>
                <a:ea typeface="Inter" pitchFamily="34" charset="-122"/>
                <a:cs typeface="Inter" pitchFamily="34" charset="-120"/>
              </a:rPr>
              <a:t>Overall a positive period, with some room for improvement.</a:t>
            </a:r>
            <a:endParaRPr lang="en-US" sz="2999" dirty="0"/>
          </a:p>
        </p:txBody>
      </p:sp>
      <p:sp>
        <p:nvSpPr>
          <p:cNvPr id="7" name="Text 4"/>
          <p:cNvSpPr/>
          <p:nvPr/>
        </p:nvSpPr>
        <p:spPr>
          <a:xfrm>
            <a:off x="342814" y="3916971"/>
            <a:ext cx="2307970"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0.07 %</a:t>
            </a:r>
            <a:endParaRPr lang="en-US" sz="4999" dirty="0"/>
          </a:p>
        </p:txBody>
      </p:sp>
      <p:sp>
        <p:nvSpPr>
          <p:cNvPr id="8" name="Text 5"/>
          <p:cNvSpPr/>
          <p:nvPr/>
        </p:nvSpPr>
        <p:spPr>
          <a:xfrm>
            <a:off x="342814" y="4856536"/>
            <a:ext cx="3093760" cy="469783"/>
          </a:xfrm>
          <a:prstGeom prst="rect">
            <a:avLst/>
          </a:prstGeom>
          <a:ln/>
        </p:spPr>
        <p:txBody>
          <a:bodyPr wrap="squar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Avg. Engagement Rate by Followers</a:t>
            </a:r>
            <a:endParaRPr lang="en-US" sz="1500" dirty="0"/>
          </a:p>
        </p:txBody>
      </p:sp>
      <p:sp>
        <p:nvSpPr>
          <p:cNvPr id="9" name="Text 6"/>
          <p:cNvSpPr/>
          <p:nvPr/>
        </p:nvSpPr>
        <p:spPr>
          <a:xfrm>
            <a:off x="571357" y="5485028"/>
            <a:ext cx="870464" cy="279330"/>
          </a:xfrm>
          <a:prstGeom prst="rect">
            <a:avLst/>
          </a:prstGeom>
          <a:ln/>
        </p:spPr>
        <p:txBody>
          <a:bodyPr wrap="none" lIns="0" tIns="0" rIns="0" bIns="0" rtlCol="0" anchor="t"/>
          <a:lstStyle/>
          <a:p>
            <a:pPr algn="l" indent="0" marL="0">
              <a:lnSpc>
                <a:spcPct val="100000"/>
              </a:lnSpc>
              <a:buNone/>
            </a:pPr>
            <a:r>
              <a:rPr lang="en-US" sz="1800" dirty="0">
                <a:solidFill>
                  <a:srgbClr val="FBAF3A"/>
                </a:solidFill>
                <a:latin typeface="Inter" pitchFamily="34" charset="0"/>
                <a:ea typeface="Inter" pitchFamily="34" charset="-122"/>
                <a:cs typeface="Inter" pitchFamily="34" charset="-120"/>
              </a:rPr>
              <a:t>6.08%</a:t>
            </a:r>
            <a:endParaRPr lang="en-US" sz="1800" dirty="0"/>
          </a:p>
        </p:txBody>
      </p:sp>
      <p:sp>
        <p:nvSpPr>
          <p:cNvPr id="10" name="Text 7"/>
          <p:cNvSpPr/>
          <p:nvPr/>
        </p:nvSpPr>
        <p:spPr>
          <a:xfrm>
            <a:off x="4547546" y="3916971"/>
            <a:ext cx="1680879"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9.7M</a:t>
            </a:r>
            <a:endParaRPr lang="en-US" sz="4999" dirty="0"/>
          </a:p>
        </p:txBody>
      </p:sp>
      <p:sp>
        <p:nvSpPr>
          <p:cNvPr id="11" name="Text 8"/>
          <p:cNvSpPr/>
          <p:nvPr/>
        </p:nvSpPr>
        <p:spPr>
          <a:xfrm>
            <a:off x="4547546" y="4856536"/>
            <a:ext cx="2002670"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Views</a:t>
            </a:r>
            <a:endParaRPr lang="en-US" sz="1500" dirty="0"/>
          </a:p>
        </p:txBody>
      </p:sp>
      <p:sp>
        <p:nvSpPr>
          <p:cNvPr id="12" name="Text 9"/>
          <p:cNvSpPr/>
          <p:nvPr/>
        </p:nvSpPr>
        <p:spPr>
          <a:xfrm>
            <a:off x="4776089" y="5243789"/>
            <a:ext cx="1100458"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100.97%</a:t>
            </a:r>
            <a:endParaRPr lang="en-US" sz="1800" dirty="0"/>
          </a:p>
        </p:txBody>
      </p:sp>
      <p:sp>
        <p:nvSpPr>
          <p:cNvPr id="13" name="Text 10"/>
          <p:cNvSpPr/>
          <p:nvPr/>
        </p:nvSpPr>
        <p:spPr>
          <a:xfrm>
            <a:off x="8752378" y="3916971"/>
            <a:ext cx="1714977"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6.3M</a:t>
            </a:r>
            <a:endParaRPr lang="en-US" sz="4999" dirty="0"/>
          </a:p>
        </p:txBody>
      </p:sp>
      <p:sp>
        <p:nvSpPr>
          <p:cNvPr id="14" name="Text 11"/>
          <p:cNvSpPr/>
          <p:nvPr/>
        </p:nvSpPr>
        <p:spPr>
          <a:xfrm>
            <a:off x="8752378" y="4856536"/>
            <a:ext cx="2022199"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Reach</a:t>
            </a:r>
            <a:endParaRPr lang="en-US" sz="1500" dirty="0"/>
          </a:p>
        </p:txBody>
      </p:sp>
      <p:sp>
        <p:nvSpPr>
          <p:cNvPr id="15" name="Text 12"/>
          <p:cNvSpPr/>
          <p:nvPr/>
        </p:nvSpPr>
        <p:spPr>
          <a:xfrm>
            <a:off x="8980921" y="5243789"/>
            <a:ext cx="825604"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81.8%</a:t>
            </a:r>
            <a:endParaRPr lang="en-US" sz="1800" dirty="0"/>
          </a:p>
        </p:txBody>
      </p:sp>
      <p:sp>
        <p:nvSpPr>
          <p:cNvPr id="16" name="Text 13"/>
          <p:cNvSpPr/>
          <p:nvPr/>
        </p:nvSpPr>
        <p:spPr>
          <a:xfrm>
            <a:off x="317421" y="6710272"/>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964209"/>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4818197" y="114271"/>
            <a:ext cx="270483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POSTS PERFORMANCE</a:t>
            </a:r>
            <a:endParaRPr lang="en-US" sz="1800" dirty="0"/>
          </a:p>
        </p:txBody>
      </p:sp>
      <p:sp>
        <p:nvSpPr>
          <p:cNvPr id="5" name="Text 2"/>
          <p:cNvSpPr/>
          <p:nvPr/>
        </p:nvSpPr>
        <p:spPr>
          <a:xfrm>
            <a:off x="11460769" y="139665"/>
            <a:ext cx="537637"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4/12</a:t>
            </a:r>
            <a:endParaRPr lang="en-US" sz="1500" dirty="0"/>
          </a:p>
        </p:txBody>
      </p:sp>
      <p:sp>
        <p:nvSpPr>
          <p:cNvPr id="6" name="Text 3"/>
          <p:cNvSpPr/>
          <p:nvPr/>
        </p:nvSpPr>
        <p:spPr>
          <a:xfrm>
            <a:off x="374556" y="1136366"/>
            <a:ext cx="1719254"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POSTS TO ENGAGEMENT</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We posted 4% more, but engagement dropped 2.20%.</a:t>
            </a:r>
            <a:endParaRPr lang="en-US" sz="3599" dirty="0"/>
          </a:p>
        </p:txBody>
      </p:sp>
      <p:sp>
        <p:nvSpPr>
          <p:cNvPr id="8" name="Text 5"/>
          <p:cNvSpPr/>
          <p:nvPr/>
        </p:nvSpPr>
        <p:spPr>
          <a:xfrm>
            <a:off x="374556" y="2558410"/>
            <a:ext cx="4430622"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More posts produced less engagement — review content quality or frequency.</a:t>
            </a:r>
            <a:endParaRPr lang="en-US" sz="900" dirty="0"/>
          </a:p>
        </p:txBody>
      </p:sp>
      <p:sp>
        <p:nvSpPr>
          <p:cNvPr id="9" name="Text 6"/>
          <p:cNvSpPr/>
          <p:nvPr/>
        </p:nvSpPr>
        <p:spPr>
          <a:xfrm>
            <a:off x="501525" y="4107423"/>
            <a:ext cx="103786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POSTS</a:t>
            </a:r>
            <a:endParaRPr lang="en-US" sz="1200" dirty="0"/>
          </a:p>
        </p:txBody>
      </p:sp>
      <p:sp>
        <p:nvSpPr>
          <p:cNvPr id="10" name="Text 7"/>
          <p:cNvSpPr/>
          <p:nvPr/>
        </p:nvSpPr>
        <p:spPr>
          <a:xfrm>
            <a:off x="501525" y="4685128"/>
            <a:ext cx="627005"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26</a:t>
            </a:r>
            <a:endParaRPr lang="en-US" sz="2999" dirty="0"/>
          </a:p>
        </p:txBody>
      </p:sp>
      <p:sp>
        <p:nvSpPr>
          <p:cNvPr id="11" name="Text 8"/>
          <p:cNvSpPr/>
          <p:nvPr/>
        </p:nvSpPr>
        <p:spPr>
          <a:xfrm>
            <a:off x="691977" y="5269182"/>
            <a:ext cx="466497"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4%</a:t>
            </a:r>
            <a:endParaRPr lang="en-US" sz="1500" dirty="0"/>
          </a:p>
        </p:txBody>
      </p:sp>
      <p:sp>
        <p:nvSpPr>
          <p:cNvPr id="12" name="Text 9"/>
          <p:cNvSpPr/>
          <p:nvPr/>
        </p:nvSpPr>
        <p:spPr>
          <a:xfrm>
            <a:off x="3399575" y="4107423"/>
            <a:ext cx="15992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ENGAGEMENT</a:t>
            </a:r>
            <a:endParaRPr lang="en-US" sz="1200" dirty="0"/>
          </a:p>
        </p:txBody>
      </p:sp>
      <p:sp>
        <p:nvSpPr>
          <p:cNvPr id="13" name="Text 10"/>
          <p:cNvSpPr/>
          <p:nvPr/>
        </p:nvSpPr>
        <p:spPr>
          <a:xfrm>
            <a:off x="3399575" y="4685128"/>
            <a:ext cx="1383979"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327.7K</a:t>
            </a:r>
            <a:endParaRPr lang="en-US" sz="2999" dirty="0"/>
          </a:p>
        </p:txBody>
      </p:sp>
      <p:sp>
        <p:nvSpPr>
          <p:cNvPr id="14" name="Text 11"/>
          <p:cNvSpPr/>
          <p:nvPr/>
        </p:nvSpPr>
        <p:spPr>
          <a:xfrm>
            <a:off x="3590027" y="5269182"/>
            <a:ext cx="633980"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2.2%</a:t>
            </a:r>
            <a:endParaRPr lang="en-US" sz="1500" dirty="0"/>
          </a:p>
        </p:txBody>
      </p:sp>
      <p:sp>
        <p:nvSpPr>
          <p:cNvPr id="15" name="Text 12"/>
          <p:cNvSpPr/>
          <p:nvPr/>
        </p:nvSpPr>
        <p:spPr>
          <a:xfrm>
            <a:off x="6297625" y="4107423"/>
            <a:ext cx="197435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POST</a:t>
            </a:r>
            <a:endParaRPr lang="en-US" sz="1200" dirty="0"/>
          </a:p>
        </p:txBody>
      </p:sp>
      <p:sp>
        <p:nvSpPr>
          <p:cNvPr id="16" name="Text 13"/>
          <p:cNvSpPr/>
          <p:nvPr/>
        </p:nvSpPr>
        <p:spPr>
          <a:xfrm>
            <a:off x="6297625" y="4685128"/>
            <a:ext cx="1152237"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12.6K</a:t>
            </a:r>
            <a:endParaRPr lang="en-US" sz="2999" dirty="0"/>
          </a:p>
        </p:txBody>
      </p:sp>
      <p:sp>
        <p:nvSpPr>
          <p:cNvPr id="17" name="Text 14"/>
          <p:cNvSpPr/>
          <p:nvPr/>
        </p:nvSpPr>
        <p:spPr>
          <a:xfrm>
            <a:off x="6488078" y="5269182"/>
            <a:ext cx="747526"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5.96%</a:t>
            </a:r>
            <a:endParaRPr lang="en-US" sz="1500" dirty="0"/>
          </a:p>
        </p:txBody>
      </p:sp>
      <p:sp>
        <p:nvSpPr>
          <p:cNvPr id="18" name="Text 15"/>
          <p:cNvSpPr/>
          <p:nvPr/>
        </p:nvSpPr>
        <p:spPr>
          <a:xfrm>
            <a:off x="9195676" y="4107423"/>
            <a:ext cx="186980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DAY</a:t>
            </a:r>
            <a:endParaRPr lang="en-US" sz="1200" dirty="0"/>
          </a:p>
        </p:txBody>
      </p:sp>
      <p:sp>
        <p:nvSpPr>
          <p:cNvPr id="19" name="Text 16"/>
          <p:cNvSpPr/>
          <p:nvPr/>
        </p:nvSpPr>
        <p:spPr>
          <a:xfrm>
            <a:off x="9195676" y="4685128"/>
            <a:ext cx="1160048"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10.9K</a:t>
            </a:r>
            <a:endParaRPr lang="en-US" sz="2999" dirty="0"/>
          </a:p>
        </p:txBody>
      </p:sp>
      <p:sp>
        <p:nvSpPr>
          <p:cNvPr id="20" name="Text 17"/>
          <p:cNvSpPr/>
          <p:nvPr/>
        </p:nvSpPr>
        <p:spPr>
          <a:xfrm>
            <a:off x="9386128" y="5269182"/>
            <a:ext cx="633980"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2.2%</a:t>
            </a:r>
            <a:endParaRPr lang="en-US" sz="1500" dirty="0"/>
          </a:p>
        </p:txBody>
      </p:sp>
      <p:sp>
        <p:nvSpPr>
          <p:cNvPr id="21" name="Text 18"/>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2" name="Text 19"/>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11470887" y="139665"/>
            <a:ext cx="52759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5/12</a:t>
            </a:r>
            <a:endParaRPr lang="en-US" sz="1500" dirty="0"/>
          </a:p>
        </p:txBody>
      </p:sp>
      <p:sp>
        <p:nvSpPr>
          <p:cNvPr id="5" name="Text 2"/>
          <p:cNvSpPr/>
          <p:nvPr/>
        </p:nvSpPr>
        <p:spPr>
          <a:xfrm>
            <a:off x="374556" y="1136366"/>
            <a:ext cx="1523780"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WHAT WE PUBLISHED</a:t>
            </a:r>
            <a:endParaRPr lang="en-US" sz="1000" dirty="0"/>
          </a:p>
        </p:txBody>
      </p:sp>
      <p:sp>
        <p:nvSpPr>
          <p:cNvPr id="6" name="Text 3"/>
          <p:cNvSpPr/>
          <p:nvPr/>
        </p:nvSpPr>
        <p:spPr>
          <a:xfrm>
            <a:off x="374556" y="1409348"/>
            <a:ext cx="5516770" cy="2431442"/>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Image made up the majority of posts published during this period. Reel drove the results.</a:t>
            </a:r>
            <a:endParaRPr lang="en-US" sz="3599" dirty="0"/>
          </a:p>
        </p:txBody>
      </p:sp>
      <p:sp>
        <p:nvSpPr>
          <p:cNvPr id="7" name="Text 4"/>
          <p:cNvSpPr/>
          <p:nvPr/>
        </p:nvSpPr>
        <p:spPr>
          <a:xfrm>
            <a:off x="374556" y="3967758"/>
            <a:ext cx="3462160"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Image accounted for 42% of posts and 30% of engagement.</a:t>
            </a:r>
            <a:endParaRPr lang="en-US" sz="900" dirty="0"/>
          </a:p>
        </p:txBody>
      </p:sp>
      <p:sp>
        <p:nvSpPr>
          <p:cNvPr id="8" name="Text 5"/>
          <p:cNvSpPr/>
          <p:nvPr/>
        </p:nvSpPr>
        <p:spPr>
          <a:xfrm>
            <a:off x="679280" y="4843839"/>
            <a:ext cx="38626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Note</a:t>
            </a:r>
            <a:endParaRPr lang="en-US" sz="800" dirty="0"/>
          </a:p>
        </p:txBody>
      </p:sp>
      <p:sp>
        <p:nvSpPr>
          <p:cNvPr id="9" name="Text 6"/>
          <p:cNvSpPr/>
          <p:nvPr/>
        </p:nvSpPr>
        <p:spPr>
          <a:xfrm>
            <a:off x="6449987" y="2805998"/>
            <a:ext cx="45386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Image</a:t>
            </a:r>
            <a:endParaRPr lang="en-US" sz="800" dirty="0"/>
          </a:p>
        </p:txBody>
      </p:sp>
      <p:sp>
        <p:nvSpPr>
          <p:cNvPr id="10" name="Text 7"/>
          <p:cNvSpPr/>
          <p:nvPr/>
        </p:nvSpPr>
        <p:spPr>
          <a:xfrm>
            <a:off x="11576132" y="2805998"/>
            <a:ext cx="238264"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11</a:t>
            </a:r>
            <a:endParaRPr lang="en-US" sz="800" dirty="0"/>
          </a:p>
        </p:txBody>
      </p:sp>
      <p:sp>
        <p:nvSpPr>
          <p:cNvPr id="11" name="Text 8"/>
          <p:cNvSpPr/>
          <p:nvPr/>
        </p:nvSpPr>
        <p:spPr>
          <a:xfrm>
            <a:off x="6449987" y="3237690"/>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2" name="Text 9"/>
          <p:cNvSpPr/>
          <p:nvPr/>
        </p:nvSpPr>
        <p:spPr>
          <a:xfrm>
            <a:off x="11596963" y="3237690"/>
            <a:ext cx="217384"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8</a:t>
            </a:r>
            <a:endParaRPr lang="en-US" sz="800" dirty="0"/>
          </a:p>
        </p:txBody>
      </p:sp>
      <p:sp>
        <p:nvSpPr>
          <p:cNvPr id="13" name="Text 10"/>
          <p:cNvSpPr/>
          <p:nvPr/>
        </p:nvSpPr>
        <p:spPr>
          <a:xfrm>
            <a:off x="6449987" y="3669382"/>
            <a:ext cx="590105"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Carousel</a:t>
            </a:r>
            <a:endParaRPr lang="en-US" sz="800" dirty="0"/>
          </a:p>
        </p:txBody>
      </p:sp>
      <p:sp>
        <p:nvSpPr>
          <p:cNvPr id="14" name="Text 11"/>
          <p:cNvSpPr/>
          <p:nvPr/>
        </p:nvSpPr>
        <p:spPr>
          <a:xfrm>
            <a:off x="11603509" y="3669382"/>
            <a:ext cx="210886"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7</a:t>
            </a:r>
            <a:endParaRPr lang="en-US" sz="8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96576"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TOP CONTENT</a:t>
            </a:r>
            <a:endParaRPr lang="en-US" sz="1800" dirty="0"/>
          </a:p>
        </p:txBody>
      </p:sp>
      <p:sp>
        <p:nvSpPr>
          <p:cNvPr id="4" name="Text 1"/>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6/12</a:t>
            </a:r>
            <a:endParaRPr lang="en-US" sz="1500" dirty="0"/>
          </a:p>
        </p:txBody>
      </p:sp>
      <p:sp>
        <p:nvSpPr>
          <p:cNvPr id="5" name="Text 2"/>
          <p:cNvSpPr/>
          <p:nvPr/>
        </p:nvSpPr>
        <p:spPr>
          <a:xfrm>
            <a:off x="1422044" y="1015746"/>
            <a:ext cx="934816"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Tiffany &amp; Co.</a:t>
            </a:r>
            <a:endParaRPr lang="en-US" sz="1000" dirty="0"/>
          </a:p>
        </p:txBody>
      </p:sp>
      <p:sp>
        <p:nvSpPr>
          <p:cNvPr id="6" name="Text 3"/>
          <p:cNvSpPr/>
          <p:nvPr/>
        </p:nvSpPr>
        <p:spPr>
          <a:xfrm>
            <a:off x="1422044" y="1187153"/>
            <a:ext cx="90693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16840861 followers</a:t>
            </a:r>
            <a:endParaRPr lang="en-US" sz="650" dirty="0"/>
          </a:p>
        </p:txBody>
      </p:sp>
      <p:sp>
        <p:nvSpPr>
          <p:cNvPr id="7" name="Text 4"/>
          <p:cNvSpPr/>
          <p:nvPr/>
        </p:nvSpPr>
        <p:spPr>
          <a:xfrm>
            <a:off x="3082055" y="1022094"/>
            <a:ext cx="744897"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01, 2026</a:t>
            </a:r>
            <a:endParaRPr lang="en-US" sz="800" dirty="0"/>
          </a:p>
        </p:txBody>
      </p:sp>
      <p:sp>
        <p:nvSpPr>
          <p:cNvPr id="8" name="Text 5"/>
          <p:cNvSpPr/>
          <p:nvPr/>
        </p:nvSpPr>
        <p:spPr>
          <a:xfrm>
            <a:off x="3181646"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9" name="Text 6"/>
          <p:cNvSpPr/>
          <p:nvPr/>
        </p:nvSpPr>
        <p:spPr>
          <a:xfrm>
            <a:off x="1142714"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10" name="Text 7"/>
          <p:cNvSpPr/>
          <p:nvPr/>
        </p:nvSpPr>
        <p:spPr>
          <a:xfrm>
            <a:off x="1091927" y="4253436"/>
            <a:ext cx="2581622"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House ambassadors Anne Curtis and Win Metawin celebrate the opening of...</a:t>
            </a:r>
            <a:endParaRPr lang="en-US" sz="700" dirty="0"/>
          </a:p>
        </p:txBody>
      </p:sp>
      <p:sp>
        <p:nvSpPr>
          <p:cNvPr id="11" name="Text 8"/>
          <p:cNvSpPr/>
          <p:nvPr/>
        </p:nvSpPr>
        <p:spPr>
          <a:xfrm>
            <a:off x="1218895"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12" name="Text 9"/>
          <p:cNvSpPr/>
          <p:nvPr/>
        </p:nvSpPr>
        <p:spPr>
          <a:xfrm>
            <a:off x="2966792" y="4539115"/>
            <a:ext cx="517885"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0.37%</a:t>
            </a:r>
            <a:endParaRPr lang="en-US" sz="900" dirty="0"/>
          </a:p>
        </p:txBody>
      </p:sp>
      <p:sp>
        <p:nvSpPr>
          <p:cNvPr id="13" name="Text 10"/>
          <p:cNvSpPr/>
          <p:nvPr/>
        </p:nvSpPr>
        <p:spPr>
          <a:xfrm>
            <a:off x="1091927" y="4862884"/>
            <a:ext cx="39340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1.4M</a:t>
            </a:r>
            <a:endParaRPr lang="en-US" sz="800" dirty="0"/>
          </a:p>
        </p:txBody>
      </p:sp>
      <p:sp>
        <p:nvSpPr>
          <p:cNvPr id="14" name="Text 11"/>
          <p:cNvSpPr/>
          <p:nvPr/>
        </p:nvSpPr>
        <p:spPr>
          <a:xfrm>
            <a:off x="1091927"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15" name="Text 12"/>
          <p:cNvSpPr/>
          <p:nvPr/>
        </p:nvSpPr>
        <p:spPr>
          <a:xfrm>
            <a:off x="2966792" y="4862884"/>
            <a:ext cx="42390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62.1K</a:t>
            </a:r>
            <a:endParaRPr lang="en-US" sz="800" dirty="0"/>
          </a:p>
        </p:txBody>
      </p:sp>
      <p:sp>
        <p:nvSpPr>
          <p:cNvPr id="16" name="Text 13"/>
          <p:cNvSpPr/>
          <p:nvPr/>
        </p:nvSpPr>
        <p:spPr>
          <a:xfrm>
            <a:off x="2966792"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17" name="Text 14"/>
          <p:cNvSpPr/>
          <p:nvPr/>
        </p:nvSpPr>
        <p:spPr>
          <a:xfrm>
            <a:off x="1091927" y="5193001"/>
            <a:ext cx="34787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632</a:t>
            </a:r>
            <a:endParaRPr lang="en-US" sz="800" dirty="0"/>
          </a:p>
        </p:txBody>
      </p:sp>
      <p:sp>
        <p:nvSpPr>
          <p:cNvPr id="18" name="Text 15"/>
          <p:cNvSpPr/>
          <p:nvPr/>
        </p:nvSpPr>
        <p:spPr>
          <a:xfrm>
            <a:off x="1091927"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19" name="Text 16"/>
          <p:cNvSpPr/>
          <p:nvPr/>
        </p:nvSpPr>
        <p:spPr>
          <a:xfrm>
            <a:off x="2966792" y="5193001"/>
            <a:ext cx="42083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858K</a:t>
            </a:r>
            <a:endParaRPr lang="en-US" sz="800" dirty="0"/>
          </a:p>
        </p:txBody>
      </p:sp>
      <p:sp>
        <p:nvSpPr>
          <p:cNvPr id="20" name="Text 17"/>
          <p:cNvSpPr/>
          <p:nvPr/>
        </p:nvSpPr>
        <p:spPr>
          <a:xfrm>
            <a:off x="2966792"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21" name="Text 18"/>
          <p:cNvSpPr/>
          <p:nvPr/>
        </p:nvSpPr>
        <p:spPr>
          <a:xfrm>
            <a:off x="5133683" y="1015746"/>
            <a:ext cx="934816"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Tiffany &amp; Co.</a:t>
            </a:r>
            <a:endParaRPr lang="en-US" sz="1000" dirty="0"/>
          </a:p>
        </p:txBody>
      </p:sp>
      <p:sp>
        <p:nvSpPr>
          <p:cNvPr id="22" name="Text 19"/>
          <p:cNvSpPr/>
          <p:nvPr/>
        </p:nvSpPr>
        <p:spPr>
          <a:xfrm>
            <a:off x="5133683" y="1187153"/>
            <a:ext cx="90693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16840861 followers</a:t>
            </a:r>
            <a:endParaRPr lang="en-US" sz="650" dirty="0"/>
          </a:p>
        </p:txBody>
      </p:sp>
      <p:sp>
        <p:nvSpPr>
          <p:cNvPr id="23" name="Text 20"/>
          <p:cNvSpPr/>
          <p:nvPr/>
        </p:nvSpPr>
        <p:spPr>
          <a:xfrm>
            <a:off x="6792603" y="1022094"/>
            <a:ext cx="746087"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07, 2026</a:t>
            </a:r>
            <a:endParaRPr lang="en-US" sz="800" dirty="0"/>
          </a:p>
        </p:txBody>
      </p:sp>
      <p:sp>
        <p:nvSpPr>
          <p:cNvPr id="24" name="Text 21"/>
          <p:cNvSpPr/>
          <p:nvPr/>
        </p:nvSpPr>
        <p:spPr>
          <a:xfrm>
            <a:off x="6893384"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25" name="Text 22"/>
          <p:cNvSpPr/>
          <p:nvPr/>
        </p:nvSpPr>
        <p:spPr>
          <a:xfrm>
            <a:off x="4854353"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26" name="Text 23"/>
          <p:cNvSpPr/>
          <p:nvPr/>
        </p:nvSpPr>
        <p:spPr>
          <a:xfrm>
            <a:off x="4803566"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The House’s iconic Sixteen Stone by Tiffany ring has been reimagined w...</a:t>
            </a:r>
            <a:endParaRPr lang="en-US" sz="700" dirty="0"/>
          </a:p>
        </p:txBody>
      </p:sp>
      <p:sp>
        <p:nvSpPr>
          <p:cNvPr id="27" name="Text 24"/>
          <p:cNvSpPr/>
          <p:nvPr/>
        </p:nvSpPr>
        <p:spPr>
          <a:xfrm>
            <a:off x="4930534"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28" name="Text 25"/>
          <p:cNvSpPr/>
          <p:nvPr/>
        </p:nvSpPr>
        <p:spPr>
          <a:xfrm>
            <a:off x="6678431" y="4539115"/>
            <a:ext cx="493614"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0.18%</a:t>
            </a:r>
            <a:endParaRPr lang="en-US" sz="900" dirty="0"/>
          </a:p>
        </p:txBody>
      </p:sp>
      <p:sp>
        <p:nvSpPr>
          <p:cNvPr id="29" name="Text 26"/>
          <p:cNvSpPr/>
          <p:nvPr/>
        </p:nvSpPr>
        <p:spPr>
          <a:xfrm>
            <a:off x="4803566" y="4862884"/>
            <a:ext cx="42633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884K</a:t>
            </a:r>
            <a:endParaRPr lang="en-US" sz="800" dirty="0"/>
          </a:p>
        </p:txBody>
      </p:sp>
      <p:sp>
        <p:nvSpPr>
          <p:cNvPr id="30" name="Text 27"/>
          <p:cNvSpPr/>
          <p:nvPr/>
        </p:nvSpPr>
        <p:spPr>
          <a:xfrm>
            <a:off x="4803566"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31" name="Text 28"/>
          <p:cNvSpPr/>
          <p:nvPr/>
        </p:nvSpPr>
        <p:spPr>
          <a:xfrm>
            <a:off x="6678431" y="4862884"/>
            <a:ext cx="44929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29.6K</a:t>
            </a:r>
            <a:endParaRPr lang="en-US" sz="800" dirty="0"/>
          </a:p>
        </p:txBody>
      </p:sp>
      <p:sp>
        <p:nvSpPr>
          <p:cNvPr id="32" name="Text 29"/>
          <p:cNvSpPr/>
          <p:nvPr/>
        </p:nvSpPr>
        <p:spPr>
          <a:xfrm>
            <a:off x="6678431"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33" name="Text 30"/>
          <p:cNvSpPr/>
          <p:nvPr/>
        </p:nvSpPr>
        <p:spPr>
          <a:xfrm>
            <a:off x="4803566" y="5193001"/>
            <a:ext cx="349857"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366</a:t>
            </a:r>
            <a:endParaRPr lang="en-US" sz="800" dirty="0"/>
          </a:p>
        </p:txBody>
      </p:sp>
      <p:sp>
        <p:nvSpPr>
          <p:cNvPr id="34" name="Text 31"/>
          <p:cNvSpPr/>
          <p:nvPr/>
        </p:nvSpPr>
        <p:spPr>
          <a:xfrm>
            <a:off x="4803566"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35" name="Text 32"/>
          <p:cNvSpPr/>
          <p:nvPr/>
        </p:nvSpPr>
        <p:spPr>
          <a:xfrm>
            <a:off x="6678431" y="5193001"/>
            <a:ext cx="51446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550.8K</a:t>
            </a:r>
            <a:endParaRPr lang="en-US" sz="800" dirty="0"/>
          </a:p>
        </p:txBody>
      </p:sp>
      <p:sp>
        <p:nvSpPr>
          <p:cNvPr id="36" name="Text 33"/>
          <p:cNvSpPr/>
          <p:nvPr/>
        </p:nvSpPr>
        <p:spPr>
          <a:xfrm>
            <a:off x="6678431"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37" name="Text 34"/>
          <p:cNvSpPr/>
          <p:nvPr/>
        </p:nvSpPr>
        <p:spPr>
          <a:xfrm>
            <a:off x="8845422" y="1015746"/>
            <a:ext cx="934816"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Tiffany &amp; Co.</a:t>
            </a:r>
            <a:endParaRPr lang="en-US" sz="1000" dirty="0"/>
          </a:p>
        </p:txBody>
      </p:sp>
      <p:sp>
        <p:nvSpPr>
          <p:cNvPr id="38" name="Text 35"/>
          <p:cNvSpPr/>
          <p:nvPr/>
        </p:nvSpPr>
        <p:spPr>
          <a:xfrm>
            <a:off x="8845422" y="1187153"/>
            <a:ext cx="90693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16840861 followers</a:t>
            </a:r>
            <a:endParaRPr lang="en-US" sz="650" dirty="0"/>
          </a:p>
        </p:txBody>
      </p:sp>
      <p:sp>
        <p:nvSpPr>
          <p:cNvPr id="39" name="Text 36"/>
          <p:cNvSpPr/>
          <p:nvPr/>
        </p:nvSpPr>
        <p:spPr>
          <a:xfrm>
            <a:off x="10486982" y="1022094"/>
            <a:ext cx="763446"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06, 2026</a:t>
            </a:r>
            <a:endParaRPr lang="en-US" sz="800" dirty="0"/>
          </a:p>
        </p:txBody>
      </p:sp>
      <p:sp>
        <p:nvSpPr>
          <p:cNvPr id="40" name="Text 37"/>
          <p:cNvSpPr/>
          <p:nvPr/>
        </p:nvSpPr>
        <p:spPr>
          <a:xfrm>
            <a:off x="10605122"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41" name="Text 38"/>
          <p:cNvSpPr/>
          <p:nvPr/>
        </p:nvSpPr>
        <p:spPr>
          <a:xfrm>
            <a:off x="8566092"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42" name="Text 39"/>
          <p:cNvSpPr/>
          <p:nvPr/>
        </p:nvSpPr>
        <p:spPr>
          <a:xfrm>
            <a:off x="8515304"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Introducing the Sixteen Stone by Tiffany solitaire diamond ring. Since...</a:t>
            </a:r>
            <a:endParaRPr lang="en-US" sz="700" dirty="0"/>
          </a:p>
        </p:txBody>
      </p:sp>
      <p:sp>
        <p:nvSpPr>
          <p:cNvPr id="43" name="Text 40"/>
          <p:cNvSpPr/>
          <p:nvPr/>
        </p:nvSpPr>
        <p:spPr>
          <a:xfrm>
            <a:off x="8642272"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44" name="Text 41"/>
          <p:cNvSpPr/>
          <p:nvPr/>
        </p:nvSpPr>
        <p:spPr>
          <a:xfrm>
            <a:off x="10390169" y="4539115"/>
            <a:ext cx="490322"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0.15%</a:t>
            </a:r>
            <a:endParaRPr lang="en-US" sz="900" dirty="0"/>
          </a:p>
        </p:txBody>
      </p:sp>
      <p:sp>
        <p:nvSpPr>
          <p:cNvPr id="45" name="Text 42"/>
          <p:cNvSpPr/>
          <p:nvPr/>
        </p:nvSpPr>
        <p:spPr>
          <a:xfrm>
            <a:off x="8515304" y="4862884"/>
            <a:ext cx="42345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869K</a:t>
            </a:r>
            <a:endParaRPr lang="en-US" sz="800" dirty="0"/>
          </a:p>
        </p:txBody>
      </p:sp>
      <p:sp>
        <p:nvSpPr>
          <p:cNvPr id="46" name="Text 43"/>
          <p:cNvSpPr/>
          <p:nvPr/>
        </p:nvSpPr>
        <p:spPr>
          <a:xfrm>
            <a:off x="8515304"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47" name="Text 44"/>
          <p:cNvSpPr/>
          <p:nvPr/>
        </p:nvSpPr>
        <p:spPr>
          <a:xfrm>
            <a:off x="10390169" y="4862884"/>
            <a:ext cx="35258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25K</a:t>
            </a:r>
            <a:endParaRPr lang="en-US" sz="800" dirty="0"/>
          </a:p>
        </p:txBody>
      </p:sp>
      <p:sp>
        <p:nvSpPr>
          <p:cNvPr id="48" name="Text 45"/>
          <p:cNvSpPr/>
          <p:nvPr/>
        </p:nvSpPr>
        <p:spPr>
          <a:xfrm>
            <a:off x="10390169"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49" name="Text 46"/>
          <p:cNvSpPr/>
          <p:nvPr/>
        </p:nvSpPr>
        <p:spPr>
          <a:xfrm>
            <a:off x="8515304" y="5193001"/>
            <a:ext cx="32332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251</a:t>
            </a:r>
            <a:endParaRPr lang="en-US" sz="800" dirty="0"/>
          </a:p>
        </p:txBody>
      </p:sp>
      <p:sp>
        <p:nvSpPr>
          <p:cNvPr id="50" name="Text 47"/>
          <p:cNvSpPr/>
          <p:nvPr/>
        </p:nvSpPr>
        <p:spPr>
          <a:xfrm>
            <a:off x="8515304"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51" name="Text 48"/>
          <p:cNvSpPr/>
          <p:nvPr/>
        </p:nvSpPr>
        <p:spPr>
          <a:xfrm>
            <a:off x="10390169" y="5193001"/>
            <a:ext cx="49983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541.4K</a:t>
            </a:r>
            <a:endParaRPr lang="en-US" sz="800" dirty="0"/>
          </a:p>
        </p:txBody>
      </p:sp>
      <p:sp>
        <p:nvSpPr>
          <p:cNvPr id="52" name="Text 49"/>
          <p:cNvSpPr/>
          <p:nvPr/>
        </p:nvSpPr>
        <p:spPr>
          <a:xfrm>
            <a:off x="10390169"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53" name="Text 50"/>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54" name="Text 51"/>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5296362" y="114271"/>
            <a:ext cx="174859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ENGAGEMENT</a:t>
            </a:r>
            <a:endParaRPr lang="en-US" sz="1800" dirty="0"/>
          </a:p>
        </p:txBody>
      </p:sp>
      <p:sp>
        <p:nvSpPr>
          <p:cNvPr id="5" name="Text 2"/>
          <p:cNvSpPr/>
          <p:nvPr/>
        </p:nvSpPr>
        <p:spPr>
          <a:xfrm>
            <a:off x="11476045" y="139665"/>
            <a:ext cx="52238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7/12</a:t>
            </a:r>
            <a:endParaRPr lang="en-US" sz="1500" dirty="0"/>
          </a:p>
        </p:txBody>
      </p:sp>
      <p:sp>
        <p:nvSpPr>
          <p:cNvPr id="6" name="Text 3"/>
          <p:cNvSpPr/>
          <p:nvPr/>
        </p:nvSpPr>
        <p:spPr>
          <a:xfrm>
            <a:off x="374556" y="1663284"/>
            <a:ext cx="2800778"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Engagement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324.3K Total Organic Likes — a volatile period.</a:t>
            </a:r>
            <a:endParaRPr lang="en-US" sz="2999" dirty="0"/>
          </a:p>
        </p:txBody>
      </p:sp>
      <p:sp>
        <p:nvSpPr>
          <p:cNvPr id="8" name="Text 5"/>
          <p:cNvSpPr/>
          <p:nvPr/>
        </p:nvSpPr>
        <p:spPr>
          <a:xfrm>
            <a:off x="374556" y="2983754"/>
            <a:ext cx="5178172"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Total Organic Likes fell while Total Organic Comments held — Total Organic Comments is the bright spot.</a:t>
            </a:r>
            <a:endParaRPr lang="en-US" sz="800" dirty="0"/>
          </a:p>
        </p:txBody>
      </p:sp>
      <p:sp>
        <p:nvSpPr>
          <p:cNvPr id="9" name="Text 6"/>
          <p:cNvSpPr/>
          <p:nvPr/>
        </p:nvSpPr>
        <p:spPr>
          <a:xfrm>
            <a:off x="374556" y="3993151"/>
            <a:ext cx="184590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LIKES</a:t>
            </a:r>
            <a:endParaRPr lang="en-US" sz="1200" dirty="0"/>
          </a:p>
        </p:txBody>
      </p:sp>
      <p:sp>
        <p:nvSpPr>
          <p:cNvPr id="10" name="Text 7"/>
          <p:cNvSpPr/>
          <p:nvPr/>
        </p:nvSpPr>
        <p:spPr>
          <a:xfrm>
            <a:off x="374556" y="4278830"/>
            <a:ext cx="1201338"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324.3K</a:t>
            </a:r>
            <a:endParaRPr lang="en-US" sz="2399" dirty="0"/>
          </a:p>
        </p:txBody>
      </p:sp>
      <p:sp>
        <p:nvSpPr>
          <p:cNvPr id="11" name="Text 8"/>
          <p:cNvSpPr/>
          <p:nvPr/>
        </p:nvSpPr>
        <p:spPr>
          <a:xfrm>
            <a:off x="526918" y="4754961"/>
            <a:ext cx="631394"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2.39%</a:t>
            </a:r>
            <a:endParaRPr lang="en-US" sz="1200" dirty="0"/>
          </a:p>
        </p:txBody>
      </p:sp>
      <p:sp>
        <p:nvSpPr>
          <p:cNvPr id="12" name="Text 9"/>
          <p:cNvSpPr/>
          <p:nvPr/>
        </p:nvSpPr>
        <p:spPr>
          <a:xfrm>
            <a:off x="3183729" y="3993151"/>
            <a:ext cx="233453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COMMENTS</a:t>
            </a:r>
            <a:endParaRPr lang="en-US" sz="1200" dirty="0"/>
          </a:p>
        </p:txBody>
      </p:sp>
      <p:sp>
        <p:nvSpPr>
          <p:cNvPr id="13" name="Text 10"/>
          <p:cNvSpPr/>
          <p:nvPr/>
        </p:nvSpPr>
        <p:spPr>
          <a:xfrm>
            <a:off x="3183729" y="4278830"/>
            <a:ext cx="968778"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3,374</a:t>
            </a:r>
            <a:endParaRPr lang="en-US" sz="2399" dirty="0"/>
          </a:p>
        </p:txBody>
      </p:sp>
      <p:sp>
        <p:nvSpPr>
          <p:cNvPr id="14" name="Text 11"/>
          <p:cNvSpPr/>
          <p:nvPr/>
        </p:nvSpPr>
        <p:spPr>
          <a:xfrm>
            <a:off x="3336091" y="4754961"/>
            <a:ext cx="729522"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20.24%</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5745611" y="114271"/>
            <a:ext cx="85004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REELS</a:t>
            </a:r>
            <a:endParaRPr lang="en-US" sz="1800" dirty="0"/>
          </a:p>
        </p:txBody>
      </p:sp>
      <p:sp>
        <p:nvSpPr>
          <p:cNvPr id="5" name="Text 2"/>
          <p:cNvSpPr/>
          <p:nvPr/>
        </p:nvSpPr>
        <p:spPr>
          <a:xfrm>
            <a:off x="11466027" y="139665"/>
            <a:ext cx="53243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8/12</a:t>
            </a:r>
            <a:endParaRPr lang="en-US" sz="1500" dirty="0"/>
          </a:p>
        </p:txBody>
      </p:sp>
      <p:sp>
        <p:nvSpPr>
          <p:cNvPr id="6" name="Text 3"/>
          <p:cNvSpPr/>
          <p:nvPr/>
        </p:nvSpPr>
        <p:spPr>
          <a:xfrm>
            <a:off x="374556" y="1136366"/>
            <a:ext cx="314126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Key metrics for reels published during the period</a:t>
            </a:r>
            <a:endParaRPr lang="en-US" sz="1000" dirty="0"/>
          </a:p>
        </p:txBody>
      </p:sp>
      <p:sp>
        <p:nvSpPr>
          <p:cNvPr id="7" name="Text 4"/>
          <p:cNvSpPr/>
          <p:nvPr/>
        </p:nvSpPr>
        <p:spPr>
          <a:xfrm>
            <a:off x="374556" y="1409348"/>
            <a:ext cx="10186598" cy="552312"/>
          </a:xfrm>
          <a:prstGeom prst="rect">
            <a:avLst/>
          </a:prstGeom>
          <a:ln/>
        </p:spPr>
        <p:txBody>
          <a:bodyPr wrap="non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Reels increased across the board this period.</a:t>
            </a:r>
            <a:endParaRPr lang="en-US" sz="3599" dirty="0"/>
          </a:p>
        </p:txBody>
      </p:sp>
      <p:sp>
        <p:nvSpPr>
          <p:cNvPr id="8" name="Text 5"/>
          <p:cNvSpPr/>
          <p:nvPr/>
        </p:nvSpPr>
        <p:spPr>
          <a:xfrm>
            <a:off x="501525" y="2456836"/>
            <a:ext cx="1352807"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VIEWS / REEL</a:t>
            </a:r>
            <a:endParaRPr lang="en-US" sz="1200" dirty="0"/>
          </a:p>
        </p:txBody>
      </p:sp>
      <p:sp>
        <p:nvSpPr>
          <p:cNvPr id="9" name="Text 6"/>
          <p:cNvSpPr/>
          <p:nvPr/>
        </p:nvSpPr>
        <p:spPr>
          <a:xfrm>
            <a:off x="501525" y="3034541"/>
            <a:ext cx="662529"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1.9</a:t>
            </a:r>
            <a:endParaRPr lang="en-US" sz="2999" dirty="0"/>
          </a:p>
        </p:txBody>
      </p:sp>
      <p:sp>
        <p:nvSpPr>
          <p:cNvPr id="10" name="Text 7"/>
          <p:cNvSpPr/>
          <p:nvPr/>
        </p:nvSpPr>
        <p:spPr>
          <a:xfrm>
            <a:off x="691977" y="3618595"/>
            <a:ext cx="816899"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13.97%</a:t>
            </a:r>
            <a:endParaRPr lang="en-US" sz="1500" dirty="0"/>
          </a:p>
        </p:txBody>
      </p:sp>
      <p:sp>
        <p:nvSpPr>
          <p:cNvPr id="11" name="Text 8"/>
          <p:cNvSpPr/>
          <p:nvPr/>
        </p:nvSpPr>
        <p:spPr>
          <a:xfrm>
            <a:off x="4365526" y="2456836"/>
            <a:ext cx="19314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REEL</a:t>
            </a:r>
            <a:endParaRPr lang="en-US" sz="1200" dirty="0"/>
          </a:p>
        </p:txBody>
      </p:sp>
      <p:sp>
        <p:nvSpPr>
          <p:cNvPr id="12" name="Text 9"/>
          <p:cNvSpPr/>
          <p:nvPr/>
        </p:nvSpPr>
        <p:spPr>
          <a:xfrm>
            <a:off x="4365526" y="3034541"/>
            <a:ext cx="1229236"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20.3K</a:t>
            </a:r>
            <a:endParaRPr lang="en-US" sz="2999" dirty="0"/>
          </a:p>
        </p:txBody>
      </p:sp>
      <p:sp>
        <p:nvSpPr>
          <p:cNvPr id="13" name="Text 10"/>
          <p:cNvSpPr/>
          <p:nvPr/>
        </p:nvSpPr>
        <p:spPr>
          <a:xfrm>
            <a:off x="4555978" y="3618595"/>
            <a:ext cx="953601"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134.26%</a:t>
            </a:r>
            <a:endParaRPr lang="en-US" sz="1500" dirty="0"/>
          </a:p>
        </p:txBody>
      </p:sp>
      <p:sp>
        <p:nvSpPr>
          <p:cNvPr id="14" name="Text 11"/>
          <p:cNvSpPr/>
          <p:nvPr/>
        </p:nvSpPr>
        <p:spPr>
          <a:xfrm>
            <a:off x="8229626" y="2456836"/>
            <a:ext cx="1378994"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REEL LENGTH</a:t>
            </a:r>
            <a:endParaRPr lang="en-US" sz="1200" dirty="0"/>
          </a:p>
        </p:txBody>
      </p:sp>
      <p:sp>
        <p:nvSpPr>
          <p:cNvPr id="15" name="Text 12"/>
          <p:cNvSpPr/>
          <p:nvPr/>
        </p:nvSpPr>
        <p:spPr>
          <a:xfrm>
            <a:off x="8229626" y="3034541"/>
            <a:ext cx="762777"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217</a:t>
            </a:r>
            <a:endParaRPr lang="en-US" sz="2999" dirty="0"/>
          </a:p>
        </p:txBody>
      </p:sp>
      <p:sp>
        <p:nvSpPr>
          <p:cNvPr id="16" name="Text 13"/>
          <p:cNvSpPr/>
          <p:nvPr/>
        </p:nvSpPr>
        <p:spPr>
          <a:xfrm>
            <a:off x="8420078" y="3618595"/>
            <a:ext cx="813552"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75.91%</a:t>
            </a:r>
            <a:endParaRPr lang="en-US" sz="1500" dirty="0"/>
          </a:p>
        </p:txBody>
      </p:sp>
      <p:sp>
        <p:nvSpPr>
          <p:cNvPr id="17" name="Text 14"/>
          <p:cNvSpPr/>
          <p:nvPr/>
        </p:nvSpPr>
        <p:spPr>
          <a:xfrm>
            <a:off x="450737" y="4221694"/>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8" name="Text 15"/>
          <p:cNvSpPr/>
          <p:nvPr/>
        </p:nvSpPr>
        <p:spPr>
          <a:xfrm>
            <a:off x="4314738" y="4221694"/>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9" name="Text 16"/>
          <p:cNvSpPr/>
          <p:nvPr/>
        </p:nvSpPr>
        <p:spPr>
          <a:xfrm>
            <a:off x="8178838" y="4221694"/>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5708909" y="114271"/>
            <a:ext cx="9234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REACH</a:t>
            </a:r>
            <a:endParaRPr lang="en-US" sz="1800" dirty="0"/>
          </a:p>
        </p:txBody>
      </p:sp>
      <p:sp>
        <p:nvSpPr>
          <p:cNvPr id="5" name="Text 2"/>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9/12</a:t>
            </a:r>
            <a:endParaRPr lang="en-US" sz="1500" dirty="0"/>
          </a:p>
        </p:txBody>
      </p:sp>
      <p:sp>
        <p:nvSpPr>
          <p:cNvPr id="6" name="Text 3"/>
          <p:cNvSpPr/>
          <p:nvPr/>
        </p:nvSpPr>
        <p:spPr>
          <a:xfrm>
            <a:off x="374556" y="1561709"/>
            <a:ext cx="2987139"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Reach performance broken down by post type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243.2K Avg Reach / Post — declining this period.</a:t>
            </a:r>
            <a:endParaRPr lang="en-US" sz="2999" dirty="0"/>
          </a:p>
        </p:txBody>
      </p:sp>
      <p:sp>
        <p:nvSpPr>
          <p:cNvPr id="8" name="Text 5"/>
          <p:cNvSpPr/>
          <p:nvPr/>
        </p:nvSpPr>
        <p:spPr>
          <a:xfrm>
            <a:off x="374556" y="2882179"/>
            <a:ext cx="4414825"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Avg Reach / Post grew but Avg Engagement Rate by Reach dropped — worth monitoring.</a:t>
            </a:r>
            <a:endParaRPr lang="en-US" sz="800" dirty="0"/>
          </a:p>
        </p:txBody>
      </p:sp>
      <p:sp>
        <p:nvSpPr>
          <p:cNvPr id="9" name="Text 6"/>
          <p:cNvSpPr/>
          <p:nvPr/>
        </p:nvSpPr>
        <p:spPr>
          <a:xfrm>
            <a:off x="374556" y="3891577"/>
            <a:ext cx="157391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REACH / POST</a:t>
            </a:r>
            <a:endParaRPr lang="en-US" sz="1200" dirty="0"/>
          </a:p>
        </p:txBody>
      </p:sp>
      <p:sp>
        <p:nvSpPr>
          <p:cNvPr id="10" name="Text 7"/>
          <p:cNvSpPr/>
          <p:nvPr/>
        </p:nvSpPr>
        <p:spPr>
          <a:xfrm>
            <a:off x="374556" y="4177255"/>
            <a:ext cx="1209373"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243.2K</a:t>
            </a:r>
            <a:endParaRPr lang="en-US" sz="2399" dirty="0"/>
          </a:p>
        </p:txBody>
      </p:sp>
      <p:sp>
        <p:nvSpPr>
          <p:cNvPr id="11" name="Text 8"/>
          <p:cNvSpPr/>
          <p:nvPr/>
        </p:nvSpPr>
        <p:spPr>
          <a:xfrm>
            <a:off x="526918" y="4653386"/>
            <a:ext cx="601190"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81.8%</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REACH</a:t>
            </a:r>
            <a:endParaRPr lang="en-US" sz="1200" dirty="0"/>
          </a:p>
        </p:txBody>
      </p:sp>
      <p:sp>
        <p:nvSpPr>
          <p:cNvPr id="13" name="Text 10"/>
          <p:cNvSpPr/>
          <p:nvPr/>
        </p:nvSpPr>
        <p:spPr>
          <a:xfrm>
            <a:off x="3183729" y="4456586"/>
            <a:ext cx="533564"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14.1</a:t>
            </a:r>
            <a:endParaRPr lang="en-US" sz="1800" dirty="0"/>
          </a:p>
        </p:txBody>
      </p:sp>
      <p:sp>
        <p:nvSpPr>
          <p:cNvPr id="14" name="Text 11"/>
          <p:cNvSpPr/>
          <p:nvPr/>
        </p:nvSpPr>
        <p:spPr>
          <a:xfrm>
            <a:off x="3625935"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605505"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7.36%</a:t>
            </a:r>
            <a:endParaRPr lang="en-US" sz="1200" dirty="0"/>
          </a:p>
        </p:txBody>
      </p:sp>
      <p:sp>
        <p:nvSpPr>
          <p:cNvPr id="16" name="Text 13"/>
          <p:cNvSpPr/>
          <p:nvPr/>
        </p:nvSpPr>
        <p:spPr>
          <a:xfrm>
            <a:off x="6399200" y="2805998"/>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7" name="Text 14"/>
          <p:cNvSpPr/>
          <p:nvPr/>
        </p:nvSpPr>
        <p:spPr>
          <a:xfrm>
            <a:off x="11408593" y="2805998"/>
            <a:ext cx="40580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5.4M</a:t>
            </a:r>
            <a:endParaRPr lang="en-US" sz="800" dirty="0"/>
          </a:p>
        </p:txBody>
      </p:sp>
      <p:sp>
        <p:nvSpPr>
          <p:cNvPr id="18" name="Text 15"/>
          <p:cNvSpPr/>
          <p:nvPr/>
        </p:nvSpPr>
        <p:spPr>
          <a:xfrm>
            <a:off x="6399200" y="3237690"/>
            <a:ext cx="45386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Image</a:t>
            </a:r>
            <a:endParaRPr lang="en-US" sz="800" dirty="0"/>
          </a:p>
        </p:txBody>
      </p:sp>
      <p:sp>
        <p:nvSpPr>
          <p:cNvPr id="19" name="Text 16"/>
          <p:cNvSpPr/>
          <p:nvPr/>
        </p:nvSpPr>
        <p:spPr>
          <a:xfrm>
            <a:off x="11392921" y="3237690"/>
            <a:ext cx="421425"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498K</a:t>
            </a:r>
            <a:endParaRPr lang="en-US" sz="800" dirty="0"/>
          </a:p>
        </p:txBody>
      </p:sp>
      <p:sp>
        <p:nvSpPr>
          <p:cNvPr id="20" name="Text 17"/>
          <p:cNvSpPr/>
          <p:nvPr/>
        </p:nvSpPr>
        <p:spPr>
          <a:xfrm>
            <a:off x="6399200" y="3669382"/>
            <a:ext cx="590105"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Carousel</a:t>
            </a:r>
            <a:endParaRPr lang="en-US" sz="800" dirty="0"/>
          </a:p>
        </p:txBody>
      </p:sp>
      <p:sp>
        <p:nvSpPr>
          <p:cNvPr id="21" name="Text 18"/>
          <p:cNvSpPr/>
          <p:nvPr/>
        </p:nvSpPr>
        <p:spPr>
          <a:xfrm>
            <a:off x="11418017" y="3669382"/>
            <a:ext cx="396379"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381K</a:t>
            </a:r>
            <a:endParaRPr lang="en-US" sz="800" dirty="0"/>
          </a:p>
        </p:txBody>
      </p:sp>
      <p:sp>
        <p:nvSpPr>
          <p:cNvPr id="22" name="Text 19"/>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3" name="Text 20"/>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5730335" y="114271"/>
            <a:ext cx="880619"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VIEWS</a:t>
            </a:r>
            <a:endParaRPr lang="en-US" sz="1800" dirty="0"/>
          </a:p>
        </p:txBody>
      </p:sp>
      <p:sp>
        <p:nvSpPr>
          <p:cNvPr id="5" name="Text 2"/>
          <p:cNvSpPr/>
          <p:nvPr/>
        </p:nvSpPr>
        <p:spPr>
          <a:xfrm>
            <a:off x="11386275" y="139665"/>
            <a:ext cx="61221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10/12</a:t>
            </a:r>
            <a:endParaRPr lang="en-US" sz="1500" dirty="0"/>
          </a:p>
        </p:txBody>
      </p:sp>
      <p:sp>
        <p:nvSpPr>
          <p:cNvPr id="6" name="Text 3"/>
          <p:cNvSpPr/>
          <p:nvPr/>
        </p:nvSpPr>
        <p:spPr>
          <a:xfrm>
            <a:off x="374556" y="1561709"/>
            <a:ext cx="1355646"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Views performance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373.3K Avg Views / Post — a volatile period.</a:t>
            </a:r>
            <a:endParaRPr lang="en-US" sz="2999" dirty="0"/>
          </a:p>
        </p:txBody>
      </p:sp>
      <p:sp>
        <p:nvSpPr>
          <p:cNvPr id="8" name="Text 5"/>
          <p:cNvSpPr/>
          <p:nvPr/>
        </p:nvSpPr>
        <p:spPr>
          <a:xfrm>
            <a:off x="374556" y="2882179"/>
            <a:ext cx="4393994"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Avg Views / Post grew but Avg Engagement Rate by Views dropped — worth monitoring.</a:t>
            </a:r>
            <a:endParaRPr lang="en-US" sz="800" dirty="0"/>
          </a:p>
        </p:txBody>
      </p:sp>
      <p:sp>
        <p:nvSpPr>
          <p:cNvPr id="9" name="Text 6"/>
          <p:cNvSpPr/>
          <p:nvPr/>
        </p:nvSpPr>
        <p:spPr>
          <a:xfrm>
            <a:off x="374556" y="3891577"/>
            <a:ext cx="1548021"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VIEWS / POST</a:t>
            </a:r>
            <a:endParaRPr lang="en-US" sz="1200" dirty="0"/>
          </a:p>
        </p:txBody>
      </p:sp>
      <p:sp>
        <p:nvSpPr>
          <p:cNvPr id="10" name="Text 7"/>
          <p:cNvSpPr/>
          <p:nvPr/>
        </p:nvSpPr>
        <p:spPr>
          <a:xfrm>
            <a:off x="374556" y="4177255"/>
            <a:ext cx="1181995"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373.3K</a:t>
            </a:r>
            <a:endParaRPr lang="en-US" sz="2399" dirty="0"/>
          </a:p>
        </p:txBody>
      </p:sp>
      <p:sp>
        <p:nvSpPr>
          <p:cNvPr id="11" name="Text 8"/>
          <p:cNvSpPr/>
          <p:nvPr/>
        </p:nvSpPr>
        <p:spPr>
          <a:xfrm>
            <a:off x="526918" y="4653386"/>
            <a:ext cx="729522"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93.24%</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VIEWS</a:t>
            </a:r>
            <a:endParaRPr lang="en-US" sz="1200" dirty="0"/>
          </a:p>
        </p:txBody>
      </p:sp>
      <p:sp>
        <p:nvSpPr>
          <p:cNvPr id="13" name="Text 10"/>
          <p:cNvSpPr/>
          <p:nvPr/>
        </p:nvSpPr>
        <p:spPr>
          <a:xfrm>
            <a:off x="3183729" y="4456586"/>
            <a:ext cx="592485"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12.5</a:t>
            </a:r>
            <a:endParaRPr lang="en-US" sz="1800" dirty="0"/>
          </a:p>
        </p:txBody>
      </p:sp>
      <p:sp>
        <p:nvSpPr>
          <p:cNvPr id="14" name="Text 11"/>
          <p:cNvSpPr/>
          <p:nvPr/>
        </p:nvSpPr>
        <p:spPr>
          <a:xfrm>
            <a:off x="3684857"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632287"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8.29%</a:t>
            </a:r>
            <a:endParaRPr lang="en-US" sz="1200" dirty="0"/>
          </a:p>
        </p:txBody>
      </p:sp>
      <p:sp>
        <p:nvSpPr>
          <p:cNvPr id="16" name="Text 13"/>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5398135" y="114271"/>
            <a:ext cx="154504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FOLLOWERS</a:t>
            </a:r>
            <a:endParaRPr lang="en-US" sz="1800" dirty="0"/>
          </a:p>
        </p:txBody>
      </p:sp>
      <p:sp>
        <p:nvSpPr>
          <p:cNvPr id="5" name="Text 2"/>
          <p:cNvSpPr/>
          <p:nvPr/>
        </p:nvSpPr>
        <p:spPr>
          <a:xfrm>
            <a:off x="11428928" y="139665"/>
            <a:ext cx="56953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11/12</a:t>
            </a:r>
            <a:endParaRPr lang="en-US" sz="1500" dirty="0"/>
          </a:p>
        </p:txBody>
      </p:sp>
      <p:sp>
        <p:nvSpPr>
          <p:cNvPr id="6" name="Text 3"/>
          <p:cNvSpPr/>
          <p:nvPr/>
        </p:nvSpPr>
        <p:spPr>
          <a:xfrm>
            <a:off x="374556" y="1663284"/>
            <a:ext cx="3011131"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Follower growth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19.6K Follower Growth — holding steady.</a:t>
            </a:r>
            <a:endParaRPr lang="en-US" sz="2999" dirty="0"/>
          </a:p>
        </p:txBody>
      </p:sp>
      <p:sp>
        <p:nvSpPr>
          <p:cNvPr id="8" name="Text 5"/>
          <p:cNvSpPr/>
          <p:nvPr/>
        </p:nvSpPr>
        <p:spPr>
          <a:xfrm>
            <a:off x="374556" y="2983754"/>
            <a:ext cx="3385291"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Follower Growth and Followers Growth % declined this period.</a:t>
            </a:r>
            <a:endParaRPr lang="en-US" sz="800" dirty="0"/>
          </a:p>
        </p:txBody>
      </p:sp>
      <p:sp>
        <p:nvSpPr>
          <p:cNvPr id="9" name="Text 6"/>
          <p:cNvSpPr/>
          <p:nvPr/>
        </p:nvSpPr>
        <p:spPr>
          <a:xfrm>
            <a:off x="374556" y="3993151"/>
            <a:ext cx="1720395"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 GROWTH</a:t>
            </a:r>
            <a:endParaRPr lang="en-US" sz="1200" dirty="0"/>
          </a:p>
        </p:txBody>
      </p:sp>
      <p:sp>
        <p:nvSpPr>
          <p:cNvPr id="10" name="Text 7"/>
          <p:cNvSpPr/>
          <p:nvPr/>
        </p:nvSpPr>
        <p:spPr>
          <a:xfrm>
            <a:off x="374556" y="4278830"/>
            <a:ext cx="948245"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19.6K</a:t>
            </a:r>
            <a:endParaRPr lang="en-US" sz="2399" dirty="0"/>
          </a:p>
        </p:txBody>
      </p:sp>
      <p:sp>
        <p:nvSpPr>
          <p:cNvPr id="11" name="Text 8"/>
          <p:cNvSpPr/>
          <p:nvPr/>
        </p:nvSpPr>
        <p:spPr>
          <a:xfrm>
            <a:off x="526918" y="4754961"/>
            <a:ext cx="653192"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18.71%</a:t>
            </a:r>
            <a:endParaRPr lang="en-US" sz="1200" dirty="0"/>
          </a:p>
        </p:txBody>
      </p:sp>
      <p:sp>
        <p:nvSpPr>
          <p:cNvPr id="12" name="Text 9"/>
          <p:cNvSpPr/>
          <p:nvPr/>
        </p:nvSpPr>
        <p:spPr>
          <a:xfrm>
            <a:off x="3183729" y="3993151"/>
            <a:ext cx="201076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FOLLOWERS GROWTH %</a:t>
            </a:r>
            <a:endParaRPr lang="en-US" sz="1200" dirty="0"/>
          </a:p>
        </p:txBody>
      </p:sp>
      <p:sp>
        <p:nvSpPr>
          <p:cNvPr id="13" name="Text 10"/>
          <p:cNvSpPr/>
          <p:nvPr/>
        </p:nvSpPr>
        <p:spPr>
          <a:xfrm>
            <a:off x="3183729" y="4278830"/>
            <a:ext cx="532969"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0.1</a:t>
            </a:r>
            <a:endParaRPr lang="en-US" sz="2399" dirty="0"/>
          </a:p>
        </p:txBody>
      </p:sp>
      <p:sp>
        <p:nvSpPr>
          <p:cNvPr id="14" name="Text 11"/>
          <p:cNvSpPr/>
          <p:nvPr/>
        </p:nvSpPr>
        <p:spPr>
          <a:xfrm>
            <a:off x="3336091" y="4754961"/>
            <a:ext cx="693366"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18.83%</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47005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REFERENCE</a:t>
            </a:r>
            <a:endParaRPr lang="en-US" sz="1800" dirty="0"/>
          </a:p>
        </p:txBody>
      </p:sp>
      <p:sp>
        <p:nvSpPr>
          <p:cNvPr id="4" name="Text 1"/>
          <p:cNvSpPr/>
          <p:nvPr/>
        </p:nvSpPr>
        <p:spPr>
          <a:xfrm>
            <a:off x="11390242" y="139665"/>
            <a:ext cx="60822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12/12</a:t>
            </a:r>
            <a:endParaRPr lang="en-US" sz="1500" dirty="0"/>
          </a:p>
        </p:txBody>
      </p:sp>
      <p:sp>
        <p:nvSpPr>
          <p:cNvPr id="5" name="Text 2"/>
          <p:cNvSpPr/>
          <p:nvPr/>
        </p:nvSpPr>
        <p:spPr>
          <a:xfrm>
            <a:off x="374556" y="799900"/>
            <a:ext cx="317418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Definitions and reference materials for this report</a:t>
            </a:r>
            <a:endParaRPr lang="en-US" sz="1000" dirty="0"/>
          </a:p>
        </p:txBody>
      </p:sp>
      <p:sp>
        <p:nvSpPr>
          <p:cNvPr id="6" name="Text 3"/>
          <p:cNvSpPr/>
          <p:nvPr/>
        </p:nvSpPr>
        <p:spPr>
          <a:xfrm>
            <a:off x="374556" y="1072882"/>
            <a:ext cx="5028984" cy="552312"/>
          </a:xfrm>
          <a:prstGeom prst="rect">
            <a:avLst/>
          </a:prstGeom>
          <a:ln/>
        </p:spPr>
        <p:txBody>
          <a:bodyPr wrap="non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Glossary &amp; Resources</a:t>
            </a:r>
            <a:endParaRPr lang="en-US" sz="3599" dirty="0"/>
          </a:p>
        </p:txBody>
      </p:sp>
      <p:sp>
        <p:nvSpPr>
          <p:cNvPr id="7" name="Text 4"/>
          <p:cNvSpPr/>
          <p:nvPr/>
        </p:nvSpPr>
        <p:spPr>
          <a:xfrm>
            <a:off x="749113" y="2609198"/>
            <a:ext cx="537420"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Scope</a:t>
            </a:r>
            <a:endParaRPr lang="en-US" sz="1000" dirty="0"/>
          </a:p>
        </p:txBody>
      </p:sp>
      <p:sp>
        <p:nvSpPr>
          <p:cNvPr id="8" name="Text 5"/>
          <p:cNvSpPr/>
          <p:nvPr/>
        </p:nvSpPr>
        <p:spPr>
          <a:xfrm>
            <a:off x="596751" y="2964709"/>
            <a:ext cx="469981"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Period</a:t>
            </a:r>
            <a:endParaRPr lang="en-US" sz="800" dirty="0"/>
          </a:p>
        </p:txBody>
      </p:sp>
      <p:sp>
        <p:nvSpPr>
          <p:cNvPr id="9" name="Text 6"/>
          <p:cNvSpPr/>
          <p:nvPr/>
        </p:nvSpPr>
        <p:spPr>
          <a:xfrm>
            <a:off x="596751" y="3212297"/>
            <a:ext cx="126454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20 Jun 2026 - 19 Jul 2026</a:t>
            </a:r>
            <a:endParaRPr lang="en-US" sz="700" dirty="0"/>
          </a:p>
        </p:txBody>
      </p:sp>
      <p:sp>
        <p:nvSpPr>
          <p:cNvPr id="10" name="Text 7"/>
          <p:cNvSpPr/>
          <p:nvPr/>
        </p:nvSpPr>
        <p:spPr>
          <a:xfrm>
            <a:off x="596751" y="3447188"/>
            <a:ext cx="109376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Comparison Period</a:t>
            </a:r>
            <a:endParaRPr lang="en-US" sz="800" dirty="0"/>
          </a:p>
        </p:txBody>
      </p:sp>
      <p:sp>
        <p:nvSpPr>
          <p:cNvPr id="11" name="Text 8"/>
          <p:cNvSpPr/>
          <p:nvPr/>
        </p:nvSpPr>
        <p:spPr>
          <a:xfrm>
            <a:off x="596751" y="3694776"/>
            <a:ext cx="1298660"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21 May 2026 - 19 Jun 2026</a:t>
            </a:r>
            <a:endParaRPr lang="en-US" sz="700" dirty="0"/>
          </a:p>
        </p:txBody>
      </p:sp>
      <p:sp>
        <p:nvSpPr>
          <p:cNvPr id="12" name="Text 9"/>
          <p:cNvSpPr/>
          <p:nvPr/>
        </p:nvSpPr>
        <p:spPr>
          <a:xfrm>
            <a:off x="596751" y="3929667"/>
            <a:ext cx="882826"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 Channel</a:t>
            </a:r>
            <a:endParaRPr lang="en-US" sz="800" dirty="0"/>
          </a:p>
        </p:txBody>
      </p:sp>
      <p:sp>
        <p:nvSpPr>
          <p:cNvPr id="13" name="Text 10"/>
          <p:cNvSpPr/>
          <p:nvPr/>
        </p:nvSpPr>
        <p:spPr>
          <a:xfrm>
            <a:off x="596751" y="4177255"/>
            <a:ext cx="57079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Instagram</a:t>
            </a:r>
            <a:endParaRPr lang="en-US" sz="700" dirty="0"/>
          </a:p>
        </p:txBody>
      </p:sp>
      <p:sp>
        <p:nvSpPr>
          <p:cNvPr id="14" name="Text 11"/>
          <p:cNvSpPr/>
          <p:nvPr/>
        </p:nvSpPr>
        <p:spPr>
          <a:xfrm>
            <a:off x="596751" y="4412147"/>
            <a:ext cx="183583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Content Analysis (posts analyzed)</a:t>
            </a:r>
            <a:endParaRPr lang="en-US" sz="800" dirty="0"/>
          </a:p>
        </p:txBody>
      </p:sp>
      <p:sp>
        <p:nvSpPr>
          <p:cNvPr id="15" name="Text 12"/>
          <p:cNvSpPr/>
          <p:nvPr/>
        </p:nvSpPr>
        <p:spPr>
          <a:xfrm>
            <a:off x="596751" y="4659735"/>
            <a:ext cx="261680"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26</a:t>
            </a:r>
            <a:endParaRPr lang="en-US" sz="700" dirty="0"/>
          </a:p>
        </p:txBody>
      </p:sp>
      <p:sp>
        <p:nvSpPr>
          <p:cNvPr id="16" name="Text 13"/>
          <p:cNvSpPr/>
          <p:nvPr/>
        </p:nvSpPr>
        <p:spPr>
          <a:xfrm>
            <a:off x="4418495" y="2609198"/>
            <a:ext cx="804128"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Definitions</a:t>
            </a:r>
            <a:endParaRPr lang="en-US" sz="1000" dirty="0"/>
          </a:p>
        </p:txBody>
      </p:sp>
      <p:sp>
        <p:nvSpPr>
          <p:cNvPr id="17" name="Text 14"/>
          <p:cNvSpPr/>
          <p:nvPr/>
        </p:nvSpPr>
        <p:spPr>
          <a:xfrm>
            <a:off x="4266133" y="2964709"/>
            <a:ext cx="770985"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a:t>
            </a:r>
            <a:endParaRPr lang="en-US" sz="800" dirty="0"/>
          </a:p>
        </p:txBody>
      </p:sp>
      <p:sp>
        <p:nvSpPr>
          <p:cNvPr id="18" name="Text 15"/>
          <p:cNvSpPr/>
          <p:nvPr/>
        </p:nvSpPr>
        <p:spPr>
          <a:xfrm>
            <a:off x="4266133" y="3212297"/>
            <a:ext cx="237070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The sum of likes and comments on the organic posts</a:t>
            </a:r>
            <a:endParaRPr lang="en-US" sz="700" dirty="0"/>
          </a:p>
        </p:txBody>
      </p:sp>
      <p:sp>
        <p:nvSpPr>
          <p:cNvPr id="19" name="Text 16"/>
          <p:cNvSpPr/>
          <p:nvPr/>
        </p:nvSpPr>
        <p:spPr>
          <a:xfrm>
            <a:off x="4266133" y="3447188"/>
            <a:ext cx="1659713"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 Rate by Followers</a:t>
            </a:r>
            <a:endParaRPr lang="en-US" sz="800" dirty="0"/>
          </a:p>
        </p:txBody>
      </p:sp>
      <p:sp>
        <p:nvSpPr>
          <p:cNvPr id="20" name="Text 17"/>
          <p:cNvSpPr/>
          <p:nvPr/>
        </p:nvSpPr>
        <p:spPr>
          <a:xfrm>
            <a:off x="4266133" y="3694776"/>
            <a:ext cx="295192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Engagement divided by follower count, expressed as a percentage</a:t>
            </a:r>
            <a:endParaRPr lang="en-US" sz="700" dirty="0"/>
          </a:p>
        </p:txBody>
      </p:sp>
      <p:sp>
        <p:nvSpPr>
          <p:cNvPr id="21" name="Text 18"/>
          <p:cNvSpPr/>
          <p:nvPr/>
        </p:nvSpPr>
        <p:spPr>
          <a:xfrm>
            <a:off x="4266133" y="3929667"/>
            <a:ext cx="45807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Reach</a:t>
            </a:r>
            <a:endParaRPr lang="en-US" sz="800" dirty="0"/>
          </a:p>
        </p:txBody>
      </p:sp>
      <p:sp>
        <p:nvSpPr>
          <p:cNvPr id="22" name="Text 19"/>
          <p:cNvSpPr/>
          <p:nvPr/>
        </p:nvSpPr>
        <p:spPr>
          <a:xfrm>
            <a:off x="4266133" y="4177255"/>
            <a:ext cx="225678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Number of unique accounts that saw your content</a:t>
            </a:r>
            <a:endParaRPr lang="en-US" sz="700" dirty="0"/>
          </a:p>
        </p:txBody>
      </p:sp>
      <p:sp>
        <p:nvSpPr>
          <p:cNvPr id="23" name="Text 20"/>
          <p:cNvSpPr/>
          <p:nvPr/>
        </p:nvSpPr>
        <p:spPr>
          <a:xfrm>
            <a:off x="4266133" y="4412147"/>
            <a:ext cx="45242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Views</a:t>
            </a:r>
            <a:endParaRPr lang="en-US" sz="800" dirty="0"/>
          </a:p>
        </p:txBody>
      </p:sp>
      <p:sp>
        <p:nvSpPr>
          <p:cNvPr id="24" name="Text 21"/>
          <p:cNvSpPr/>
          <p:nvPr/>
        </p:nvSpPr>
        <p:spPr>
          <a:xfrm>
            <a:off x="4266133" y="4659735"/>
            <a:ext cx="2245112"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Total number of times your content was displayed</a:t>
            </a:r>
            <a:endParaRPr lang="en-US" sz="700" dirty="0"/>
          </a:p>
        </p:txBody>
      </p:sp>
      <p:sp>
        <p:nvSpPr>
          <p:cNvPr id="25" name="Text 22"/>
          <p:cNvSpPr/>
          <p:nvPr/>
        </p:nvSpPr>
        <p:spPr>
          <a:xfrm>
            <a:off x="8259285" y="2571107"/>
            <a:ext cx="791853"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Resources</a:t>
            </a:r>
            <a:endParaRPr lang="en-US" sz="1000" dirty="0"/>
          </a:p>
        </p:txBody>
      </p:sp>
      <p:sp>
        <p:nvSpPr>
          <p:cNvPr id="26" name="Text 23"/>
          <p:cNvSpPr/>
          <p:nvPr/>
        </p:nvSpPr>
        <p:spPr>
          <a:xfrm>
            <a:off x="8106923" y="2926618"/>
            <a:ext cx="103032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Blog</a:t>
            </a:r>
            <a:endParaRPr lang="en-US" sz="800" dirty="0"/>
          </a:p>
        </p:txBody>
      </p:sp>
      <p:sp>
        <p:nvSpPr>
          <p:cNvPr id="27" name="Text 24"/>
          <p:cNvSpPr/>
          <p:nvPr/>
        </p:nvSpPr>
        <p:spPr>
          <a:xfrm>
            <a:off x="8106923" y="3174206"/>
            <a:ext cx="98910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socialinsider.io/blog</a:t>
            </a:r>
            <a:endParaRPr lang="en-US" sz="700" dirty="0"/>
          </a:p>
        </p:txBody>
      </p:sp>
      <p:sp>
        <p:nvSpPr>
          <p:cNvPr id="28" name="Text 25"/>
          <p:cNvSpPr/>
          <p:nvPr/>
        </p:nvSpPr>
        <p:spPr>
          <a:xfrm>
            <a:off x="8106923" y="3409098"/>
            <a:ext cx="139506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Help Center</a:t>
            </a:r>
            <a:endParaRPr lang="en-US" sz="800" dirty="0"/>
          </a:p>
        </p:txBody>
      </p:sp>
      <p:sp>
        <p:nvSpPr>
          <p:cNvPr id="29" name="Text 26"/>
          <p:cNvSpPr/>
          <p:nvPr/>
        </p:nvSpPr>
        <p:spPr>
          <a:xfrm>
            <a:off x="8106923" y="3656686"/>
            <a:ext cx="152749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https://howto.socialinsider.io/en/</a:t>
            </a:r>
            <a:endParaRPr lang="en-US" sz="700" dirty="0"/>
          </a:p>
        </p:txBody>
      </p:sp>
      <p:sp>
        <p:nvSpPr>
          <p:cNvPr id="30" name="Text 27"/>
          <p:cNvSpPr/>
          <p:nvPr/>
        </p:nvSpPr>
        <p:spPr>
          <a:xfrm>
            <a:off x="8106923" y="3891577"/>
            <a:ext cx="1181350"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Studies</a:t>
            </a:r>
            <a:endParaRPr lang="en-US" sz="800" dirty="0"/>
          </a:p>
        </p:txBody>
      </p:sp>
      <p:sp>
        <p:nvSpPr>
          <p:cNvPr id="31" name="Text 28"/>
          <p:cNvSpPr/>
          <p:nvPr/>
        </p:nvSpPr>
        <p:spPr>
          <a:xfrm>
            <a:off x="8106923" y="4139165"/>
            <a:ext cx="164579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https://www.socialinsider.io/reports</a:t>
            </a:r>
            <a:endParaRPr lang="en-US" sz="700" dirty="0"/>
          </a:p>
        </p:txBody>
      </p:sp>
      <p:sp>
        <p:nvSpPr>
          <p:cNvPr id="32" name="Text 29"/>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33" name="Text 30"/>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2026-07-19T06:00:28Z</dcterms:created>
  <dcterms:modified xsi:type="dcterms:W3CDTF">2026-07-19T06:00:28Z</dcterms:modified>
</cp:coreProperties>
</file>