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1022094" y="2729817"/>
            <a:ext cx="1509395" cy="126968"/>
          </a:xfrm>
          <a:prstGeom prst="rect">
            <a:avLst/>
          </a:prstGeom>
          <a:ln/>
        </p:spPr>
        <p:txBody>
          <a:bodyPr wrap="none" lIns="0" tIns="0" rIns="0" bIns="0" rtlCol="0" anchor="t"/>
          <a:lstStyle/>
          <a:p>
            <a:pPr algn="l" indent="0" marL="0">
              <a:lnSpc>
                <a:spcPct val="100000"/>
              </a:lnSpc>
              <a:buNone/>
            </a:pPr>
            <a:r>
              <a:rPr lang="en-US" sz="800" dirty="0">
                <a:solidFill>
                  <a:srgbClr val="6D57F6"/>
                </a:solidFill>
                <a:latin typeface="Inter" pitchFamily="34" charset="0"/>
                <a:ea typeface="Inter" pitchFamily="34" charset="-122"/>
                <a:cs typeface="Inter" pitchFamily="34" charset="-120"/>
              </a:rPr>
              <a:t>GIRIZEVERMAHAL_1990</a:t>
            </a:r>
            <a:endParaRPr lang="en-US" sz="800" dirty="0"/>
          </a:p>
        </p:txBody>
      </p:sp>
      <p:sp>
        <p:nvSpPr>
          <p:cNvPr id="4" name="Text 1"/>
          <p:cNvSpPr/>
          <p:nvPr/>
        </p:nvSpPr>
        <p:spPr>
          <a:xfrm>
            <a:off x="933217" y="3091677"/>
            <a:ext cx="3888904" cy="552312"/>
          </a:xfrm>
          <a:prstGeom prst="rect">
            <a:avLst/>
          </a:prstGeom>
          <a:ln/>
        </p:spPr>
        <p:txBody>
          <a:bodyPr wrap="none" lIns="0" tIns="0" rIns="0" bIns="0" rtlCol="0" anchor="t"/>
          <a:lstStyle/>
          <a:p>
            <a:pPr algn="l" indent="0" marL="0">
              <a:lnSpc>
                <a:spcPct val="100000"/>
              </a:lnSpc>
              <a:buNone/>
            </a:pPr>
            <a:r>
              <a:rPr lang="en-US" sz="3599" b="1" dirty="0">
                <a:solidFill>
                  <a:srgbClr val="FFFFFF"/>
                </a:solidFill>
                <a:latin typeface="Inter" pitchFamily="34" charset="0"/>
                <a:ea typeface="Inter" pitchFamily="34" charset="-122"/>
                <a:cs typeface="Inter" pitchFamily="34" charset="-120"/>
              </a:rPr>
              <a:t>Instagram Report</a:t>
            </a:r>
            <a:endParaRPr lang="en-US" sz="3599" dirty="0"/>
          </a:p>
        </p:txBody>
      </p:sp>
      <p:sp>
        <p:nvSpPr>
          <p:cNvPr id="5" name="Text 2"/>
          <p:cNvSpPr/>
          <p:nvPr/>
        </p:nvSpPr>
        <p:spPr>
          <a:xfrm>
            <a:off x="253937" y="6399200"/>
            <a:ext cx="595697"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BRAND</a:t>
            </a:r>
            <a:endParaRPr lang="en-US" sz="1000" dirty="0"/>
          </a:p>
        </p:txBody>
      </p:sp>
      <p:sp>
        <p:nvSpPr>
          <p:cNvPr id="6" name="Text 3"/>
          <p:cNvSpPr/>
          <p:nvPr/>
        </p:nvSpPr>
        <p:spPr>
          <a:xfrm>
            <a:off x="253937" y="6589652"/>
            <a:ext cx="1512497"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@girizevermahal_1990</a:t>
            </a:r>
            <a:endParaRPr lang="en-US" sz="1000" dirty="0"/>
          </a:p>
        </p:txBody>
      </p:sp>
      <p:sp>
        <p:nvSpPr>
          <p:cNvPr id="7" name="Text 4"/>
          <p:cNvSpPr/>
          <p:nvPr/>
        </p:nvSpPr>
        <p:spPr>
          <a:xfrm>
            <a:off x="1918808" y="6399200"/>
            <a:ext cx="692399"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PERIOD</a:t>
            </a:r>
            <a:endParaRPr lang="en-US" sz="1000" dirty="0"/>
          </a:p>
        </p:txBody>
      </p:sp>
      <p:sp>
        <p:nvSpPr>
          <p:cNvPr id="8" name="Text 5"/>
          <p:cNvSpPr/>
          <p:nvPr/>
        </p:nvSpPr>
        <p:spPr>
          <a:xfrm>
            <a:off x="1918808" y="6589652"/>
            <a:ext cx="1751058"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20 Jun 2026 - 19 Jul 2026</a:t>
            </a:r>
            <a:endParaRPr lang="en-US" sz="1000" dirty="0"/>
          </a:p>
        </p:txBody>
      </p:sp>
      <p:sp>
        <p:nvSpPr>
          <p:cNvPr id="9" name="Text 6"/>
          <p:cNvSpPr/>
          <p:nvPr/>
        </p:nvSpPr>
        <p:spPr>
          <a:xfrm>
            <a:off x="3822240" y="6399200"/>
            <a:ext cx="1726235"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COMPARISON PERIOD</a:t>
            </a:r>
            <a:endParaRPr lang="en-US" sz="1000" dirty="0"/>
          </a:p>
        </p:txBody>
      </p:sp>
      <p:sp>
        <p:nvSpPr>
          <p:cNvPr id="10" name="Text 7"/>
          <p:cNvSpPr/>
          <p:nvPr/>
        </p:nvSpPr>
        <p:spPr>
          <a:xfrm>
            <a:off x="3822240" y="6589652"/>
            <a:ext cx="1799415"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21 May 2026 - 19 Jun 2026</a:t>
            </a:r>
            <a:endParaRPr lang="en-US" sz="1000" dirty="0"/>
          </a:p>
        </p:txBody>
      </p:sp>
      <p:sp>
        <p:nvSpPr>
          <p:cNvPr id="11" name="Text 8"/>
          <p:cNvSpPr/>
          <p:nvPr/>
        </p:nvSpPr>
        <p:spPr>
          <a:xfrm>
            <a:off x="5774080" y="6399200"/>
            <a:ext cx="859342"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CHANNEL</a:t>
            </a:r>
            <a:endParaRPr lang="en-US" sz="1000" dirty="0"/>
          </a:p>
        </p:txBody>
      </p:sp>
      <p:sp>
        <p:nvSpPr>
          <p:cNvPr id="12" name="Text 9"/>
          <p:cNvSpPr/>
          <p:nvPr/>
        </p:nvSpPr>
        <p:spPr>
          <a:xfrm>
            <a:off x="5774080" y="6589652"/>
            <a:ext cx="759739"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Instagram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91977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Giri Zever Mahal</a:t>
            </a:r>
            <a:endParaRPr lang="en-US" sz="1800" dirty="0"/>
          </a:p>
        </p:txBody>
      </p:sp>
      <p:sp>
        <p:nvSpPr>
          <p:cNvPr id="4" name="Text 1"/>
          <p:cNvSpPr/>
          <p:nvPr/>
        </p:nvSpPr>
        <p:spPr>
          <a:xfrm>
            <a:off x="4834515" y="114271"/>
            <a:ext cx="267224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EXECUTIVE SUMMARY</a:t>
            </a:r>
            <a:endParaRPr lang="en-US" sz="1800" dirty="0"/>
          </a:p>
        </p:txBody>
      </p:sp>
      <p:sp>
        <p:nvSpPr>
          <p:cNvPr id="5" name="Text 2"/>
          <p:cNvSpPr/>
          <p:nvPr/>
        </p:nvSpPr>
        <p:spPr>
          <a:xfrm>
            <a:off x="11467713" y="139665"/>
            <a:ext cx="53075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2/12</a:t>
            </a:r>
            <a:endParaRPr lang="en-US" sz="1500" dirty="0"/>
          </a:p>
        </p:txBody>
      </p:sp>
      <p:sp>
        <p:nvSpPr>
          <p:cNvPr id="6" name="Text 3"/>
          <p:cNvSpPr/>
          <p:nvPr/>
        </p:nvSpPr>
        <p:spPr>
          <a:xfrm>
            <a:off x="469783" y="1955311"/>
            <a:ext cx="5713571" cy="2844089"/>
          </a:xfrm>
          <a:prstGeom prst="rect">
            <a:avLst/>
          </a:prstGeom>
          <a:ln/>
        </p:spPr>
        <p:txBody>
          <a:bodyPr wrap="squar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Between June 20 and July 19, 2026, GiriZeverMahal's Instagram profile experienced notable growth and engagement improvements. The follower count grew to 442,235, adding 5,155 new followers, although the growth rate slowed compared to the previous period.The content output increased to 40 posts, including Reels, which saw significant interaction growth with total engagement reaching 270,242, up substantially from before. Engagement rates per post and per follower also rose sharply, indicating that the audience is interacting more actively with the content.Videos performed well, accumulating over 18 million views, contributing to wider reach and impressions that surged to over 18.6 million. Delivered earned media value rose impressively, reflecting the enhanced visibility and influence of the profile.While the average hashtags per post slightly decreased, other engagement metrics such as likes and comments per post more than tripled, painting a picture of growing community involvement.</a:t>
            </a:r>
            <a:endParaRPr lang="en-US" sz="1000" dirty="0"/>
          </a:p>
        </p:txBody>
      </p:sp>
      <p:sp>
        <p:nvSpPr>
          <p:cNvPr id="7" name="Text 4"/>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8" name="Text 5"/>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387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KEY INSIGHTS</a:t>
            </a:r>
            <a:endParaRPr lang="en-US" sz="1800" dirty="0"/>
          </a:p>
        </p:txBody>
      </p:sp>
      <p:sp>
        <p:nvSpPr>
          <p:cNvPr id="4" name="Text 1"/>
          <p:cNvSpPr/>
          <p:nvPr/>
        </p:nvSpPr>
        <p:spPr>
          <a:xfrm>
            <a:off x="11466225" y="139665"/>
            <a:ext cx="53224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3/12</a:t>
            </a:r>
            <a:endParaRPr lang="en-US" sz="1500" dirty="0"/>
          </a:p>
        </p:txBody>
      </p:sp>
      <p:sp>
        <p:nvSpPr>
          <p:cNvPr id="5" name="Text 2"/>
          <p:cNvSpPr/>
          <p:nvPr/>
        </p:nvSpPr>
        <p:spPr>
          <a:xfrm>
            <a:off x="342814" y="1136366"/>
            <a:ext cx="1598721" cy="133317"/>
          </a:xfrm>
          <a:prstGeom prst="rect">
            <a:avLst/>
          </a:prstGeom>
          <a:ln/>
        </p:spPr>
        <p:txBody>
          <a:bodyPr wrap="none" lIns="0" tIns="0" rIns="0" bIns="0" rtlCol="0" anchor="t"/>
          <a:lstStyle/>
          <a:p>
            <a:pPr algn="l" indent="0" marL="0">
              <a:lnSpc>
                <a:spcPct val="100000"/>
              </a:lnSpc>
              <a:buNone/>
            </a:pPr>
            <a:r>
              <a:rPr lang="en-US" sz="900" dirty="0">
                <a:solidFill>
                  <a:srgbClr val="DDDCED"/>
                </a:solidFill>
                <a:latin typeface="Inter" pitchFamily="34" charset="0"/>
                <a:ea typeface="Inter" pitchFamily="34" charset="-122"/>
                <a:cs typeface="Inter" pitchFamily="34" charset="-120"/>
              </a:rPr>
              <a:t>One month, three numbers</a:t>
            </a:r>
            <a:endParaRPr lang="en-US" sz="900" dirty="0"/>
          </a:p>
        </p:txBody>
      </p:sp>
      <p:sp>
        <p:nvSpPr>
          <p:cNvPr id="6" name="Text 3"/>
          <p:cNvSpPr/>
          <p:nvPr/>
        </p:nvSpPr>
        <p:spPr>
          <a:xfrm>
            <a:off x="342814" y="1409348"/>
            <a:ext cx="8627493" cy="850687"/>
          </a:xfrm>
          <a:prstGeom prst="rect">
            <a:avLst/>
          </a:prstGeom>
          <a:ln/>
        </p:spPr>
        <p:txBody>
          <a:bodyPr wrap="square" lIns="0" tIns="0" rIns="0" bIns="0" rtlCol="0" anchor="t"/>
          <a:lstStyle/>
          <a:p>
            <a:pPr algn="l" indent="0" marL="0">
              <a:lnSpc>
                <a:spcPct val="100000"/>
              </a:lnSpc>
              <a:buNone/>
            </a:pPr>
            <a:r>
              <a:rPr lang="en-US" sz="2999" b="1" dirty="0">
                <a:solidFill>
                  <a:srgbClr val="FFFFFF"/>
                </a:solidFill>
                <a:latin typeface="Inter" pitchFamily="34" charset="0"/>
                <a:ea typeface="Inter" pitchFamily="34" charset="-122"/>
                <a:cs typeface="Inter" pitchFamily="34" charset="-120"/>
              </a:rPr>
              <a:t>A strong period — most metrics moved in the right direction.</a:t>
            </a:r>
            <a:endParaRPr lang="en-US" sz="2999" dirty="0"/>
          </a:p>
        </p:txBody>
      </p:sp>
      <p:sp>
        <p:nvSpPr>
          <p:cNvPr id="7" name="Text 4"/>
          <p:cNvSpPr/>
          <p:nvPr/>
        </p:nvSpPr>
        <p:spPr>
          <a:xfrm>
            <a:off x="342814" y="3916971"/>
            <a:ext cx="2207536"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1.53 %</a:t>
            </a:r>
            <a:endParaRPr lang="en-US" sz="4999" dirty="0"/>
          </a:p>
        </p:txBody>
      </p:sp>
      <p:sp>
        <p:nvSpPr>
          <p:cNvPr id="8" name="Text 5"/>
          <p:cNvSpPr/>
          <p:nvPr/>
        </p:nvSpPr>
        <p:spPr>
          <a:xfrm>
            <a:off x="342814" y="4856536"/>
            <a:ext cx="3093760" cy="469783"/>
          </a:xfrm>
          <a:prstGeom prst="rect">
            <a:avLst/>
          </a:prstGeom>
          <a:ln/>
        </p:spPr>
        <p:txBody>
          <a:bodyPr wrap="squar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Avg. Engagement Rate by Followers</a:t>
            </a:r>
            <a:endParaRPr lang="en-US" sz="1500" dirty="0"/>
          </a:p>
        </p:txBody>
      </p:sp>
      <p:sp>
        <p:nvSpPr>
          <p:cNvPr id="9" name="Text 6"/>
          <p:cNvSpPr/>
          <p:nvPr/>
        </p:nvSpPr>
        <p:spPr>
          <a:xfrm>
            <a:off x="571357" y="5485028"/>
            <a:ext cx="955610" cy="279330"/>
          </a:xfrm>
          <a:prstGeom prst="rect">
            <a:avLst/>
          </a:prstGeom>
          <a:ln/>
        </p:spPr>
        <p:txBody>
          <a:bodyPr wrap="none" lIns="0" tIns="0" rIns="0" bIns="0" rtlCol="0" anchor="t"/>
          <a:lstStyle/>
          <a:p>
            <a:pPr algn="l" indent="0" marL="0">
              <a:lnSpc>
                <a:spcPct val="100000"/>
              </a:lnSpc>
              <a:buNone/>
            </a:pPr>
            <a:r>
              <a:rPr lang="en-US" sz="1800" dirty="0">
                <a:solidFill>
                  <a:srgbClr val="57BCBD"/>
                </a:solidFill>
                <a:latin typeface="Inter" pitchFamily="34" charset="0"/>
                <a:ea typeface="Inter" pitchFamily="34" charset="-122"/>
                <a:cs typeface="Inter" pitchFamily="34" charset="-120"/>
              </a:rPr>
              <a:t>371.8%</a:t>
            </a:r>
            <a:endParaRPr lang="en-US" sz="1800" dirty="0"/>
          </a:p>
        </p:txBody>
      </p:sp>
      <p:sp>
        <p:nvSpPr>
          <p:cNvPr id="10" name="Text 7"/>
          <p:cNvSpPr/>
          <p:nvPr/>
        </p:nvSpPr>
        <p:spPr>
          <a:xfrm>
            <a:off x="4547546" y="3916971"/>
            <a:ext cx="1989930"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18.6M</a:t>
            </a:r>
            <a:endParaRPr lang="en-US" sz="4999" dirty="0"/>
          </a:p>
        </p:txBody>
      </p:sp>
      <p:sp>
        <p:nvSpPr>
          <p:cNvPr id="11" name="Text 8"/>
          <p:cNvSpPr/>
          <p:nvPr/>
        </p:nvSpPr>
        <p:spPr>
          <a:xfrm>
            <a:off x="4547546" y="4856536"/>
            <a:ext cx="2002670"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Views</a:t>
            </a:r>
            <a:endParaRPr lang="en-US" sz="1500" dirty="0"/>
          </a:p>
        </p:txBody>
      </p:sp>
      <p:sp>
        <p:nvSpPr>
          <p:cNvPr id="12" name="Text 9"/>
          <p:cNvSpPr/>
          <p:nvPr/>
        </p:nvSpPr>
        <p:spPr>
          <a:xfrm>
            <a:off x="4776089" y="5243789"/>
            <a:ext cx="1150117" cy="279330"/>
          </a:xfrm>
          <a:prstGeom prst="rect">
            <a:avLst/>
          </a:prstGeom>
          <a:ln/>
        </p:spPr>
        <p:txBody>
          <a:bodyPr wrap="none" lIns="0" tIns="0" rIns="0" bIns="0" rtlCol="0" anchor="t"/>
          <a:lstStyle/>
          <a:p>
            <a:pPr algn="l" indent="0" marL="0">
              <a:lnSpc>
                <a:spcPct val="100000"/>
              </a:lnSpc>
              <a:buNone/>
            </a:pPr>
            <a:r>
              <a:rPr lang="en-US" sz="1800" dirty="0">
                <a:solidFill>
                  <a:srgbClr val="57BCBD"/>
                </a:solidFill>
                <a:latin typeface="Inter" pitchFamily="34" charset="0"/>
                <a:ea typeface="Inter" pitchFamily="34" charset="-122"/>
                <a:cs typeface="Inter" pitchFamily="34" charset="-120"/>
              </a:rPr>
              <a:t>625.03%</a:t>
            </a:r>
            <a:endParaRPr lang="en-US" sz="1800" dirty="0"/>
          </a:p>
        </p:txBody>
      </p:sp>
      <p:sp>
        <p:nvSpPr>
          <p:cNvPr id="13" name="Text 10"/>
          <p:cNvSpPr/>
          <p:nvPr/>
        </p:nvSpPr>
        <p:spPr>
          <a:xfrm>
            <a:off x="8752378" y="3916971"/>
            <a:ext cx="1865627"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11.6M</a:t>
            </a:r>
            <a:endParaRPr lang="en-US" sz="4999" dirty="0"/>
          </a:p>
        </p:txBody>
      </p:sp>
      <p:sp>
        <p:nvSpPr>
          <p:cNvPr id="14" name="Text 11"/>
          <p:cNvSpPr/>
          <p:nvPr/>
        </p:nvSpPr>
        <p:spPr>
          <a:xfrm>
            <a:off x="8752378" y="4856536"/>
            <a:ext cx="2022199"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Reach</a:t>
            </a:r>
            <a:endParaRPr lang="en-US" sz="1500" dirty="0"/>
          </a:p>
        </p:txBody>
      </p:sp>
      <p:sp>
        <p:nvSpPr>
          <p:cNvPr id="15" name="Text 12"/>
          <p:cNvSpPr/>
          <p:nvPr/>
        </p:nvSpPr>
        <p:spPr>
          <a:xfrm>
            <a:off x="8980921" y="5243789"/>
            <a:ext cx="1150117" cy="279330"/>
          </a:xfrm>
          <a:prstGeom prst="rect">
            <a:avLst/>
          </a:prstGeom>
          <a:ln/>
        </p:spPr>
        <p:txBody>
          <a:bodyPr wrap="none" lIns="0" tIns="0" rIns="0" bIns="0" rtlCol="0" anchor="t"/>
          <a:lstStyle/>
          <a:p>
            <a:pPr algn="l" indent="0" marL="0">
              <a:lnSpc>
                <a:spcPct val="100000"/>
              </a:lnSpc>
              <a:buNone/>
            </a:pPr>
            <a:r>
              <a:rPr lang="en-US" sz="1800" dirty="0">
                <a:solidFill>
                  <a:srgbClr val="57BCBD"/>
                </a:solidFill>
                <a:latin typeface="Inter" pitchFamily="34" charset="0"/>
                <a:ea typeface="Inter" pitchFamily="34" charset="-122"/>
                <a:cs typeface="Inter" pitchFamily="34" charset="-120"/>
              </a:rPr>
              <a:t>625.03%</a:t>
            </a:r>
            <a:endParaRPr lang="en-US" sz="1800" dirty="0"/>
          </a:p>
        </p:txBody>
      </p:sp>
      <p:sp>
        <p:nvSpPr>
          <p:cNvPr id="16" name="Text 13"/>
          <p:cNvSpPr/>
          <p:nvPr/>
        </p:nvSpPr>
        <p:spPr>
          <a:xfrm>
            <a:off x="317421" y="6710272"/>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964209"/>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91977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Giri Zever Mahal</a:t>
            </a:r>
            <a:endParaRPr lang="en-US" sz="1800" dirty="0"/>
          </a:p>
        </p:txBody>
      </p:sp>
      <p:sp>
        <p:nvSpPr>
          <p:cNvPr id="4" name="Text 1"/>
          <p:cNvSpPr/>
          <p:nvPr/>
        </p:nvSpPr>
        <p:spPr>
          <a:xfrm>
            <a:off x="4818197" y="114271"/>
            <a:ext cx="270483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POSTS PERFORMANCE</a:t>
            </a:r>
            <a:endParaRPr lang="en-US" sz="1800" dirty="0"/>
          </a:p>
        </p:txBody>
      </p:sp>
      <p:sp>
        <p:nvSpPr>
          <p:cNvPr id="5" name="Text 2"/>
          <p:cNvSpPr/>
          <p:nvPr/>
        </p:nvSpPr>
        <p:spPr>
          <a:xfrm>
            <a:off x="11460769" y="139665"/>
            <a:ext cx="537637"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4/12</a:t>
            </a:r>
            <a:endParaRPr lang="en-US" sz="1500" dirty="0"/>
          </a:p>
        </p:txBody>
      </p:sp>
      <p:sp>
        <p:nvSpPr>
          <p:cNvPr id="6" name="Text 3"/>
          <p:cNvSpPr/>
          <p:nvPr/>
        </p:nvSpPr>
        <p:spPr>
          <a:xfrm>
            <a:off x="374556" y="1136366"/>
            <a:ext cx="1719254"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POSTS TO ENGAGEMENT</a:t>
            </a:r>
            <a:endParaRPr lang="en-US" sz="1000" dirty="0"/>
          </a:p>
        </p:txBody>
      </p:sp>
      <p:sp>
        <p:nvSpPr>
          <p:cNvPr id="7" name="Text 4"/>
          <p:cNvSpPr/>
          <p:nvPr/>
        </p:nvSpPr>
        <p:spPr>
          <a:xfrm>
            <a:off x="374556" y="1409348"/>
            <a:ext cx="11439839" cy="1022094"/>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We posted 14.29% more, and got 446.21% more engagement.</a:t>
            </a:r>
            <a:endParaRPr lang="en-US" sz="3599" dirty="0"/>
          </a:p>
        </p:txBody>
      </p:sp>
      <p:sp>
        <p:nvSpPr>
          <p:cNvPr id="8" name="Text 5"/>
          <p:cNvSpPr/>
          <p:nvPr/>
        </p:nvSpPr>
        <p:spPr>
          <a:xfrm>
            <a:off x="374556" y="2558410"/>
            <a:ext cx="4706201" cy="133317"/>
          </a:xfrm>
          <a:prstGeom prst="rect">
            <a:avLst/>
          </a:prstGeom>
          <a:ln/>
        </p:spPr>
        <p:txBody>
          <a:bodyPr wrap="none" lIns="0" tIns="0" rIns="0" bIns="0" rtlCol="0" anchor="t"/>
          <a:lstStyle/>
          <a:p>
            <a:pPr algn="l" indent="0" marL="0">
              <a:lnSpc>
                <a:spcPct val="100000"/>
              </a:lnSpc>
              <a:buNone/>
            </a:pPr>
            <a:r>
              <a:rPr lang="en-US" sz="900" dirty="0">
                <a:solidFill>
                  <a:srgbClr val="5B5B69"/>
                </a:solidFill>
                <a:latin typeface="Inter" pitchFamily="34" charset="0"/>
                <a:ea typeface="Inter" pitchFamily="34" charset="-122"/>
                <a:cs typeface="Inter" pitchFamily="34" charset="-120"/>
              </a:rPr>
              <a:t>The engagement gain ran 31.2x ahead of the output increase. Quality compounded.</a:t>
            </a:r>
            <a:endParaRPr lang="en-US" sz="900" dirty="0"/>
          </a:p>
        </p:txBody>
      </p:sp>
      <p:sp>
        <p:nvSpPr>
          <p:cNvPr id="9" name="Text 6"/>
          <p:cNvSpPr/>
          <p:nvPr/>
        </p:nvSpPr>
        <p:spPr>
          <a:xfrm>
            <a:off x="501525" y="4107423"/>
            <a:ext cx="103786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POSTS</a:t>
            </a:r>
            <a:endParaRPr lang="en-US" sz="1200" dirty="0"/>
          </a:p>
        </p:txBody>
      </p:sp>
      <p:sp>
        <p:nvSpPr>
          <p:cNvPr id="10" name="Text 7"/>
          <p:cNvSpPr/>
          <p:nvPr/>
        </p:nvSpPr>
        <p:spPr>
          <a:xfrm>
            <a:off x="501525" y="4685128"/>
            <a:ext cx="648208"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40</a:t>
            </a:r>
            <a:endParaRPr lang="en-US" sz="2999" dirty="0"/>
          </a:p>
        </p:txBody>
      </p:sp>
      <p:sp>
        <p:nvSpPr>
          <p:cNvPr id="11" name="Text 8"/>
          <p:cNvSpPr/>
          <p:nvPr/>
        </p:nvSpPr>
        <p:spPr>
          <a:xfrm>
            <a:off x="691977" y="5269182"/>
            <a:ext cx="834196"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14.29%</a:t>
            </a:r>
            <a:endParaRPr lang="en-US" sz="1500" dirty="0"/>
          </a:p>
        </p:txBody>
      </p:sp>
      <p:sp>
        <p:nvSpPr>
          <p:cNvPr id="12" name="Text 9"/>
          <p:cNvSpPr/>
          <p:nvPr/>
        </p:nvSpPr>
        <p:spPr>
          <a:xfrm>
            <a:off x="3399575" y="4107423"/>
            <a:ext cx="15992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ENGAGEMENT</a:t>
            </a:r>
            <a:endParaRPr lang="en-US" sz="1200" dirty="0"/>
          </a:p>
        </p:txBody>
      </p:sp>
      <p:sp>
        <p:nvSpPr>
          <p:cNvPr id="13" name="Text 10"/>
          <p:cNvSpPr/>
          <p:nvPr/>
        </p:nvSpPr>
        <p:spPr>
          <a:xfrm>
            <a:off x="3399575" y="4685128"/>
            <a:ext cx="1446471"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270.2K</a:t>
            </a:r>
            <a:endParaRPr lang="en-US" sz="2999" dirty="0"/>
          </a:p>
        </p:txBody>
      </p:sp>
      <p:sp>
        <p:nvSpPr>
          <p:cNvPr id="14" name="Text 11"/>
          <p:cNvSpPr/>
          <p:nvPr/>
        </p:nvSpPr>
        <p:spPr>
          <a:xfrm>
            <a:off x="3590027" y="5269182"/>
            <a:ext cx="959460"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446.21%</a:t>
            </a:r>
            <a:endParaRPr lang="en-US" sz="1500" dirty="0"/>
          </a:p>
        </p:txBody>
      </p:sp>
      <p:sp>
        <p:nvSpPr>
          <p:cNvPr id="15" name="Text 12"/>
          <p:cNvSpPr/>
          <p:nvPr/>
        </p:nvSpPr>
        <p:spPr>
          <a:xfrm>
            <a:off x="6297625" y="4107423"/>
            <a:ext cx="197435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POST</a:t>
            </a:r>
            <a:endParaRPr lang="en-US" sz="1200" dirty="0"/>
          </a:p>
        </p:txBody>
      </p:sp>
      <p:sp>
        <p:nvSpPr>
          <p:cNvPr id="16" name="Text 13"/>
          <p:cNvSpPr/>
          <p:nvPr/>
        </p:nvSpPr>
        <p:spPr>
          <a:xfrm>
            <a:off x="6297625" y="4685128"/>
            <a:ext cx="1172138"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6,756</a:t>
            </a:r>
            <a:endParaRPr lang="en-US" sz="2999" dirty="0"/>
          </a:p>
        </p:txBody>
      </p:sp>
      <p:sp>
        <p:nvSpPr>
          <p:cNvPr id="17" name="Text 14"/>
          <p:cNvSpPr/>
          <p:nvPr/>
        </p:nvSpPr>
        <p:spPr>
          <a:xfrm>
            <a:off x="6488078" y="5269182"/>
            <a:ext cx="953880"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377.93%</a:t>
            </a:r>
            <a:endParaRPr lang="en-US" sz="1500" dirty="0"/>
          </a:p>
        </p:txBody>
      </p:sp>
      <p:sp>
        <p:nvSpPr>
          <p:cNvPr id="18" name="Text 15"/>
          <p:cNvSpPr/>
          <p:nvPr/>
        </p:nvSpPr>
        <p:spPr>
          <a:xfrm>
            <a:off x="9195676" y="4107423"/>
            <a:ext cx="186980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DAY</a:t>
            </a:r>
            <a:endParaRPr lang="en-US" sz="1200" dirty="0"/>
          </a:p>
        </p:txBody>
      </p:sp>
      <p:sp>
        <p:nvSpPr>
          <p:cNvPr id="19" name="Text 16"/>
          <p:cNvSpPr/>
          <p:nvPr/>
        </p:nvSpPr>
        <p:spPr>
          <a:xfrm>
            <a:off x="9195676" y="4685128"/>
            <a:ext cx="1218821"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9,008</a:t>
            </a:r>
            <a:endParaRPr lang="en-US" sz="2999" dirty="0"/>
          </a:p>
        </p:txBody>
      </p:sp>
      <p:sp>
        <p:nvSpPr>
          <p:cNvPr id="20" name="Text 17"/>
          <p:cNvSpPr/>
          <p:nvPr/>
        </p:nvSpPr>
        <p:spPr>
          <a:xfrm>
            <a:off x="9386128" y="5269182"/>
            <a:ext cx="959460"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446.21%</a:t>
            </a:r>
            <a:endParaRPr lang="en-US" sz="1500" dirty="0"/>
          </a:p>
        </p:txBody>
      </p:sp>
      <p:sp>
        <p:nvSpPr>
          <p:cNvPr id="21" name="Text 18"/>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2" name="Text 19"/>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91977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Giri Zever Mahal</a:t>
            </a:r>
            <a:endParaRPr lang="en-US" sz="1800" dirty="0"/>
          </a:p>
        </p:txBody>
      </p:sp>
      <p:sp>
        <p:nvSpPr>
          <p:cNvPr id="4" name="Text 1"/>
          <p:cNvSpPr/>
          <p:nvPr/>
        </p:nvSpPr>
        <p:spPr>
          <a:xfrm>
            <a:off x="11470887" y="139665"/>
            <a:ext cx="52759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5/12</a:t>
            </a:r>
            <a:endParaRPr lang="en-US" sz="1500" dirty="0"/>
          </a:p>
        </p:txBody>
      </p:sp>
      <p:sp>
        <p:nvSpPr>
          <p:cNvPr id="5" name="Text 2"/>
          <p:cNvSpPr/>
          <p:nvPr/>
        </p:nvSpPr>
        <p:spPr>
          <a:xfrm>
            <a:off x="374556" y="1136366"/>
            <a:ext cx="1523780"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WHAT WE PUBLISHED</a:t>
            </a:r>
            <a:endParaRPr lang="en-US" sz="1000" dirty="0"/>
          </a:p>
        </p:txBody>
      </p:sp>
      <p:sp>
        <p:nvSpPr>
          <p:cNvPr id="6" name="Text 3"/>
          <p:cNvSpPr/>
          <p:nvPr/>
        </p:nvSpPr>
        <p:spPr>
          <a:xfrm>
            <a:off x="374556" y="1409348"/>
            <a:ext cx="5516770" cy="1961659"/>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Reel made up the majority of posts published during this period.</a:t>
            </a:r>
            <a:endParaRPr lang="en-US" sz="3599" dirty="0"/>
          </a:p>
        </p:txBody>
      </p:sp>
      <p:sp>
        <p:nvSpPr>
          <p:cNvPr id="7" name="Text 4"/>
          <p:cNvSpPr/>
          <p:nvPr/>
        </p:nvSpPr>
        <p:spPr>
          <a:xfrm>
            <a:off x="374556" y="3497975"/>
            <a:ext cx="3461323" cy="133317"/>
          </a:xfrm>
          <a:prstGeom prst="rect">
            <a:avLst/>
          </a:prstGeom>
          <a:ln/>
        </p:spPr>
        <p:txBody>
          <a:bodyPr wrap="none" lIns="0" tIns="0" rIns="0" bIns="0" rtlCol="0" anchor="t"/>
          <a:lstStyle/>
          <a:p>
            <a:pPr algn="l" indent="0" marL="0">
              <a:lnSpc>
                <a:spcPct val="100000"/>
              </a:lnSpc>
              <a:buNone/>
            </a:pPr>
            <a:r>
              <a:rPr lang="en-US" sz="900" dirty="0">
                <a:solidFill>
                  <a:srgbClr val="5B5B69"/>
                </a:solidFill>
                <a:latin typeface="Inter" pitchFamily="34" charset="0"/>
                <a:ea typeface="Inter" pitchFamily="34" charset="-122"/>
                <a:cs typeface="Inter" pitchFamily="34" charset="-120"/>
              </a:rPr>
              <a:t>Reel accounted for 100% of posts and 100% of engagement.</a:t>
            </a:r>
            <a:endParaRPr lang="en-US" sz="900" dirty="0"/>
          </a:p>
        </p:txBody>
      </p:sp>
      <p:sp>
        <p:nvSpPr>
          <p:cNvPr id="8" name="Text 5"/>
          <p:cNvSpPr/>
          <p:nvPr/>
        </p:nvSpPr>
        <p:spPr>
          <a:xfrm>
            <a:off x="679280" y="4374056"/>
            <a:ext cx="38626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Note</a:t>
            </a:r>
            <a:endParaRPr lang="en-US" sz="800" dirty="0"/>
          </a:p>
        </p:txBody>
      </p:sp>
      <p:sp>
        <p:nvSpPr>
          <p:cNvPr id="9" name="Text 6"/>
          <p:cNvSpPr/>
          <p:nvPr/>
        </p:nvSpPr>
        <p:spPr>
          <a:xfrm>
            <a:off x="6449987" y="3237690"/>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0" name="Text 7"/>
          <p:cNvSpPr/>
          <p:nvPr/>
        </p:nvSpPr>
        <p:spPr>
          <a:xfrm>
            <a:off x="11527328" y="3237690"/>
            <a:ext cx="287018"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40</a:t>
            </a:r>
            <a:endParaRPr lang="en-US" sz="800" dirty="0"/>
          </a:p>
        </p:txBody>
      </p:sp>
      <p:sp>
        <p:nvSpPr>
          <p:cNvPr id="11" name="Text 8"/>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2" name="Text 9"/>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96576"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TOP CONTENT</a:t>
            </a:r>
            <a:endParaRPr lang="en-US" sz="1800" dirty="0"/>
          </a:p>
        </p:txBody>
      </p:sp>
      <p:sp>
        <p:nvSpPr>
          <p:cNvPr id="4" name="Text 1"/>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6/12</a:t>
            </a:r>
            <a:endParaRPr lang="en-US" sz="1500" dirty="0"/>
          </a:p>
        </p:txBody>
      </p:sp>
      <p:sp>
        <p:nvSpPr>
          <p:cNvPr id="5" name="Text 2"/>
          <p:cNvSpPr/>
          <p:nvPr/>
        </p:nvSpPr>
        <p:spPr>
          <a:xfrm>
            <a:off x="1422044" y="1015746"/>
            <a:ext cx="1228740"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Giri Zever Maha...</a:t>
            </a:r>
            <a:endParaRPr lang="en-US" sz="1000" dirty="0"/>
          </a:p>
        </p:txBody>
      </p:sp>
      <p:sp>
        <p:nvSpPr>
          <p:cNvPr id="6" name="Text 3"/>
          <p:cNvSpPr/>
          <p:nvPr/>
        </p:nvSpPr>
        <p:spPr>
          <a:xfrm>
            <a:off x="1422044" y="1187153"/>
            <a:ext cx="837178"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442235 followers</a:t>
            </a:r>
            <a:endParaRPr lang="en-US" sz="650" dirty="0"/>
          </a:p>
        </p:txBody>
      </p:sp>
      <p:sp>
        <p:nvSpPr>
          <p:cNvPr id="7" name="Text 4"/>
          <p:cNvSpPr/>
          <p:nvPr/>
        </p:nvSpPr>
        <p:spPr>
          <a:xfrm>
            <a:off x="3062712" y="1022094"/>
            <a:ext cx="764190"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03, 2026</a:t>
            </a:r>
            <a:endParaRPr lang="en-US" sz="800" dirty="0"/>
          </a:p>
        </p:txBody>
      </p:sp>
      <p:sp>
        <p:nvSpPr>
          <p:cNvPr id="8" name="Text 5"/>
          <p:cNvSpPr/>
          <p:nvPr/>
        </p:nvSpPr>
        <p:spPr>
          <a:xfrm>
            <a:off x="3181646"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9" name="Text 6"/>
          <p:cNvSpPr/>
          <p:nvPr/>
        </p:nvSpPr>
        <p:spPr>
          <a:xfrm>
            <a:off x="1142714"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10" name="Text 7"/>
          <p:cNvSpPr/>
          <p:nvPr/>
        </p:nvSpPr>
        <p:spPr>
          <a:xfrm>
            <a:off x="1091927" y="4253436"/>
            <a:ext cx="2581622"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Shopping with Mother😍👉Get 2% Making Charges on OLD GOLD EXCHANGE, Of...</a:t>
            </a:r>
            <a:endParaRPr lang="en-US" sz="700" dirty="0"/>
          </a:p>
        </p:txBody>
      </p:sp>
      <p:sp>
        <p:nvSpPr>
          <p:cNvPr id="11" name="Text 8"/>
          <p:cNvSpPr/>
          <p:nvPr/>
        </p:nvSpPr>
        <p:spPr>
          <a:xfrm>
            <a:off x="1218895"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12" name="Text 9"/>
          <p:cNvSpPr/>
          <p:nvPr/>
        </p:nvSpPr>
        <p:spPr>
          <a:xfrm>
            <a:off x="2966792" y="4539115"/>
            <a:ext cx="605207"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44.60%</a:t>
            </a:r>
            <a:endParaRPr lang="en-US" sz="900" dirty="0"/>
          </a:p>
        </p:txBody>
      </p:sp>
      <p:sp>
        <p:nvSpPr>
          <p:cNvPr id="13" name="Text 10"/>
          <p:cNvSpPr/>
          <p:nvPr/>
        </p:nvSpPr>
        <p:spPr>
          <a:xfrm>
            <a:off x="1091927" y="4862884"/>
            <a:ext cx="452969"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14.6M</a:t>
            </a:r>
            <a:endParaRPr lang="en-US" sz="800" dirty="0"/>
          </a:p>
        </p:txBody>
      </p:sp>
      <p:sp>
        <p:nvSpPr>
          <p:cNvPr id="14" name="Text 11"/>
          <p:cNvSpPr/>
          <p:nvPr/>
        </p:nvSpPr>
        <p:spPr>
          <a:xfrm>
            <a:off x="1091927"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15" name="Text 12"/>
          <p:cNvSpPr/>
          <p:nvPr/>
        </p:nvSpPr>
        <p:spPr>
          <a:xfrm>
            <a:off x="2966792" y="4862884"/>
            <a:ext cx="488530"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196.7K</a:t>
            </a:r>
            <a:endParaRPr lang="en-US" sz="800" dirty="0"/>
          </a:p>
        </p:txBody>
      </p:sp>
      <p:sp>
        <p:nvSpPr>
          <p:cNvPr id="16" name="Text 13"/>
          <p:cNvSpPr/>
          <p:nvPr/>
        </p:nvSpPr>
        <p:spPr>
          <a:xfrm>
            <a:off x="2966792"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17" name="Text 14"/>
          <p:cNvSpPr/>
          <p:nvPr/>
        </p:nvSpPr>
        <p:spPr>
          <a:xfrm>
            <a:off x="1091927" y="5193001"/>
            <a:ext cx="352734"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504</a:t>
            </a:r>
            <a:endParaRPr lang="en-US" sz="800" dirty="0"/>
          </a:p>
        </p:txBody>
      </p:sp>
      <p:sp>
        <p:nvSpPr>
          <p:cNvPr id="18" name="Text 15"/>
          <p:cNvSpPr/>
          <p:nvPr/>
        </p:nvSpPr>
        <p:spPr>
          <a:xfrm>
            <a:off x="1091927"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19" name="Text 16"/>
          <p:cNvSpPr/>
          <p:nvPr/>
        </p:nvSpPr>
        <p:spPr>
          <a:xfrm>
            <a:off x="2966792" y="5193001"/>
            <a:ext cx="378524"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9.1M</a:t>
            </a:r>
            <a:endParaRPr lang="en-US" sz="800" dirty="0"/>
          </a:p>
        </p:txBody>
      </p:sp>
      <p:sp>
        <p:nvSpPr>
          <p:cNvPr id="20" name="Text 17"/>
          <p:cNvSpPr/>
          <p:nvPr/>
        </p:nvSpPr>
        <p:spPr>
          <a:xfrm>
            <a:off x="2966792"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21" name="Text 18"/>
          <p:cNvSpPr/>
          <p:nvPr/>
        </p:nvSpPr>
        <p:spPr>
          <a:xfrm>
            <a:off x="5133683" y="1015746"/>
            <a:ext cx="1228740"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Giri Zever Maha...</a:t>
            </a:r>
            <a:endParaRPr lang="en-US" sz="1000" dirty="0"/>
          </a:p>
        </p:txBody>
      </p:sp>
      <p:sp>
        <p:nvSpPr>
          <p:cNvPr id="22" name="Text 19"/>
          <p:cNvSpPr/>
          <p:nvPr/>
        </p:nvSpPr>
        <p:spPr>
          <a:xfrm>
            <a:off x="5133683" y="1187153"/>
            <a:ext cx="837178"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442235 followers</a:t>
            </a:r>
            <a:endParaRPr lang="en-US" sz="650" dirty="0"/>
          </a:p>
        </p:txBody>
      </p:sp>
      <p:sp>
        <p:nvSpPr>
          <p:cNvPr id="23" name="Text 20"/>
          <p:cNvSpPr/>
          <p:nvPr/>
        </p:nvSpPr>
        <p:spPr>
          <a:xfrm>
            <a:off x="6796075" y="1022094"/>
            <a:ext cx="742566"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14, 2026</a:t>
            </a:r>
            <a:endParaRPr lang="en-US" sz="800" dirty="0"/>
          </a:p>
        </p:txBody>
      </p:sp>
      <p:sp>
        <p:nvSpPr>
          <p:cNvPr id="24" name="Text 21"/>
          <p:cNvSpPr/>
          <p:nvPr/>
        </p:nvSpPr>
        <p:spPr>
          <a:xfrm>
            <a:off x="6893384"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25" name="Text 22"/>
          <p:cNvSpPr/>
          <p:nvPr/>
        </p:nvSpPr>
        <p:spPr>
          <a:xfrm>
            <a:off x="4854353"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26" name="Text 23"/>
          <p:cNvSpPr/>
          <p:nvPr/>
        </p:nvSpPr>
        <p:spPr>
          <a:xfrm>
            <a:off x="4803566"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Get 2% Making Charges on OLD GOLD EXCHANGE, Offer for Next 15Days🏦 In...</a:t>
            </a:r>
            <a:endParaRPr lang="en-US" sz="700" dirty="0"/>
          </a:p>
        </p:txBody>
      </p:sp>
      <p:sp>
        <p:nvSpPr>
          <p:cNvPr id="27" name="Text 24"/>
          <p:cNvSpPr/>
          <p:nvPr/>
        </p:nvSpPr>
        <p:spPr>
          <a:xfrm>
            <a:off x="4930534"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28" name="Text 25"/>
          <p:cNvSpPr/>
          <p:nvPr/>
        </p:nvSpPr>
        <p:spPr>
          <a:xfrm>
            <a:off x="6678431" y="4539115"/>
            <a:ext cx="530049"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2.46%</a:t>
            </a:r>
            <a:endParaRPr lang="en-US" sz="900" dirty="0"/>
          </a:p>
        </p:txBody>
      </p:sp>
      <p:sp>
        <p:nvSpPr>
          <p:cNvPr id="29" name="Text 26"/>
          <p:cNvSpPr/>
          <p:nvPr/>
        </p:nvSpPr>
        <p:spPr>
          <a:xfrm>
            <a:off x="4803566" y="4862884"/>
            <a:ext cx="510948"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338.7K</a:t>
            </a:r>
            <a:endParaRPr lang="en-US" sz="800" dirty="0"/>
          </a:p>
        </p:txBody>
      </p:sp>
      <p:sp>
        <p:nvSpPr>
          <p:cNvPr id="30" name="Text 27"/>
          <p:cNvSpPr/>
          <p:nvPr/>
        </p:nvSpPr>
        <p:spPr>
          <a:xfrm>
            <a:off x="4803566"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31" name="Text 28"/>
          <p:cNvSpPr/>
          <p:nvPr/>
        </p:nvSpPr>
        <p:spPr>
          <a:xfrm>
            <a:off x="6678431" y="4862884"/>
            <a:ext cx="433329"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10.9K</a:t>
            </a:r>
            <a:endParaRPr lang="en-US" sz="800" dirty="0"/>
          </a:p>
        </p:txBody>
      </p:sp>
      <p:sp>
        <p:nvSpPr>
          <p:cNvPr id="32" name="Text 29"/>
          <p:cNvSpPr/>
          <p:nvPr/>
        </p:nvSpPr>
        <p:spPr>
          <a:xfrm>
            <a:off x="6678431"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33" name="Text 30"/>
          <p:cNvSpPr/>
          <p:nvPr/>
        </p:nvSpPr>
        <p:spPr>
          <a:xfrm>
            <a:off x="4803566" y="5193001"/>
            <a:ext cx="275412"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27</a:t>
            </a:r>
            <a:endParaRPr lang="en-US" sz="800" dirty="0"/>
          </a:p>
        </p:txBody>
      </p:sp>
      <p:sp>
        <p:nvSpPr>
          <p:cNvPr id="34" name="Text 31"/>
          <p:cNvSpPr/>
          <p:nvPr/>
        </p:nvSpPr>
        <p:spPr>
          <a:xfrm>
            <a:off x="4803566"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35" name="Text 32"/>
          <p:cNvSpPr/>
          <p:nvPr/>
        </p:nvSpPr>
        <p:spPr>
          <a:xfrm>
            <a:off x="6678431" y="5193001"/>
            <a:ext cx="376987"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211K</a:t>
            </a:r>
            <a:endParaRPr lang="en-US" sz="800" dirty="0"/>
          </a:p>
        </p:txBody>
      </p:sp>
      <p:sp>
        <p:nvSpPr>
          <p:cNvPr id="36" name="Text 33"/>
          <p:cNvSpPr/>
          <p:nvPr/>
        </p:nvSpPr>
        <p:spPr>
          <a:xfrm>
            <a:off x="6678431"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37" name="Text 34"/>
          <p:cNvSpPr/>
          <p:nvPr/>
        </p:nvSpPr>
        <p:spPr>
          <a:xfrm>
            <a:off x="8845422" y="1015746"/>
            <a:ext cx="1228740"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Giri Zever Maha...</a:t>
            </a:r>
            <a:endParaRPr lang="en-US" sz="1000" dirty="0"/>
          </a:p>
        </p:txBody>
      </p:sp>
      <p:sp>
        <p:nvSpPr>
          <p:cNvPr id="38" name="Text 35"/>
          <p:cNvSpPr/>
          <p:nvPr/>
        </p:nvSpPr>
        <p:spPr>
          <a:xfrm>
            <a:off x="8845422" y="1187153"/>
            <a:ext cx="837178"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442235 followers</a:t>
            </a:r>
            <a:endParaRPr lang="en-US" sz="650" dirty="0"/>
          </a:p>
        </p:txBody>
      </p:sp>
      <p:sp>
        <p:nvSpPr>
          <p:cNvPr id="39" name="Text 36"/>
          <p:cNvSpPr/>
          <p:nvPr/>
        </p:nvSpPr>
        <p:spPr>
          <a:xfrm>
            <a:off x="10486387" y="1022094"/>
            <a:ext cx="763992"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09, 2026</a:t>
            </a:r>
            <a:endParaRPr lang="en-US" sz="800" dirty="0"/>
          </a:p>
        </p:txBody>
      </p:sp>
      <p:sp>
        <p:nvSpPr>
          <p:cNvPr id="40" name="Text 37"/>
          <p:cNvSpPr/>
          <p:nvPr/>
        </p:nvSpPr>
        <p:spPr>
          <a:xfrm>
            <a:off x="10605122"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41" name="Text 38"/>
          <p:cNvSpPr/>
          <p:nvPr/>
        </p:nvSpPr>
        <p:spPr>
          <a:xfrm>
            <a:off x="8566092"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42" name="Text 39"/>
          <p:cNvSpPr/>
          <p:nvPr/>
        </p:nvSpPr>
        <p:spPr>
          <a:xfrm>
            <a:off x="8515304"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Get 2% Making Charges on OLD GOLD EXCHANGE, Offer for Next 15Days🏦 In...</a:t>
            </a:r>
            <a:endParaRPr lang="en-US" sz="700" dirty="0"/>
          </a:p>
        </p:txBody>
      </p:sp>
      <p:sp>
        <p:nvSpPr>
          <p:cNvPr id="43" name="Text 40"/>
          <p:cNvSpPr/>
          <p:nvPr/>
        </p:nvSpPr>
        <p:spPr>
          <a:xfrm>
            <a:off x="8642272"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44" name="Text 41"/>
          <p:cNvSpPr/>
          <p:nvPr/>
        </p:nvSpPr>
        <p:spPr>
          <a:xfrm>
            <a:off x="10390169" y="4539115"/>
            <a:ext cx="501202"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1.89%</a:t>
            </a:r>
            <a:endParaRPr lang="en-US" sz="900" dirty="0"/>
          </a:p>
        </p:txBody>
      </p:sp>
      <p:sp>
        <p:nvSpPr>
          <p:cNvPr id="45" name="Text 42"/>
          <p:cNvSpPr/>
          <p:nvPr/>
        </p:nvSpPr>
        <p:spPr>
          <a:xfrm>
            <a:off x="8515304" y="4862884"/>
            <a:ext cx="51506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358.6K</a:t>
            </a:r>
            <a:endParaRPr lang="en-US" sz="800" dirty="0"/>
          </a:p>
        </p:txBody>
      </p:sp>
      <p:sp>
        <p:nvSpPr>
          <p:cNvPr id="46" name="Text 43"/>
          <p:cNvSpPr/>
          <p:nvPr/>
        </p:nvSpPr>
        <p:spPr>
          <a:xfrm>
            <a:off x="8515304"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47" name="Text 44"/>
          <p:cNvSpPr/>
          <p:nvPr/>
        </p:nvSpPr>
        <p:spPr>
          <a:xfrm>
            <a:off x="10390169" y="4862884"/>
            <a:ext cx="429212"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7,954</a:t>
            </a:r>
            <a:endParaRPr lang="en-US" sz="800" dirty="0"/>
          </a:p>
        </p:txBody>
      </p:sp>
      <p:sp>
        <p:nvSpPr>
          <p:cNvPr id="48" name="Text 45"/>
          <p:cNvSpPr/>
          <p:nvPr/>
        </p:nvSpPr>
        <p:spPr>
          <a:xfrm>
            <a:off x="10390169"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49" name="Text 46"/>
          <p:cNvSpPr/>
          <p:nvPr/>
        </p:nvSpPr>
        <p:spPr>
          <a:xfrm>
            <a:off x="8515304" y="5193001"/>
            <a:ext cx="32694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419</a:t>
            </a:r>
            <a:endParaRPr lang="en-US" sz="800" dirty="0"/>
          </a:p>
        </p:txBody>
      </p:sp>
      <p:sp>
        <p:nvSpPr>
          <p:cNvPr id="50" name="Text 47"/>
          <p:cNvSpPr/>
          <p:nvPr/>
        </p:nvSpPr>
        <p:spPr>
          <a:xfrm>
            <a:off x="8515304"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51" name="Text 48"/>
          <p:cNvSpPr/>
          <p:nvPr/>
        </p:nvSpPr>
        <p:spPr>
          <a:xfrm>
            <a:off x="10390169" y="5193001"/>
            <a:ext cx="519429"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223.4K</a:t>
            </a:r>
            <a:endParaRPr lang="en-US" sz="800" dirty="0"/>
          </a:p>
        </p:txBody>
      </p:sp>
      <p:sp>
        <p:nvSpPr>
          <p:cNvPr id="52" name="Text 49"/>
          <p:cNvSpPr/>
          <p:nvPr/>
        </p:nvSpPr>
        <p:spPr>
          <a:xfrm>
            <a:off x="10390169"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53" name="Text 50"/>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54" name="Text 51"/>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91977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Giri Zever Mahal</a:t>
            </a:r>
            <a:endParaRPr lang="en-US" sz="1800" dirty="0"/>
          </a:p>
        </p:txBody>
      </p:sp>
      <p:sp>
        <p:nvSpPr>
          <p:cNvPr id="4" name="Text 1"/>
          <p:cNvSpPr/>
          <p:nvPr/>
        </p:nvSpPr>
        <p:spPr>
          <a:xfrm>
            <a:off x="5296362" y="114271"/>
            <a:ext cx="174859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ENGAGEMENT</a:t>
            </a:r>
            <a:endParaRPr lang="en-US" sz="1800" dirty="0"/>
          </a:p>
        </p:txBody>
      </p:sp>
      <p:sp>
        <p:nvSpPr>
          <p:cNvPr id="5" name="Text 2"/>
          <p:cNvSpPr/>
          <p:nvPr/>
        </p:nvSpPr>
        <p:spPr>
          <a:xfrm>
            <a:off x="11476045" y="139665"/>
            <a:ext cx="52238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7/12</a:t>
            </a:r>
            <a:endParaRPr lang="en-US" sz="1500" dirty="0"/>
          </a:p>
        </p:txBody>
      </p:sp>
      <p:sp>
        <p:nvSpPr>
          <p:cNvPr id="6" name="Text 3"/>
          <p:cNvSpPr/>
          <p:nvPr/>
        </p:nvSpPr>
        <p:spPr>
          <a:xfrm>
            <a:off x="374556" y="1663284"/>
            <a:ext cx="2800778"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Engagement trend over the selected period</a:t>
            </a:r>
            <a:endParaRPr lang="en-US" sz="1000" dirty="0"/>
          </a:p>
        </p:txBody>
      </p:sp>
      <p:sp>
        <p:nvSpPr>
          <p:cNvPr id="7" name="Text 4"/>
          <p:cNvSpPr/>
          <p:nvPr/>
        </p:nvSpPr>
        <p:spPr>
          <a:xfrm>
            <a:off x="374556" y="1948963"/>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268.5K Total Organic Likes — holding steady.</a:t>
            </a:r>
            <a:endParaRPr lang="en-US" sz="2999" dirty="0"/>
          </a:p>
        </p:txBody>
      </p:sp>
      <p:sp>
        <p:nvSpPr>
          <p:cNvPr id="8" name="Text 5"/>
          <p:cNvSpPr/>
          <p:nvPr/>
        </p:nvSpPr>
        <p:spPr>
          <a:xfrm>
            <a:off x="374556" y="2983754"/>
            <a:ext cx="3781472"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Total Organic Likes and Total Organic Comments improved this period.</a:t>
            </a:r>
            <a:endParaRPr lang="en-US" sz="800" dirty="0"/>
          </a:p>
        </p:txBody>
      </p:sp>
      <p:sp>
        <p:nvSpPr>
          <p:cNvPr id="9" name="Text 6"/>
          <p:cNvSpPr/>
          <p:nvPr/>
        </p:nvSpPr>
        <p:spPr>
          <a:xfrm>
            <a:off x="374556" y="3993151"/>
            <a:ext cx="184590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LIKES</a:t>
            </a:r>
            <a:endParaRPr lang="en-US" sz="1200" dirty="0"/>
          </a:p>
        </p:txBody>
      </p:sp>
      <p:sp>
        <p:nvSpPr>
          <p:cNvPr id="10" name="Text 7"/>
          <p:cNvSpPr/>
          <p:nvPr/>
        </p:nvSpPr>
        <p:spPr>
          <a:xfrm>
            <a:off x="374556" y="4278830"/>
            <a:ext cx="1199255"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268.5K</a:t>
            </a:r>
            <a:endParaRPr lang="en-US" sz="2399" dirty="0"/>
          </a:p>
        </p:txBody>
      </p:sp>
      <p:sp>
        <p:nvSpPr>
          <p:cNvPr id="11" name="Text 8"/>
          <p:cNvSpPr/>
          <p:nvPr/>
        </p:nvSpPr>
        <p:spPr>
          <a:xfrm>
            <a:off x="526918" y="4754961"/>
            <a:ext cx="800942"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451.46%</a:t>
            </a:r>
            <a:endParaRPr lang="en-US" sz="1200" dirty="0"/>
          </a:p>
        </p:txBody>
      </p:sp>
      <p:sp>
        <p:nvSpPr>
          <p:cNvPr id="12" name="Text 9"/>
          <p:cNvSpPr/>
          <p:nvPr/>
        </p:nvSpPr>
        <p:spPr>
          <a:xfrm>
            <a:off x="3183729" y="3993151"/>
            <a:ext cx="233453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COMMENTS</a:t>
            </a:r>
            <a:endParaRPr lang="en-US" sz="1200" dirty="0"/>
          </a:p>
        </p:txBody>
      </p:sp>
      <p:sp>
        <p:nvSpPr>
          <p:cNvPr id="13" name="Text 10"/>
          <p:cNvSpPr/>
          <p:nvPr/>
        </p:nvSpPr>
        <p:spPr>
          <a:xfrm>
            <a:off x="3183729" y="4278830"/>
            <a:ext cx="917594"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1,738</a:t>
            </a:r>
            <a:endParaRPr lang="en-US" sz="2399" dirty="0"/>
          </a:p>
        </p:txBody>
      </p:sp>
      <p:sp>
        <p:nvSpPr>
          <p:cNvPr id="14" name="Text 11"/>
          <p:cNvSpPr/>
          <p:nvPr/>
        </p:nvSpPr>
        <p:spPr>
          <a:xfrm>
            <a:off x="3336091" y="4754961"/>
            <a:ext cx="713973"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121.12%</a:t>
            </a:r>
            <a:endParaRPr lang="en-US" sz="12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91977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Giri Zever Mahal</a:t>
            </a:r>
            <a:endParaRPr lang="en-US" sz="1800" dirty="0"/>
          </a:p>
        </p:txBody>
      </p:sp>
      <p:sp>
        <p:nvSpPr>
          <p:cNvPr id="4" name="Text 1"/>
          <p:cNvSpPr/>
          <p:nvPr/>
        </p:nvSpPr>
        <p:spPr>
          <a:xfrm>
            <a:off x="5745611" y="114271"/>
            <a:ext cx="85004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REELS</a:t>
            </a:r>
            <a:endParaRPr lang="en-US" sz="1800" dirty="0"/>
          </a:p>
        </p:txBody>
      </p:sp>
      <p:sp>
        <p:nvSpPr>
          <p:cNvPr id="5" name="Text 2"/>
          <p:cNvSpPr/>
          <p:nvPr/>
        </p:nvSpPr>
        <p:spPr>
          <a:xfrm>
            <a:off x="11466027" y="139665"/>
            <a:ext cx="53243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8/12</a:t>
            </a:r>
            <a:endParaRPr lang="en-US" sz="1500" dirty="0"/>
          </a:p>
        </p:txBody>
      </p:sp>
      <p:sp>
        <p:nvSpPr>
          <p:cNvPr id="6" name="Text 3"/>
          <p:cNvSpPr/>
          <p:nvPr/>
        </p:nvSpPr>
        <p:spPr>
          <a:xfrm>
            <a:off x="374556" y="1136366"/>
            <a:ext cx="314126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Key metrics for reels published during the period</a:t>
            </a:r>
            <a:endParaRPr lang="en-US" sz="1000" dirty="0"/>
          </a:p>
        </p:txBody>
      </p:sp>
      <p:sp>
        <p:nvSpPr>
          <p:cNvPr id="7" name="Text 4"/>
          <p:cNvSpPr/>
          <p:nvPr/>
        </p:nvSpPr>
        <p:spPr>
          <a:xfrm>
            <a:off x="374556" y="1409348"/>
            <a:ext cx="11439839" cy="1022094"/>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Reels was mixed — some metrics increased while others decreased.</a:t>
            </a:r>
            <a:endParaRPr lang="en-US" sz="3599" dirty="0"/>
          </a:p>
        </p:txBody>
      </p:sp>
      <p:sp>
        <p:nvSpPr>
          <p:cNvPr id="8" name="Text 5"/>
          <p:cNvSpPr/>
          <p:nvPr/>
        </p:nvSpPr>
        <p:spPr>
          <a:xfrm>
            <a:off x="501525" y="2926618"/>
            <a:ext cx="1352807"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VIEWS / REEL</a:t>
            </a:r>
            <a:endParaRPr lang="en-US" sz="1200" dirty="0"/>
          </a:p>
        </p:txBody>
      </p:sp>
      <p:sp>
        <p:nvSpPr>
          <p:cNvPr id="9" name="Text 6"/>
          <p:cNvSpPr/>
          <p:nvPr/>
        </p:nvSpPr>
        <p:spPr>
          <a:xfrm>
            <a:off x="501525" y="3504324"/>
            <a:ext cx="651183"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1.5</a:t>
            </a:r>
            <a:endParaRPr lang="en-US" sz="2999" dirty="0"/>
          </a:p>
        </p:txBody>
      </p:sp>
      <p:sp>
        <p:nvSpPr>
          <p:cNvPr id="10" name="Text 7"/>
          <p:cNvSpPr/>
          <p:nvPr/>
        </p:nvSpPr>
        <p:spPr>
          <a:xfrm>
            <a:off x="691977" y="4088378"/>
            <a:ext cx="867023" cy="228543"/>
          </a:xfrm>
          <a:prstGeom prst="rect">
            <a:avLst/>
          </a:prstGeom>
          <a:ln/>
        </p:spPr>
        <p:txBody>
          <a:bodyPr wrap="none" lIns="0" tIns="0" rIns="0" bIns="0" rtlCol="0" anchor="t"/>
          <a:lstStyle/>
          <a:p>
            <a:pPr algn="l" indent="0" marL="0">
              <a:lnSpc>
                <a:spcPct val="100000"/>
              </a:lnSpc>
              <a:buNone/>
            </a:pPr>
            <a:r>
              <a:rPr lang="en-US" sz="1500" dirty="0">
                <a:solidFill>
                  <a:srgbClr val="FBAF3A"/>
                </a:solidFill>
                <a:latin typeface="Inter" pitchFamily="34" charset="0"/>
                <a:ea typeface="Inter" pitchFamily="34" charset="-122"/>
                <a:cs typeface="Inter" pitchFamily="34" charset="-120"/>
              </a:rPr>
              <a:t>24.66%</a:t>
            </a:r>
            <a:endParaRPr lang="en-US" sz="1500" dirty="0"/>
          </a:p>
        </p:txBody>
      </p:sp>
      <p:sp>
        <p:nvSpPr>
          <p:cNvPr id="11" name="Text 8"/>
          <p:cNvSpPr/>
          <p:nvPr/>
        </p:nvSpPr>
        <p:spPr>
          <a:xfrm>
            <a:off x="4365526" y="2926618"/>
            <a:ext cx="19314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REEL</a:t>
            </a:r>
            <a:endParaRPr lang="en-US" sz="1200" dirty="0"/>
          </a:p>
        </p:txBody>
      </p:sp>
      <p:sp>
        <p:nvSpPr>
          <p:cNvPr id="12" name="Text 9"/>
          <p:cNvSpPr/>
          <p:nvPr/>
        </p:nvSpPr>
        <p:spPr>
          <a:xfrm>
            <a:off x="4365526" y="3504324"/>
            <a:ext cx="1172138"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6,756</a:t>
            </a:r>
            <a:endParaRPr lang="en-US" sz="2999" dirty="0"/>
          </a:p>
        </p:txBody>
      </p:sp>
      <p:sp>
        <p:nvSpPr>
          <p:cNvPr id="13" name="Text 10"/>
          <p:cNvSpPr/>
          <p:nvPr/>
        </p:nvSpPr>
        <p:spPr>
          <a:xfrm>
            <a:off x="4555978" y="4088378"/>
            <a:ext cx="953880"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377.93%</a:t>
            </a:r>
            <a:endParaRPr lang="en-US" sz="1500" dirty="0"/>
          </a:p>
        </p:txBody>
      </p:sp>
      <p:sp>
        <p:nvSpPr>
          <p:cNvPr id="14" name="Text 11"/>
          <p:cNvSpPr/>
          <p:nvPr/>
        </p:nvSpPr>
        <p:spPr>
          <a:xfrm>
            <a:off x="8229626" y="2926618"/>
            <a:ext cx="1378994"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REEL LENGTH</a:t>
            </a:r>
            <a:endParaRPr lang="en-US" sz="1200" dirty="0"/>
          </a:p>
        </p:txBody>
      </p:sp>
      <p:sp>
        <p:nvSpPr>
          <p:cNvPr id="15" name="Text 12"/>
          <p:cNvSpPr/>
          <p:nvPr/>
        </p:nvSpPr>
        <p:spPr>
          <a:xfrm>
            <a:off x="8229626" y="3504324"/>
            <a:ext cx="398239"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0</a:t>
            </a:r>
            <a:endParaRPr lang="en-US" sz="2999" dirty="0"/>
          </a:p>
        </p:txBody>
      </p:sp>
      <p:sp>
        <p:nvSpPr>
          <p:cNvPr id="16" name="Text 13"/>
          <p:cNvSpPr/>
          <p:nvPr/>
        </p:nvSpPr>
        <p:spPr>
          <a:xfrm>
            <a:off x="8229626" y="4088378"/>
            <a:ext cx="464451" cy="228543"/>
          </a:xfrm>
          <a:prstGeom prst="rect">
            <a:avLst/>
          </a:prstGeom>
          <a:ln/>
        </p:spPr>
        <p:txBody>
          <a:bodyPr wrap="none" lIns="0" tIns="0" rIns="0" bIns="0" rtlCol="0" anchor="t"/>
          <a:lstStyle/>
          <a:p>
            <a:pPr algn="l" indent="0" marL="0">
              <a:lnSpc>
                <a:spcPct val="100000"/>
              </a:lnSpc>
              <a:buNone/>
            </a:pPr>
            <a:r>
              <a:rPr lang="en-US" sz="1500" dirty="0">
                <a:solidFill>
                  <a:srgbClr val="FBAF3A"/>
                </a:solidFill>
                <a:latin typeface="Inter" pitchFamily="34" charset="0"/>
                <a:ea typeface="Inter" pitchFamily="34" charset="-122"/>
                <a:cs typeface="Inter" pitchFamily="34" charset="-120"/>
              </a:rPr>
              <a:t>0%</a:t>
            </a:r>
            <a:endParaRPr lang="en-US" sz="1500" dirty="0"/>
          </a:p>
        </p:txBody>
      </p:sp>
      <p:sp>
        <p:nvSpPr>
          <p:cNvPr id="17" name="Text 14"/>
          <p:cNvSpPr/>
          <p:nvPr/>
        </p:nvSpPr>
        <p:spPr>
          <a:xfrm>
            <a:off x="450737"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8" name="Text 15"/>
          <p:cNvSpPr/>
          <p:nvPr/>
        </p:nvSpPr>
        <p:spPr>
          <a:xfrm>
            <a:off x="4314738"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9" name="Text 16"/>
          <p:cNvSpPr/>
          <p:nvPr/>
        </p:nvSpPr>
        <p:spPr>
          <a:xfrm>
            <a:off x="8178838"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20" name="Text 17"/>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1" name="Text 18"/>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91977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Giri Zever Mahal</a:t>
            </a:r>
            <a:endParaRPr lang="en-US" sz="1800" dirty="0"/>
          </a:p>
        </p:txBody>
      </p:sp>
      <p:sp>
        <p:nvSpPr>
          <p:cNvPr id="4" name="Text 1"/>
          <p:cNvSpPr/>
          <p:nvPr/>
        </p:nvSpPr>
        <p:spPr>
          <a:xfrm>
            <a:off x="5708909" y="114271"/>
            <a:ext cx="9234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REACH</a:t>
            </a:r>
            <a:endParaRPr lang="en-US" sz="1800" dirty="0"/>
          </a:p>
        </p:txBody>
      </p:sp>
      <p:sp>
        <p:nvSpPr>
          <p:cNvPr id="5" name="Text 2"/>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9/12</a:t>
            </a:r>
            <a:endParaRPr lang="en-US" sz="1500" dirty="0"/>
          </a:p>
        </p:txBody>
      </p:sp>
      <p:sp>
        <p:nvSpPr>
          <p:cNvPr id="6" name="Text 3"/>
          <p:cNvSpPr/>
          <p:nvPr/>
        </p:nvSpPr>
        <p:spPr>
          <a:xfrm>
            <a:off x="374556" y="1561709"/>
            <a:ext cx="2987139"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Reach performance broken down by post type</a:t>
            </a:r>
            <a:endParaRPr lang="en-US" sz="1000" dirty="0"/>
          </a:p>
        </p:txBody>
      </p:sp>
      <p:sp>
        <p:nvSpPr>
          <p:cNvPr id="7" name="Text 4"/>
          <p:cNvSpPr/>
          <p:nvPr/>
        </p:nvSpPr>
        <p:spPr>
          <a:xfrm>
            <a:off x="374556" y="1847388"/>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290.2K Avg Reach / Post — holding steady.</a:t>
            </a:r>
            <a:endParaRPr lang="en-US" sz="2999" dirty="0"/>
          </a:p>
        </p:txBody>
      </p:sp>
      <p:sp>
        <p:nvSpPr>
          <p:cNvPr id="8" name="Text 5"/>
          <p:cNvSpPr/>
          <p:nvPr/>
        </p:nvSpPr>
        <p:spPr>
          <a:xfrm>
            <a:off x="374556" y="2882179"/>
            <a:ext cx="4022810"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Avg Reach / Post and Avg Engagement Rate by Reach improved this period.</a:t>
            </a:r>
            <a:endParaRPr lang="en-US" sz="800" dirty="0"/>
          </a:p>
        </p:txBody>
      </p:sp>
      <p:sp>
        <p:nvSpPr>
          <p:cNvPr id="9" name="Text 6"/>
          <p:cNvSpPr/>
          <p:nvPr/>
        </p:nvSpPr>
        <p:spPr>
          <a:xfrm>
            <a:off x="374556" y="3891577"/>
            <a:ext cx="157391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REACH / POST</a:t>
            </a:r>
            <a:endParaRPr lang="en-US" sz="1200" dirty="0"/>
          </a:p>
        </p:txBody>
      </p:sp>
      <p:sp>
        <p:nvSpPr>
          <p:cNvPr id="10" name="Text 7"/>
          <p:cNvSpPr/>
          <p:nvPr/>
        </p:nvSpPr>
        <p:spPr>
          <a:xfrm>
            <a:off x="374556" y="4177255"/>
            <a:ext cx="1210265"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290.2K</a:t>
            </a:r>
            <a:endParaRPr lang="en-US" sz="2399" dirty="0"/>
          </a:p>
        </p:txBody>
      </p:sp>
      <p:sp>
        <p:nvSpPr>
          <p:cNvPr id="11" name="Text 8"/>
          <p:cNvSpPr/>
          <p:nvPr/>
        </p:nvSpPr>
        <p:spPr>
          <a:xfrm>
            <a:off x="526918" y="4653386"/>
            <a:ext cx="817532"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625.03%</a:t>
            </a:r>
            <a:endParaRPr lang="en-US" sz="1200" dirty="0"/>
          </a:p>
        </p:txBody>
      </p:sp>
      <p:sp>
        <p:nvSpPr>
          <p:cNvPr id="12" name="Text 9"/>
          <p:cNvSpPr/>
          <p:nvPr/>
        </p:nvSpPr>
        <p:spPr>
          <a:xfrm>
            <a:off x="3183729" y="3891577"/>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REACH</a:t>
            </a:r>
            <a:endParaRPr lang="en-US" sz="1200" dirty="0"/>
          </a:p>
        </p:txBody>
      </p:sp>
      <p:sp>
        <p:nvSpPr>
          <p:cNvPr id="13" name="Text 10"/>
          <p:cNvSpPr/>
          <p:nvPr/>
        </p:nvSpPr>
        <p:spPr>
          <a:xfrm>
            <a:off x="3183729" y="4456586"/>
            <a:ext cx="512473"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2.4</a:t>
            </a:r>
            <a:endParaRPr lang="en-US" sz="1800" dirty="0"/>
          </a:p>
        </p:txBody>
      </p:sp>
      <p:sp>
        <p:nvSpPr>
          <p:cNvPr id="14" name="Text 11"/>
          <p:cNvSpPr/>
          <p:nvPr/>
        </p:nvSpPr>
        <p:spPr>
          <a:xfrm>
            <a:off x="3604807" y="4456586"/>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856536"/>
            <a:ext cx="623434"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5.32%</a:t>
            </a:r>
            <a:endParaRPr lang="en-US" sz="1200" dirty="0"/>
          </a:p>
        </p:txBody>
      </p:sp>
      <p:sp>
        <p:nvSpPr>
          <p:cNvPr id="16" name="Text 13"/>
          <p:cNvSpPr/>
          <p:nvPr/>
        </p:nvSpPr>
        <p:spPr>
          <a:xfrm>
            <a:off x="6399200" y="3237690"/>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7" name="Text 14"/>
          <p:cNvSpPr/>
          <p:nvPr/>
        </p:nvSpPr>
        <p:spPr>
          <a:xfrm>
            <a:off x="11387862" y="3237690"/>
            <a:ext cx="426484"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11.6M</a:t>
            </a:r>
            <a:endParaRPr lang="en-US" sz="800" dirty="0"/>
          </a:p>
        </p:txBody>
      </p:sp>
      <p:sp>
        <p:nvSpPr>
          <p:cNvPr id="18" name="Text 15"/>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9" name="Text 16"/>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91977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Giri Zever Mahal</a:t>
            </a:r>
            <a:endParaRPr lang="en-US" sz="1800" dirty="0"/>
          </a:p>
        </p:txBody>
      </p:sp>
      <p:sp>
        <p:nvSpPr>
          <p:cNvPr id="4" name="Text 1"/>
          <p:cNvSpPr/>
          <p:nvPr/>
        </p:nvSpPr>
        <p:spPr>
          <a:xfrm>
            <a:off x="5730335" y="114271"/>
            <a:ext cx="880619"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VIEWS</a:t>
            </a:r>
            <a:endParaRPr lang="en-US" sz="1800" dirty="0"/>
          </a:p>
        </p:txBody>
      </p:sp>
      <p:sp>
        <p:nvSpPr>
          <p:cNvPr id="5" name="Text 2"/>
          <p:cNvSpPr/>
          <p:nvPr/>
        </p:nvSpPr>
        <p:spPr>
          <a:xfrm>
            <a:off x="11386275" y="139665"/>
            <a:ext cx="61221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10/12</a:t>
            </a:r>
            <a:endParaRPr lang="en-US" sz="1500" dirty="0"/>
          </a:p>
        </p:txBody>
      </p:sp>
      <p:sp>
        <p:nvSpPr>
          <p:cNvPr id="6" name="Text 3"/>
          <p:cNvSpPr/>
          <p:nvPr/>
        </p:nvSpPr>
        <p:spPr>
          <a:xfrm>
            <a:off x="374556" y="1561709"/>
            <a:ext cx="1355646"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Views performance</a:t>
            </a:r>
            <a:endParaRPr lang="en-US" sz="1000" dirty="0"/>
          </a:p>
        </p:txBody>
      </p:sp>
      <p:sp>
        <p:nvSpPr>
          <p:cNvPr id="7" name="Text 4"/>
          <p:cNvSpPr/>
          <p:nvPr/>
        </p:nvSpPr>
        <p:spPr>
          <a:xfrm>
            <a:off x="374556" y="1847388"/>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465.8K Avg Views / Post — holding steady.</a:t>
            </a:r>
            <a:endParaRPr lang="en-US" sz="2999" dirty="0"/>
          </a:p>
        </p:txBody>
      </p:sp>
      <p:sp>
        <p:nvSpPr>
          <p:cNvPr id="8" name="Text 5"/>
          <p:cNvSpPr/>
          <p:nvPr/>
        </p:nvSpPr>
        <p:spPr>
          <a:xfrm>
            <a:off x="374556" y="2882179"/>
            <a:ext cx="4001980"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Avg Views / Post and Avg Engagement Rate by Views improved this period.</a:t>
            </a:r>
            <a:endParaRPr lang="en-US" sz="800" dirty="0"/>
          </a:p>
        </p:txBody>
      </p:sp>
      <p:sp>
        <p:nvSpPr>
          <p:cNvPr id="9" name="Text 6"/>
          <p:cNvSpPr/>
          <p:nvPr/>
        </p:nvSpPr>
        <p:spPr>
          <a:xfrm>
            <a:off x="374556" y="3891577"/>
            <a:ext cx="1548021"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VIEWS / POST</a:t>
            </a:r>
            <a:endParaRPr lang="en-US" sz="1200" dirty="0"/>
          </a:p>
        </p:txBody>
      </p:sp>
      <p:sp>
        <p:nvSpPr>
          <p:cNvPr id="10" name="Text 7"/>
          <p:cNvSpPr/>
          <p:nvPr/>
        </p:nvSpPr>
        <p:spPr>
          <a:xfrm>
            <a:off x="374556" y="4177255"/>
            <a:ext cx="1206546"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465.8K</a:t>
            </a:r>
            <a:endParaRPr lang="en-US" sz="2399" dirty="0"/>
          </a:p>
        </p:txBody>
      </p:sp>
      <p:sp>
        <p:nvSpPr>
          <p:cNvPr id="11" name="Text 8"/>
          <p:cNvSpPr/>
          <p:nvPr/>
        </p:nvSpPr>
        <p:spPr>
          <a:xfrm>
            <a:off x="526918" y="4653386"/>
            <a:ext cx="732126"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534.4%</a:t>
            </a:r>
            <a:endParaRPr lang="en-US" sz="1200" dirty="0"/>
          </a:p>
        </p:txBody>
      </p:sp>
      <p:sp>
        <p:nvSpPr>
          <p:cNvPr id="12" name="Text 9"/>
          <p:cNvSpPr/>
          <p:nvPr/>
        </p:nvSpPr>
        <p:spPr>
          <a:xfrm>
            <a:off x="3183729" y="3891577"/>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VIEWS</a:t>
            </a:r>
            <a:endParaRPr lang="en-US" sz="1200" dirty="0"/>
          </a:p>
        </p:txBody>
      </p:sp>
      <p:sp>
        <p:nvSpPr>
          <p:cNvPr id="13" name="Text 10"/>
          <p:cNvSpPr/>
          <p:nvPr/>
        </p:nvSpPr>
        <p:spPr>
          <a:xfrm>
            <a:off x="3183729" y="4456586"/>
            <a:ext cx="451655"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1.5</a:t>
            </a:r>
            <a:endParaRPr lang="en-US" sz="1800" dirty="0"/>
          </a:p>
        </p:txBody>
      </p:sp>
      <p:sp>
        <p:nvSpPr>
          <p:cNvPr id="14" name="Text 11"/>
          <p:cNvSpPr/>
          <p:nvPr/>
        </p:nvSpPr>
        <p:spPr>
          <a:xfrm>
            <a:off x="3544001" y="4456586"/>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856536"/>
            <a:ext cx="623434"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5.32%</a:t>
            </a:r>
            <a:endParaRPr lang="en-US" sz="1200" dirty="0"/>
          </a:p>
        </p:txBody>
      </p:sp>
      <p:sp>
        <p:nvSpPr>
          <p:cNvPr id="16" name="Text 13"/>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91977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Giri Zever Mahal</a:t>
            </a:r>
            <a:endParaRPr lang="en-US" sz="1800" dirty="0"/>
          </a:p>
        </p:txBody>
      </p:sp>
      <p:sp>
        <p:nvSpPr>
          <p:cNvPr id="4" name="Text 1"/>
          <p:cNvSpPr/>
          <p:nvPr/>
        </p:nvSpPr>
        <p:spPr>
          <a:xfrm>
            <a:off x="5398135" y="114271"/>
            <a:ext cx="154504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FOLLOWERS</a:t>
            </a:r>
            <a:endParaRPr lang="en-US" sz="1800" dirty="0"/>
          </a:p>
        </p:txBody>
      </p:sp>
      <p:sp>
        <p:nvSpPr>
          <p:cNvPr id="5" name="Text 2"/>
          <p:cNvSpPr/>
          <p:nvPr/>
        </p:nvSpPr>
        <p:spPr>
          <a:xfrm>
            <a:off x="11428928" y="139665"/>
            <a:ext cx="56953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11/12</a:t>
            </a:r>
            <a:endParaRPr lang="en-US" sz="1500" dirty="0"/>
          </a:p>
        </p:txBody>
      </p:sp>
      <p:sp>
        <p:nvSpPr>
          <p:cNvPr id="6" name="Text 3"/>
          <p:cNvSpPr/>
          <p:nvPr/>
        </p:nvSpPr>
        <p:spPr>
          <a:xfrm>
            <a:off x="374556" y="1663284"/>
            <a:ext cx="3011131"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Follower growth trend over the selected period</a:t>
            </a:r>
            <a:endParaRPr lang="en-US" sz="1000" dirty="0"/>
          </a:p>
        </p:txBody>
      </p:sp>
      <p:sp>
        <p:nvSpPr>
          <p:cNvPr id="7" name="Text 4"/>
          <p:cNvSpPr/>
          <p:nvPr/>
        </p:nvSpPr>
        <p:spPr>
          <a:xfrm>
            <a:off x="374556" y="1948963"/>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5155 Follower Growth — holding steady.</a:t>
            </a:r>
            <a:endParaRPr lang="en-US" sz="2999" dirty="0"/>
          </a:p>
        </p:txBody>
      </p:sp>
      <p:sp>
        <p:nvSpPr>
          <p:cNvPr id="8" name="Text 5"/>
          <p:cNvSpPr/>
          <p:nvPr/>
        </p:nvSpPr>
        <p:spPr>
          <a:xfrm>
            <a:off x="374556" y="2983754"/>
            <a:ext cx="3385291"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Follower Growth and Followers Growth % declined this period.</a:t>
            </a:r>
            <a:endParaRPr lang="en-US" sz="800" dirty="0"/>
          </a:p>
        </p:txBody>
      </p:sp>
      <p:sp>
        <p:nvSpPr>
          <p:cNvPr id="9" name="Text 6"/>
          <p:cNvSpPr/>
          <p:nvPr/>
        </p:nvSpPr>
        <p:spPr>
          <a:xfrm>
            <a:off x="374556" y="3993151"/>
            <a:ext cx="1720395"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 GROWTH</a:t>
            </a:r>
            <a:endParaRPr lang="en-US" sz="1200" dirty="0"/>
          </a:p>
        </p:txBody>
      </p:sp>
      <p:sp>
        <p:nvSpPr>
          <p:cNvPr id="10" name="Text 7"/>
          <p:cNvSpPr/>
          <p:nvPr/>
        </p:nvSpPr>
        <p:spPr>
          <a:xfrm>
            <a:off x="374556" y="4278830"/>
            <a:ext cx="887984"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5,155</a:t>
            </a:r>
            <a:endParaRPr lang="en-US" sz="2399" dirty="0"/>
          </a:p>
        </p:txBody>
      </p:sp>
      <p:sp>
        <p:nvSpPr>
          <p:cNvPr id="11" name="Text 8"/>
          <p:cNvSpPr/>
          <p:nvPr/>
        </p:nvSpPr>
        <p:spPr>
          <a:xfrm>
            <a:off x="526918" y="4754961"/>
            <a:ext cx="709956"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56.57%</a:t>
            </a:r>
            <a:endParaRPr lang="en-US" sz="1200" dirty="0"/>
          </a:p>
        </p:txBody>
      </p:sp>
      <p:sp>
        <p:nvSpPr>
          <p:cNvPr id="12" name="Text 9"/>
          <p:cNvSpPr/>
          <p:nvPr/>
        </p:nvSpPr>
        <p:spPr>
          <a:xfrm>
            <a:off x="3183729" y="3993151"/>
            <a:ext cx="201076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FOLLOWERS GROWTH %</a:t>
            </a:r>
            <a:endParaRPr lang="en-US" sz="1200" dirty="0"/>
          </a:p>
        </p:txBody>
      </p:sp>
      <p:sp>
        <p:nvSpPr>
          <p:cNvPr id="13" name="Text 10"/>
          <p:cNvSpPr/>
          <p:nvPr/>
        </p:nvSpPr>
        <p:spPr>
          <a:xfrm>
            <a:off x="3183729" y="4278830"/>
            <a:ext cx="559007"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1.2</a:t>
            </a:r>
            <a:endParaRPr lang="en-US" sz="2399" dirty="0"/>
          </a:p>
        </p:txBody>
      </p:sp>
      <p:sp>
        <p:nvSpPr>
          <p:cNvPr id="14" name="Text 11"/>
          <p:cNvSpPr/>
          <p:nvPr/>
        </p:nvSpPr>
        <p:spPr>
          <a:xfrm>
            <a:off x="3336091" y="4754961"/>
            <a:ext cx="601934"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57.8%</a:t>
            </a:r>
            <a:endParaRPr lang="en-US" sz="12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47005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REFERENCE</a:t>
            </a:r>
            <a:endParaRPr lang="en-US" sz="1800" dirty="0"/>
          </a:p>
        </p:txBody>
      </p:sp>
      <p:sp>
        <p:nvSpPr>
          <p:cNvPr id="4" name="Text 1"/>
          <p:cNvSpPr/>
          <p:nvPr/>
        </p:nvSpPr>
        <p:spPr>
          <a:xfrm>
            <a:off x="11390242" y="139665"/>
            <a:ext cx="60822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12/12</a:t>
            </a:r>
            <a:endParaRPr lang="en-US" sz="1500" dirty="0"/>
          </a:p>
        </p:txBody>
      </p:sp>
      <p:sp>
        <p:nvSpPr>
          <p:cNvPr id="5" name="Text 2"/>
          <p:cNvSpPr/>
          <p:nvPr/>
        </p:nvSpPr>
        <p:spPr>
          <a:xfrm>
            <a:off x="374556" y="799900"/>
            <a:ext cx="317418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Definitions and reference materials for this report</a:t>
            </a:r>
            <a:endParaRPr lang="en-US" sz="1000" dirty="0"/>
          </a:p>
        </p:txBody>
      </p:sp>
      <p:sp>
        <p:nvSpPr>
          <p:cNvPr id="6" name="Text 3"/>
          <p:cNvSpPr/>
          <p:nvPr/>
        </p:nvSpPr>
        <p:spPr>
          <a:xfrm>
            <a:off x="374556" y="1072882"/>
            <a:ext cx="5028984" cy="552312"/>
          </a:xfrm>
          <a:prstGeom prst="rect">
            <a:avLst/>
          </a:prstGeom>
          <a:ln/>
        </p:spPr>
        <p:txBody>
          <a:bodyPr wrap="non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Glossary &amp; Resources</a:t>
            </a:r>
            <a:endParaRPr lang="en-US" sz="3599" dirty="0"/>
          </a:p>
        </p:txBody>
      </p:sp>
      <p:sp>
        <p:nvSpPr>
          <p:cNvPr id="7" name="Text 4"/>
          <p:cNvSpPr/>
          <p:nvPr/>
        </p:nvSpPr>
        <p:spPr>
          <a:xfrm>
            <a:off x="749113" y="2609198"/>
            <a:ext cx="537420"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Scope</a:t>
            </a:r>
            <a:endParaRPr lang="en-US" sz="1000" dirty="0"/>
          </a:p>
        </p:txBody>
      </p:sp>
      <p:sp>
        <p:nvSpPr>
          <p:cNvPr id="8" name="Text 5"/>
          <p:cNvSpPr/>
          <p:nvPr/>
        </p:nvSpPr>
        <p:spPr>
          <a:xfrm>
            <a:off x="596751" y="2964709"/>
            <a:ext cx="469981"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Period</a:t>
            </a:r>
            <a:endParaRPr lang="en-US" sz="800" dirty="0"/>
          </a:p>
        </p:txBody>
      </p:sp>
      <p:sp>
        <p:nvSpPr>
          <p:cNvPr id="9" name="Text 6"/>
          <p:cNvSpPr/>
          <p:nvPr/>
        </p:nvSpPr>
        <p:spPr>
          <a:xfrm>
            <a:off x="596751" y="3212297"/>
            <a:ext cx="1264549"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20 Jun 2026 - 19 Jul 2026</a:t>
            </a:r>
            <a:endParaRPr lang="en-US" sz="700" dirty="0"/>
          </a:p>
        </p:txBody>
      </p:sp>
      <p:sp>
        <p:nvSpPr>
          <p:cNvPr id="10" name="Text 7"/>
          <p:cNvSpPr/>
          <p:nvPr/>
        </p:nvSpPr>
        <p:spPr>
          <a:xfrm>
            <a:off x="596751" y="3447188"/>
            <a:ext cx="109376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Comparison Period</a:t>
            </a:r>
            <a:endParaRPr lang="en-US" sz="800" dirty="0"/>
          </a:p>
        </p:txBody>
      </p:sp>
      <p:sp>
        <p:nvSpPr>
          <p:cNvPr id="11" name="Text 8"/>
          <p:cNvSpPr/>
          <p:nvPr/>
        </p:nvSpPr>
        <p:spPr>
          <a:xfrm>
            <a:off x="596751" y="3694776"/>
            <a:ext cx="1298660"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21 May 2026 - 19 Jun 2026</a:t>
            </a:r>
            <a:endParaRPr lang="en-US" sz="700" dirty="0"/>
          </a:p>
        </p:txBody>
      </p:sp>
      <p:sp>
        <p:nvSpPr>
          <p:cNvPr id="12" name="Text 9"/>
          <p:cNvSpPr/>
          <p:nvPr/>
        </p:nvSpPr>
        <p:spPr>
          <a:xfrm>
            <a:off x="596751" y="3929667"/>
            <a:ext cx="882826"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 Channel</a:t>
            </a:r>
            <a:endParaRPr lang="en-US" sz="800" dirty="0"/>
          </a:p>
        </p:txBody>
      </p:sp>
      <p:sp>
        <p:nvSpPr>
          <p:cNvPr id="13" name="Text 10"/>
          <p:cNvSpPr/>
          <p:nvPr/>
        </p:nvSpPr>
        <p:spPr>
          <a:xfrm>
            <a:off x="596751" y="4177255"/>
            <a:ext cx="570799"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Instagram</a:t>
            </a:r>
            <a:endParaRPr lang="en-US" sz="700" dirty="0"/>
          </a:p>
        </p:txBody>
      </p:sp>
      <p:sp>
        <p:nvSpPr>
          <p:cNvPr id="14" name="Text 11"/>
          <p:cNvSpPr/>
          <p:nvPr/>
        </p:nvSpPr>
        <p:spPr>
          <a:xfrm>
            <a:off x="596751" y="4412147"/>
            <a:ext cx="183583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Content Analysis (posts analyzed)</a:t>
            </a:r>
            <a:endParaRPr lang="en-US" sz="800" dirty="0"/>
          </a:p>
        </p:txBody>
      </p:sp>
      <p:sp>
        <p:nvSpPr>
          <p:cNvPr id="15" name="Text 12"/>
          <p:cNvSpPr/>
          <p:nvPr/>
        </p:nvSpPr>
        <p:spPr>
          <a:xfrm>
            <a:off x="596751" y="4659735"/>
            <a:ext cx="26584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40</a:t>
            </a:r>
            <a:endParaRPr lang="en-US" sz="700" dirty="0"/>
          </a:p>
        </p:txBody>
      </p:sp>
      <p:sp>
        <p:nvSpPr>
          <p:cNvPr id="16" name="Text 13"/>
          <p:cNvSpPr/>
          <p:nvPr/>
        </p:nvSpPr>
        <p:spPr>
          <a:xfrm>
            <a:off x="4418495" y="2609198"/>
            <a:ext cx="804128"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Definitions</a:t>
            </a:r>
            <a:endParaRPr lang="en-US" sz="1000" dirty="0"/>
          </a:p>
        </p:txBody>
      </p:sp>
      <p:sp>
        <p:nvSpPr>
          <p:cNvPr id="17" name="Text 14"/>
          <p:cNvSpPr/>
          <p:nvPr/>
        </p:nvSpPr>
        <p:spPr>
          <a:xfrm>
            <a:off x="4266133" y="2964709"/>
            <a:ext cx="770985"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a:t>
            </a:r>
            <a:endParaRPr lang="en-US" sz="800" dirty="0"/>
          </a:p>
        </p:txBody>
      </p:sp>
      <p:sp>
        <p:nvSpPr>
          <p:cNvPr id="18" name="Text 15"/>
          <p:cNvSpPr/>
          <p:nvPr/>
        </p:nvSpPr>
        <p:spPr>
          <a:xfrm>
            <a:off x="4266133" y="3212297"/>
            <a:ext cx="237070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The sum of likes and comments on the organic posts</a:t>
            </a:r>
            <a:endParaRPr lang="en-US" sz="700" dirty="0"/>
          </a:p>
        </p:txBody>
      </p:sp>
      <p:sp>
        <p:nvSpPr>
          <p:cNvPr id="19" name="Text 16"/>
          <p:cNvSpPr/>
          <p:nvPr/>
        </p:nvSpPr>
        <p:spPr>
          <a:xfrm>
            <a:off x="4266133" y="3447188"/>
            <a:ext cx="1659713"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 Rate by Followers</a:t>
            </a:r>
            <a:endParaRPr lang="en-US" sz="800" dirty="0"/>
          </a:p>
        </p:txBody>
      </p:sp>
      <p:sp>
        <p:nvSpPr>
          <p:cNvPr id="20" name="Text 17"/>
          <p:cNvSpPr/>
          <p:nvPr/>
        </p:nvSpPr>
        <p:spPr>
          <a:xfrm>
            <a:off x="4266133" y="3694776"/>
            <a:ext cx="295192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Engagement divided by follower count, expressed as a percentage</a:t>
            </a:r>
            <a:endParaRPr lang="en-US" sz="700" dirty="0"/>
          </a:p>
        </p:txBody>
      </p:sp>
      <p:sp>
        <p:nvSpPr>
          <p:cNvPr id="21" name="Text 18"/>
          <p:cNvSpPr/>
          <p:nvPr/>
        </p:nvSpPr>
        <p:spPr>
          <a:xfrm>
            <a:off x="4266133" y="3929667"/>
            <a:ext cx="45807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Reach</a:t>
            </a:r>
            <a:endParaRPr lang="en-US" sz="800" dirty="0"/>
          </a:p>
        </p:txBody>
      </p:sp>
      <p:sp>
        <p:nvSpPr>
          <p:cNvPr id="22" name="Text 19"/>
          <p:cNvSpPr/>
          <p:nvPr/>
        </p:nvSpPr>
        <p:spPr>
          <a:xfrm>
            <a:off x="4266133" y="4177255"/>
            <a:ext cx="225678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Number of unique accounts that saw your content</a:t>
            </a:r>
            <a:endParaRPr lang="en-US" sz="700" dirty="0"/>
          </a:p>
        </p:txBody>
      </p:sp>
      <p:sp>
        <p:nvSpPr>
          <p:cNvPr id="23" name="Text 20"/>
          <p:cNvSpPr/>
          <p:nvPr/>
        </p:nvSpPr>
        <p:spPr>
          <a:xfrm>
            <a:off x="4266133" y="4412147"/>
            <a:ext cx="45242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Views</a:t>
            </a:r>
            <a:endParaRPr lang="en-US" sz="800" dirty="0"/>
          </a:p>
        </p:txBody>
      </p:sp>
      <p:sp>
        <p:nvSpPr>
          <p:cNvPr id="24" name="Text 21"/>
          <p:cNvSpPr/>
          <p:nvPr/>
        </p:nvSpPr>
        <p:spPr>
          <a:xfrm>
            <a:off x="4266133" y="4659735"/>
            <a:ext cx="2245112"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Total number of times your content was displayed</a:t>
            </a:r>
            <a:endParaRPr lang="en-US" sz="700" dirty="0"/>
          </a:p>
        </p:txBody>
      </p:sp>
      <p:sp>
        <p:nvSpPr>
          <p:cNvPr id="25" name="Text 22"/>
          <p:cNvSpPr/>
          <p:nvPr/>
        </p:nvSpPr>
        <p:spPr>
          <a:xfrm>
            <a:off x="8259285" y="2571107"/>
            <a:ext cx="791853"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Resources</a:t>
            </a:r>
            <a:endParaRPr lang="en-US" sz="1000" dirty="0"/>
          </a:p>
        </p:txBody>
      </p:sp>
      <p:sp>
        <p:nvSpPr>
          <p:cNvPr id="26" name="Text 23"/>
          <p:cNvSpPr/>
          <p:nvPr/>
        </p:nvSpPr>
        <p:spPr>
          <a:xfrm>
            <a:off x="8106923" y="2926618"/>
            <a:ext cx="103032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Blog</a:t>
            </a:r>
            <a:endParaRPr lang="en-US" sz="800" dirty="0"/>
          </a:p>
        </p:txBody>
      </p:sp>
      <p:sp>
        <p:nvSpPr>
          <p:cNvPr id="27" name="Text 24"/>
          <p:cNvSpPr/>
          <p:nvPr/>
        </p:nvSpPr>
        <p:spPr>
          <a:xfrm>
            <a:off x="8106923" y="3174206"/>
            <a:ext cx="98910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socialinsider.io/blog</a:t>
            </a:r>
            <a:endParaRPr lang="en-US" sz="700" dirty="0"/>
          </a:p>
        </p:txBody>
      </p:sp>
      <p:sp>
        <p:nvSpPr>
          <p:cNvPr id="28" name="Text 25"/>
          <p:cNvSpPr/>
          <p:nvPr/>
        </p:nvSpPr>
        <p:spPr>
          <a:xfrm>
            <a:off x="8106923" y="3409098"/>
            <a:ext cx="139506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Help Center</a:t>
            </a:r>
            <a:endParaRPr lang="en-US" sz="800" dirty="0"/>
          </a:p>
        </p:txBody>
      </p:sp>
      <p:sp>
        <p:nvSpPr>
          <p:cNvPr id="29" name="Text 26"/>
          <p:cNvSpPr/>
          <p:nvPr/>
        </p:nvSpPr>
        <p:spPr>
          <a:xfrm>
            <a:off x="8106923" y="3656686"/>
            <a:ext cx="152749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https://howto.socialinsider.io/en/</a:t>
            </a:r>
            <a:endParaRPr lang="en-US" sz="700" dirty="0"/>
          </a:p>
        </p:txBody>
      </p:sp>
      <p:sp>
        <p:nvSpPr>
          <p:cNvPr id="30" name="Text 27"/>
          <p:cNvSpPr/>
          <p:nvPr/>
        </p:nvSpPr>
        <p:spPr>
          <a:xfrm>
            <a:off x="8106923" y="3891577"/>
            <a:ext cx="1181350"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Studies</a:t>
            </a:r>
            <a:endParaRPr lang="en-US" sz="800" dirty="0"/>
          </a:p>
        </p:txBody>
      </p:sp>
      <p:sp>
        <p:nvSpPr>
          <p:cNvPr id="31" name="Text 28"/>
          <p:cNvSpPr/>
          <p:nvPr/>
        </p:nvSpPr>
        <p:spPr>
          <a:xfrm>
            <a:off x="8106923" y="4139165"/>
            <a:ext cx="164579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https://www.socialinsider.io/reports</a:t>
            </a:r>
            <a:endParaRPr lang="en-US" sz="700" dirty="0"/>
          </a:p>
        </p:txBody>
      </p:sp>
      <p:sp>
        <p:nvSpPr>
          <p:cNvPr id="32" name="Text 29"/>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33" name="Text 30"/>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2026-07-19T06:17:27Z</dcterms:created>
  <dcterms:modified xsi:type="dcterms:W3CDTF">2026-07-19T06:17:27Z</dcterms:modified>
</cp:coreProperties>
</file>