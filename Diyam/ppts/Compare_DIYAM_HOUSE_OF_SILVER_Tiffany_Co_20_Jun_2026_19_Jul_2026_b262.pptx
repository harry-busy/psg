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32080200" cy="226314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12DF72-6862-6089-1244-E3D30AB2B91E}" v="6" dt="2021-09-20T12:52:47.2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u-Gabriel ANICA (108300)" userId="S::alexandru.anica@stud.acs.upb.ro::429869f6-b0c5-4542-b30a-40322695c735" providerId="AD" clId="Web-{F512DF72-6862-6089-1244-E3D30AB2B91E}"/>
    <pc:docChg chg="modSld">
      <pc:chgData name="Alexandru-Gabriel ANICA (108300)" userId="S::alexandru.anica@stud.acs.upb.ro::429869f6-b0c5-4542-b30a-40322695c735" providerId="AD" clId="Web-{F512DF72-6862-6089-1244-E3D30AB2B91E}" dt="2021-09-20T12:52:47.211" v="3" actId="20577"/>
      <pc:docMkLst>
        <pc:docMk/>
      </pc:docMkLst>
      <pc:sldChg chg="modSp">
        <pc:chgData name="Alexandru-Gabriel ANICA (108300)" userId="S::alexandru.anica@stud.acs.upb.ro::429869f6-b0c5-4542-b30a-40322695c735" providerId="AD" clId="Web-{F512DF72-6862-6089-1244-E3D30AB2B91E}" dt="2021-09-20T12:52:15.929" v="1" actId="20577"/>
        <pc:sldMkLst>
          <pc:docMk/>
          <pc:sldMk cId="0" sldId="256"/>
        </pc:sldMkLst>
        <pc:spChg chg="mod">
          <ac:chgData name="Alexandru-Gabriel ANICA (108300)" userId="S::alexandru.anica@stud.acs.upb.ro::429869f6-b0c5-4542-b30a-40322695c735" providerId="AD" clId="Web-{F512DF72-6862-6089-1244-E3D30AB2B91E}" dt="2021-09-20T12:52:15.929" v="1" actId="20577"/>
          <ac:spMkLst>
            <pc:docMk/>
            <pc:sldMk cId="0" sldId="256"/>
            <ac:spMk id="81" creationId="{00000000-0000-0000-0000-000000000000}"/>
          </ac:spMkLst>
        </pc:spChg>
      </pc:sldChg>
      <pc:sldChg chg="modSp">
        <pc:chgData name="Alexandru-Gabriel ANICA (108300)" userId="S::alexandru.anica@stud.acs.upb.ro::429869f6-b0c5-4542-b30a-40322695c735" providerId="AD" clId="Web-{F512DF72-6862-6089-1244-E3D30AB2B91E}" dt="2021-09-20T12:52:47.211" v="3" actId="20577"/>
        <pc:sldMkLst>
          <pc:docMk/>
          <pc:sldMk cId="0" sldId="257"/>
        </pc:sldMkLst>
        <pc:spChg chg="mod">
          <ac:chgData name="Alexandru-Gabriel ANICA (108300)" userId="S::alexandru.anica@stud.acs.upb.ro::429869f6-b0c5-4542-b30a-40322695c735" providerId="AD" clId="Web-{F512DF72-6862-6089-1244-E3D30AB2B91E}" dt="2021-09-20T12:52:47.211" v="3" actId="20577"/>
          <ac:spMkLst>
            <pc:docMk/>
            <pc:sldMk cId="0" sldId="257"/>
            <ac:spMk id="12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1603800" y="5295600"/>
            <a:ext cx="28871640" cy="13125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2887164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1603800" y="902880"/>
            <a:ext cx="28871640" cy="17517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163980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2887164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2887164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2887164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163980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11365200" y="529560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21126600" y="529560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11365200" y="1215144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21126600" y="1215144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1603800" y="5295600"/>
            <a:ext cx="28871640" cy="13125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2887164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1603800" y="902880"/>
            <a:ext cx="28871640" cy="17517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163980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2887164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2887164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2887164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163980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11365200" y="529560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21126600" y="529560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11365200" y="1215144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21126600" y="1215144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2887164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2887164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0001" Type="http://schemas.openxmlformats.org/officeDocument/2006/relationships/image" Target="../media/imageJsReport50001.jpeg"/><Relationship Id="rId50002" Type="http://schemas.openxmlformats.org/officeDocument/2006/relationships/image" Target="../media/imageJsReport50002.jpeg"/><Relationship Id="rId50003" Type="http://schemas.openxmlformats.org/officeDocument/2006/relationships/image" Target="../media/imageJsReport50003.png"/></Relationships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0004" Type="http://schemas.openxmlformats.org/officeDocument/2006/relationships/image" Target="../media/imageJsReport50004.png"/><Relationship Id="rId50005" Type="http://schemas.openxmlformats.org/officeDocument/2006/relationships/image" Target="../media/imageJsReport50005.jpeg"/><Relationship Id="rId50006" Type="http://schemas.openxmlformats.org/officeDocument/2006/relationships/image" Target="../media/imageJsReport50006.png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0007" Type="http://schemas.openxmlformats.org/officeDocument/2006/relationships/image" Target="../media/imageJsReport50007.png"/><Relationship Id="rId50008" Type="http://schemas.openxmlformats.org/officeDocument/2006/relationships/image" Target="../media/imageJsReport50008.jpeg"/><Relationship Id="rId50009" Type="http://schemas.openxmlformats.org/officeDocument/2006/relationships/image" Target="../media/imageJsReport50009.png"/></Relationships>
</file>

<file path=ppt/slides/_rels/slide4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0010" Type="http://schemas.openxmlformats.org/officeDocument/2006/relationships/image" Target="../media/imageJsReport50010.jpeg"/><Relationship Id="rId50011" Type="http://schemas.openxmlformats.org/officeDocument/2006/relationships/image" Target="../media/imageJsReport50011.jpeg"/><Relationship Id="rId50012" Type="http://schemas.openxmlformats.org/officeDocument/2006/relationships/image" Target="../media/imageJsReport50012.jpeg"/><Relationship Id="rId50013" Type="http://schemas.openxmlformats.org/officeDocument/2006/relationships/image" Target="../media/imageJsReport50013.jpeg"/><Relationship Id="rId50014" Type="http://schemas.openxmlformats.org/officeDocument/2006/relationships/image" Target="../media/imageJsReport50014.jpeg"/><Relationship Id="rId50015" Type="http://schemas.openxmlformats.org/officeDocument/2006/relationships/image" Target="../media/imageJsReport50015.jpeg"/><Relationship Id="rId50016" Type="http://schemas.openxmlformats.org/officeDocument/2006/relationships/image" Target="../media/imageJsReport50016.png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0017" Type="http://schemas.openxmlformats.org/officeDocument/2006/relationships/image" Target="../media/imageJsReport50017.jpeg"/><Relationship Id="rId50018" Type="http://schemas.openxmlformats.org/officeDocument/2006/relationships/image" Target="../media/imageJsReport50018.jpeg"/><Relationship Id="rId50019" Type="http://schemas.openxmlformats.org/officeDocument/2006/relationships/image" Target="../media/imageJsReport50019.jpeg"/><Relationship Id="rId50020" Type="http://schemas.openxmlformats.org/officeDocument/2006/relationships/image" Target="../media/imageJsReport50020.jpeg"/><Relationship Id="rId50021" Type="http://schemas.openxmlformats.org/officeDocument/2006/relationships/image" Target="../media/imageJsReport50021.jpeg"/><Relationship Id="rId50022" Type="http://schemas.openxmlformats.org/officeDocument/2006/relationships/image" Target="../media/imageJsReport50022.jpeg"/><Relationship Id="rId50023" Type="http://schemas.openxmlformats.org/officeDocument/2006/relationships/image" Target="../media/imageJsReport50023.png"/></Relationships>
</file>

<file path=ppt/slides/_rels/slide6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24" Type="http://schemas.openxmlformats.org/officeDocument/2006/relationships/image" Target="../media/imageJsReport50024.jpeg"/><Relationship Id="rId50025" Type="http://schemas.openxmlformats.org/officeDocument/2006/relationships/image" Target="../media/imageJsReport50025.png"/><Relationship Id="rId50026" Type="http://schemas.openxmlformats.org/officeDocument/2006/relationships/image" Target="../media/imageJsReport50026.png"/></Relationships>
</file>

<file path=ppt/slides/_rels/slide7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27" Type="http://schemas.openxmlformats.org/officeDocument/2006/relationships/image" Target="../media/imageJsReport50027.jpeg"/><Relationship Id="rId50028" Type="http://schemas.openxmlformats.org/officeDocument/2006/relationships/image" Target="../media/imageJsReport50028.png"/><Relationship Id="rId50029" Type="http://schemas.openxmlformats.org/officeDocument/2006/relationships/image" Target="../media/imageJsReport50029.png"/></Relationships>
</file>

<file path=ppt/slides/_rels/slide8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30" Type="http://schemas.openxmlformats.org/officeDocument/2006/relationships/image" Target="../media/imageJsReport50030.jpeg"/><Relationship Id="rId50031" Type="http://schemas.openxmlformats.org/officeDocument/2006/relationships/image" Target="../media/imageJsReport50031.png"/><Relationship Id="rId50032" Type="http://schemas.openxmlformats.org/officeDocument/2006/relationships/image" Target="../media/imageJsReport50032.png"/></Relationships>
</file>

<file path=ppt/slides/_rels/slide9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33" Type="http://schemas.openxmlformats.org/officeDocument/2006/relationships/image" Target="../media/imageJsReport50033.jpeg"/><Relationship Id="rId50034" Type="http://schemas.openxmlformats.org/officeDocument/2006/relationships/image" Target="../media/imageJsReport50034.png"/><Relationship Id="rId50035" Type="http://schemas.openxmlformats.org/officeDocument/2006/relationships/image" Target="../media/imageJsReport50035.png"/></Relationships>
</file>

<file path=ppt/slides/_rels/slide10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0036" Type="http://schemas.openxmlformats.org/officeDocument/2006/relationships/image" Target="../media/imageJsReport50036.png"/><Relationship Id="rId50037" Type="http://schemas.openxmlformats.org/officeDocument/2006/relationships/image" Target="../media/imageJsReport50037.png"/><Relationship Id="rId50038" Type="http://schemas.openxmlformats.org/officeDocument/2006/relationships/image" Target="../media/imageJsReport50038.jpeg"/><Relationship Id="rId50039" Type="http://schemas.openxmlformats.org/officeDocument/2006/relationships/image" Target="../media/imageJsReport50039.png"/></Relationships>
</file>

<file path=ppt/slides/_rels/slide1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0040" Type="http://schemas.openxmlformats.org/officeDocument/2006/relationships/image" Target="../media/imageJsReport50040.png"/><Relationship Id="rId50041" Type="http://schemas.openxmlformats.org/officeDocument/2006/relationships/image" Target="../media/imageJsReport50041.png"/><Relationship Id="rId50042" Type="http://schemas.openxmlformats.org/officeDocument/2006/relationships/image" Target="../media/imageJsReport50042.jpeg"/><Relationship Id="rId50043" Type="http://schemas.openxmlformats.org/officeDocument/2006/relationships/image" Target="../media/imageJsReport50043.png"/></Relationships>
</file>

<file path=ppt/slides/_rels/slide12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0044" Type="http://schemas.openxmlformats.org/officeDocument/2006/relationships/image" Target="../media/imageJsReport50044.png"/><Relationship Id="rId50045" Type="http://schemas.openxmlformats.org/officeDocument/2006/relationships/image" Target="../media/imageJsReport50045.png"/><Relationship Id="rId50046" Type="http://schemas.openxmlformats.org/officeDocument/2006/relationships/image" Target="../media/imageJsReport50046.png"/></Relationships>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47" Type="http://schemas.openxmlformats.org/officeDocument/2006/relationships/image" Target="../media/imageJsReport50047.png"/><Relationship Id="rId50048" Type="http://schemas.openxmlformats.org/officeDocument/2006/relationships/image" Target="../media/imageJsReport50048.jpeg"/><Relationship Id="rId50049" Type="http://schemas.openxmlformats.org/officeDocument/2006/relationships/image" Target="../media/imageJsReport50049.png"/></Relationships>
</file>

<file path=ppt/slides/_rels/slide14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50" Type="http://schemas.openxmlformats.org/officeDocument/2006/relationships/image" Target="../media/imageJsReport50050.png"/><Relationship Id="rId50051" Type="http://schemas.openxmlformats.org/officeDocument/2006/relationships/image" Target="../media/imageJsReport50051.jpeg"/><Relationship Id="rId50052" Type="http://schemas.openxmlformats.org/officeDocument/2006/relationships/image" Target="../media/imageJsReport50052.png"/></Relationships>
</file>

<file path=ppt/slides/_rels/slide15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53" Type="http://schemas.openxmlformats.org/officeDocument/2006/relationships/image" Target="../media/imageJsReport50053.png"/><Relationship Id="rId50054" Type="http://schemas.openxmlformats.org/officeDocument/2006/relationships/image" Target="../media/imageJsReport50054.jpeg"/><Relationship Id="rId50055" Type="http://schemas.openxmlformats.org/officeDocument/2006/relationships/image" Target="../media/imageJsReport50055.png"/></Relationships>
</file>

<file path=ppt/slides/_rels/slide16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56" Type="http://schemas.openxmlformats.org/officeDocument/2006/relationships/image" Target="../media/imageJsReport50056.png"/><Relationship Id="rId50057" Type="http://schemas.openxmlformats.org/officeDocument/2006/relationships/image" Target="../media/imageJsReport50057.jpeg"/><Relationship Id="rId50058" Type="http://schemas.openxmlformats.org/officeDocument/2006/relationships/image" Target="../media/imageJsReport50058.png"/></Relationships>
</file>

<file path=ppt/slides/_rels/slide17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0059" Type="http://schemas.openxmlformats.org/officeDocument/2006/relationships/image" Target="../media/imageJsReport50059.png"/><Relationship Id="rId50060" Type="http://schemas.openxmlformats.org/officeDocument/2006/relationships/image" Target="../media/imageJsReport50060.png"/><Relationship Id="rId50061" Type="http://schemas.openxmlformats.org/officeDocument/2006/relationships/image" Target="../media/imageJsReport50061.jpeg"/><Relationship Id="rId50062" Type="http://schemas.openxmlformats.org/officeDocument/2006/relationships/image" Target="../media/imageJsReport50062.png"/></Relationships>
</file>

<file path=ppt/slides/_rels/slide18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0063" Type="http://schemas.openxmlformats.org/officeDocument/2006/relationships/image" Target="../media/imageJsReport50063.png"/><Relationship Id="rId50064" Type="http://schemas.openxmlformats.org/officeDocument/2006/relationships/image" Target="../media/imageJsReport50064.png"/><Relationship Id="rId50065" Type="http://schemas.openxmlformats.org/officeDocument/2006/relationships/image" Target="../media/imageJsReport50065.jpeg"/><Relationship Id="rId50066" Type="http://schemas.openxmlformats.org/officeDocument/2006/relationships/image" Target="../media/imageJsReport50066.png"/></Relationships>
</file>

<file path=ppt/slides/_rels/slide19.xml.rels><?xml version="1.0" encoding="UTF-8" standalone="yes"?>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Relationship Id="rId50067" Type="http://schemas.openxmlformats.org/officeDocument/2006/relationships/image" Target="../media/imageJsReport50067.png"/><Relationship Id="rId50068" Type="http://schemas.openxmlformats.org/officeDocument/2006/relationships/image" Target="../media/imageJsReport50068.jpeg"/><Relationship Id="rId50069" Type="http://schemas.openxmlformats.org/officeDocument/2006/relationships/image" Target="../media/imageJsReport50069.png"/></Relationships>
</file>

<file path=ppt/slides/_rels/slide20.xml.rels><?xml version="1.0" encoding="UTF-8" standalone="yes"?>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Relationship Id="rId50070" Type="http://schemas.openxmlformats.org/officeDocument/2006/relationships/image" Target="../media/imageJsReport50070.png"/><Relationship Id="rId50071" Type="http://schemas.openxmlformats.org/officeDocument/2006/relationships/image" Target="../media/imageJsReport50071.jpeg"/><Relationship Id="rId50072" Type="http://schemas.openxmlformats.org/officeDocument/2006/relationships/image" Target="../media/imageJsReport500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3848040" y="9789120"/>
            <a:ext cx="291600" cy="291600"/>
          </a:xfrm>
          <a:prstGeom prst="ellipse">
            <a:avLst/>
          </a:prstGeom>
          <a:solidFill>
            <a:srgbClr val="C3E4D3"/>
          </a:solidFill>
          <a:ln w="25560">
            <a:solidFill>
              <a:srgbClr val="C3E4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7" name="CustomShape 2"/>
          <p:cNvSpPr/>
          <p:nvPr/>
        </p:nvSpPr>
        <p:spPr>
          <a:xfrm>
            <a:off x="8229600" y="7389360"/>
            <a:ext cx="23837760" cy="6372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8" name="CustomShape 3"/>
          <p:cNvSpPr/>
          <p:nvPr/>
        </p:nvSpPr>
        <p:spPr>
          <a:xfrm>
            <a:off x="5829840" y="9865800"/>
            <a:ext cx="26237520" cy="6372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CustomShape 4"/>
          <p:cNvSpPr/>
          <p:nvPr/>
        </p:nvSpPr>
        <p:spPr>
          <a:xfrm>
            <a:off x="3466800" y="12342240"/>
            <a:ext cx="28600560" cy="6372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0" name="CustomShape 5"/>
          <p:cNvSpPr/>
          <p:nvPr/>
        </p:nvSpPr>
        <p:spPr>
          <a:xfrm>
            <a:off x="4439880" y="5259600"/>
            <a:ext cx="23776200" cy="16408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0" b="0" strike="noStrike" spc="-4">
                <a:solidFill>
                  <a:srgbClr val="000000"/>
                </a:solidFill>
                <a:latin typeface="Arial"/>
                <a:ea typeface="Arial"/>
              </a:rPr>
              <a:t>Instagram Social Report </a:t>
            </a:r>
            <a:endParaRPr lang="en-US" sz="9000" b="0" strike="noStrike" spc="-1">
              <a:latin typeface="Arial"/>
            </a:endParaRPr>
          </a:p>
        </p:txBody>
      </p:sp>
      <p:sp>
        <p:nvSpPr>
          <p:cNvPr id="81" name="CustomShape 6"/>
          <p:cNvSpPr/>
          <p:nvPr/>
        </p:nvSpPr>
        <p:spPr>
          <a:xfrm>
            <a:off x="4439880" y="11297756"/>
            <a:ext cx="23776200" cy="918968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4200" b="0" i="1" strike="noStrike" spc="-4" dirty="0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r>
              <a:rPr lang="en-US" sz="4200" i="1" spc="-4" dirty="0">
                <a:solidFill>
                  <a:srgbClr val="000000"/>
                </a:solidFill>
                <a:latin typeface="Arial"/>
                <a:ea typeface="Arial"/>
              </a:rPr>
              <a:t> </a:t>
            </a:r>
            <a:endParaRPr lang="en-US" sz="4200" b="0" strike="noStrike" spc="-1" dirty="0">
              <a:latin typeface="Arial"/>
            </a:endParaRPr>
          </a:p>
        </p:txBody>
      </p:sp>
      <p:sp>
        <p:nvSpPr>
          <p:cNvPr id="82" name="CustomShape 7"/>
          <p:cNvSpPr/>
          <p:nvPr/>
        </p:nvSpPr>
        <p:spPr>
          <a:xfrm>
            <a:off x="5544720" y="8580240"/>
            <a:ext cx="26397360" cy="1093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0" b="1" strike="noStrike" spc="-4">
                <a:solidFill>
                  <a:srgbClr val="000000"/>
                </a:solidFill>
                <a:latin typeface="Arial"/>
                <a:ea typeface="Arial"/>
              </a:rPr>
              <a:t>DIYAM HOUSE OF SILVER  vs  Tiffany &amp; Co.</a:t>
            </a:r>
            <a:endParaRPr lang="en-US" sz="5400" b="0" strike="noStrike" spc="-1">
              <a:latin typeface="Arial"/>
            </a:endParaRPr>
          </a:p>
        </p:txBody>
      </p:sp>
      <p:grpSp>
        <p:nvGrpSpPr>
          <p:cNvPr id="83" name="Group 8"/>
          <p:cNvGrpSpPr/>
          <p:nvPr/>
        </p:nvGrpSpPr>
        <p:grpSpPr>
          <a:xfrm>
            <a:off x="2744280" y="2102760"/>
            <a:ext cx="2000250" cy="2000250"/>
            <a:chOff x="2744280" y="2102760"/>
            <a:chExt cx="3839400" cy="3259800"/>
          </a:xfrm>
        </p:grpSpPr>
        <p:pic>
          <p:nvPicPr>
            <p:cNvPr id="84" name="Google Shape;73;p14_0" descr="Google Shape;73;p14_0"/>
            <p:cNvPicPr/>
            <p:nvPr/>
          </p:nvPicPr>
          <p:blipFill>
            <a:blip r:embed="rId50001"/>
            <a:stretch/>
          </p:blipFill>
          <p:spPr>
            <a:xfrm>
              <a:off x="2744280" y="2102760"/>
              <a:ext cx="3839400" cy="325980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86" name="Group 10"/>
          <p:cNvGrpSpPr/>
          <p:nvPr/>
        </p:nvGrpSpPr>
        <p:grpSpPr>
          <a:xfrm>
            <a:off x="27369360" y="2103840"/>
            <a:ext cx="2000250" cy="2000250"/>
            <a:chOff x="27369360" y="2103840"/>
            <a:chExt cx="4543200" cy="4485600"/>
          </a:xfrm>
        </p:grpSpPr>
        <p:pic>
          <p:nvPicPr>
            <p:cNvPr id="87" name="Google Shape;73;p14_2" descr="Google Shape;73;p14_2"/>
            <p:cNvPicPr/>
            <p:nvPr/>
          </p:nvPicPr>
          <p:blipFill>
            <a:blip r:embed="rId50002"/>
            <a:stretch/>
          </p:blipFill>
          <p:spPr>
            <a:xfrm>
              <a:off x="27369360" y="2103840"/>
              <a:ext cx="4543200" cy="448560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89" name="Group 12"/>
          <p:cNvGrpSpPr/>
          <p:nvPr/>
        </p:nvGrpSpPr>
        <p:grpSpPr>
          <a:xfrm>
            <a:off x="6384240" y="2100960"/>
            <a:ext cx="18288000" cy="12192000"/>
            <a:chOff x="6384240" y="2100960"/>
            <a:chExt cx="4007520" cy="3107160"/>
          </a:xfrm>
        </p:grpSpPr>
        <p:pic>
          <p:nvPicPr>
            <p:cNvPr id="90" name="Google Shape;73;p14_1" descr="Google Shape;73;p14"/>
            <p:cNvPicPr/>
            <p:nvPr/>
          </p:nvPicPr>
          <p:blipFill>
            <a:blip r:embed="rId50003"/>
            <a:stretch/>
          </p:blipFill>
          <p:spPr>
            <a:xfrm>
              <a:off x="6384240" y="210096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3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4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5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96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97" name="Object 7_1" descr="Object 7_1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98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Profile summary • DIYAM HOUSE OF SILVER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99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Key metrics of the profile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00" name="CustomShape 8"/>
          <p:cNvSpPr/>
          <p:nvPr/>
        </p:nvSpPr>
        <p:spPr>
          <a:xfrm>
            <a:off x="2705400" y="563652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1" name="CustomShape 9"/>
          <p:cNvSpPr/>
          <p:nvPr/>
        </p:nvSpPr>
        <p:spPr>
          <a:xfrm>
            <a:off x="2840400" y="5702040"/>
            <a:ext cx="4146120" cy="2890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39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02" name="CustomShape 10"/>
          <p:cNvSpPr/>
          <p:nvPr/>
        </p:nvSpPr>
        <p:spPr>
          <a:xfrm>
            <a:off x="4249800" y="8299440"/>
            <a:ext cx="2397924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posts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03" name="CustomShape 11"/>
          <p:cNvSpPr/>
          <p:nvPr/>
        </p:nvSpPr>
        <p:spPr>
          <a:xfrm>
            <a:off x="8419680" y="563652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4" name="CustomShape 12"/>
          <p:cNvSpPr/>
          <p:nvPr/>
        </p:nvSpPr>
        <p:spPr>
          <a:xfrm>
            <a:off x="8554680" y="5046480"/>
            <a:ext cx="4136400" cy="42004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135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05" name="CustomShape 13"/>
          <p:cNvSpPr/>
          <p:nvPr/>
        </p:nvSpPr>
        <p:spPr>
          <a:xfrm>
            <a:off x="9261000" y="829944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06" name="CustomShape 14"/>
          <p:cNvSpPr/>
          <p:nvPr/>
        </p:nvSpPr>
        <p:spPr>
          <a:xfrm>
            <a:off x="2705400" y="1058940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7" name="CustomShape 15"/>
          <p:cNvSpPr/>
          <p:nvPr/>
        </p:nvSpPr>
        <p:spPr>
          <a:xfrm>
            <a:off x="2906280" y="7863480"/>
            <a:ext cx="407052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3.5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08" name="CustomShape 16"/>
          <p:cNvSpPr/>
          <p:nvPr/>
        </p:nvSpPr>
        <p:spPr>
          <a:xfrm>
            <a:off x="3021840" y="130708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09" name="CustomShape 17"/>
          <p:cNvSpPr/>
          <p:nvPr/>
        </p:nvSpPr>
        <p:spPr>
          <a:xfrm>
            <a:off x="4396680" y="13810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/ post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10" name="CustomShape 18"/>
          <p:cNvSpPr/>
          <p:nvPr/>
        </p:nvSpPr>
        <p:spPr>
          <a:xfrm>
            <a:off x="8419680" y="1058940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1" name="CustomShape 19"/>
          <p:cNvSpPr/>
          <p:nvPr/>
        </p:nvSpPr>
        <p:spPr>
          <a:xfrm>
            <a:off x="8554680" y="8612280"/>
            <a:ext cx="413640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1.2%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12" name="CustomShape 20"/>
          <p:cNvSpPr/>
          <p:nvPr/>
        </p:nvSpPr>
        <p:spPr>
          <a:xfrm>
            <a:off x="8726400" y="1310004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13" name="CustomShape 21"/>
          <p:cNvSpPr/>
          <p:nvPr/>
        </p:nvSpPr>
        <p:spPr>
          <a:xfrm>
            <a:off x="9613080" y="138150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rate / post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14" name="CustomShape 22"/>
          <p:cNvSpPr/>
          <p:nvPr/>
        </p:nvSpPr>
        <p:spPr>
          <a:xfrm>
            <a:off x="2705400" y="15542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5" name="CustomShape 23"/>
          <p:cNvSpPr/>
          <p:nvPr/>
        </p:nvSpPr>
        <p:spPr>
          <a:xfrm>
            <a:off x="2840400" y="12949200"/>
            <a:ext cx="413640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/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16" name="CustomShape 24"/>
          <p:cNvSpPr/>
          <p:nvPr/>
        </p:nvSpPr>
        <p:spPr>
          <a:xfrm>
            <a:off x="2953800" y="18009360"/>
            <a:ext cx="397008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17" name="CustomShape 25"/>
          <p:cNvSpPr/>
          <p:nvPr/>
        </p:nvSpPr>
        <p:spPr>
          <a:xfrm>
            <a:off x="3668760" y="187678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rate / profile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18" name="CustomShape 26"/>
          <p:cNvSpPr/>
          <p:nvPr/>
        </p:nvSpPr>
        <p:spPr>
          <a:xfrm>
            <a:off x="8419680" y="15542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9" name="CustomShape 27"/>
          <p:cNvSpPr/>
          <p:nvPr/>
        </p:nvSpPr>
        <p:spPr>
          <a:xfrm>
            <a:off x="8554680" y="14259240"/>
            <a:ext cx="4136400" cy="55108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20" name="CustomShape 28"/>
          <p:cNvSpPr/>
          <p:nvPr/>
        </p:nvSpPr>
        <p:spPr>
          <a:xfrm>
            <a:off x="9148680" y="180529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profile growth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21" name="CustomShape 29"/>
          <p:cNvSpPr/>
          <p:nvPr/>
        </p:nvSpPr>
        <p:spPr>
          <a:xfrm>
            <a:off x="16175160" y="6078381"/>
            <a:ext cx="23776200" cy="765079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Followers'  evolution</a:t>
            </a:r>
            <a:r>
              <a:rPr lang="en-US" sz="3200" spc="-4">
                <a:solidFill>
                  <a:srgbClr val="000000"/>
                </a:solidFill>
                <a:latin typeface="Arial"/>
                <a:ea typeface="Arial"/>
              </a:rPr>
              <a:t> 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122" name="CustomShape 30"/>
          <p:cNvSpPr/>
          <p:nvPr/>
        </p:nvSpPr>
        <p:spPr>
          <a:xfrm>
            <a:off x="16040160" y="15079320"/>
            <a:ext cx="84067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3" name="CustomShape 31"/>
          <p:cNvSpPr/>
          <p:nvPr/>
        </p:nvSpPr>
        <p:spPr>
          <a:xfrm>
            <a:off x="16040160" y="16259760"/>
            <a:ext cx="84067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4" name="CustomShape 32"/>
          <p:cNvSpPr/>
          <p:nvPr/>
        </p:nvSpPr>
        <p:spPr>
          <a:xfrm>
            <a:off x="16040160" y="17441280"/>
            <a:ext cx="84067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5" name="CustomShape 33"/>
          <p:cNvSpPr/>
          <p:nvPr/>
        </p:nvSpPr>
        <p:spPr>
          <a:xfrm>
            <a:off x="15959160" y="14922360"/>
            <a:ext cx="672192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Followers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26" name="CustomShape 34"/>
          <p:cNvSpPr/>
          <p:nvPr/>
        </p:nvSpPr>
        <p:spPr>
          <a:xfrm>
            <a:off x="15959160" y="16102800"/>
            <a:ext cx="900720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Eng. Rate/Post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27" name="CustomShape 35"/>
          <p:cNvSpPr/>
          <p:nvPr/>
        </p:nvSpPr>
        <p:spPr>
          <a:xfrm>
            <a:off x="15959160" y="17558280"/>
            <a:ext cx="1028808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Eng. Rate/Profile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28" name="CustomShape 36"/>
          <p:cNvSpPr/>
          <p:nvPr/>
        </p:nvSpPr>
        <p:spPr>
          <a:xfrm>
            <a:off x="25991280" y="15650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9" name="CustomShape 37"/>
          <p:cNvSpPr/>
          <p:nvPr/>
        </p:nvSpPr>
        <p:spPr>
          <a:xfrm>
            <a:off x="25463160" y="16576560"/>
            <a:ext cx="5479920" cy="10922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5400" b="1" strike="noStrike" spc="-4">
                <a:solidFill>
                  <a:srgbClr val="000000"/>
                </a:solidFill>
                <a:latin typeface="Arial"/>
                <a:ea typeface="Arial"/>
              </a:rPr>
              <a:t>281</a:t>
            </a:r>
            <a:endParaRPr lang="en-US" sz="5400" b="0" strike="noStrike" spc="-1">
              <a:latin typeface="Arial"/>
            </a:endParaRPr>
          </a:p>
        </p:txBody>
      </p:sp>
      <p:sp>
        <p:nvSpPr>
          <p:cNvPr id="130" name="CustomShape 38"/>
          <p:cNvSpPr/>
          <p:nvPr/>
        </p:nvSpPr>
        <p:spPr>
          <a:xfrm>
            <a:off x="27249480" y="181609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Followers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31" name="CustomShape 39"/>
          <p:cNvSpPr/>
          <p:nvPr/>
        </p:nvSpPr>
        <p:spPr>
          <a:xfrm>
            <a:off x="18011160" y="15196320"/>
            <a:ext cx="67219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0.4%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32" name="CustomShape 40"/>
          <p:cNvSpPr/>
          <p:nvPr/>
        </p:nvSpPr>
        <p:spPr>
          <a:xfrm>
            <a:off x="18345960" y="16334640"/>
            <a:ext cx="641304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/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33" name="CustomShape 41"/>
          <p:cNvSpPr/>
          <p:nvPr/>
        </p:nvSpPr>
        <p:spPr>
          <a:xfrm>
            <a:off x="17538120" y="17558280"/>
            <a:ext cx="728784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/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134" name="Group 42"/>
          <p:cNvGrpSpPr/>
          <p:nvPr/>
        </p:nvGrpSpPr>
        <p:grpSpPr>
          <a:xfrm>
            <a:off x="16047720" y="8065440"/>
            <a:ext cx="13487400" cy="5715000"/>
            <a:chOff x="16047720" y="8065440"/>
            <a:chExt cx="13485960" cy="5393520"/>
          </a:xfrm>
        </p:grpSpPr>
        <p:pic>
          <p:nvPicPr>
            <p:cNvPr id="135" name="Google Shape;73;p14_3" descr="Google Shape;73;p14_3"/>
            <p:cNvPicPr/>
            <p:nvPr/>
          </p:nvPicPr>
          <p:blipFill>
            <a:blip r:embed="rId50004"/>
            <a:stretch/>
          </p:blipFill>
          <p:spPr>
            <a:xfrm>
              <a:off x="16047720" y="8065440"/>
              <a:ext cx="13485960" cy="53935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137" name="Group 44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138" name="Google Shape;220;p17_1" descr="Google Shape;220;p17_0"/>
            <p:cNvPicPr/>
            <p:nvPr/>
          </p:nvPicPr>
          <p:blipFill>
            <a:blip r:embed="rId50005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140" name="Group 46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141" name="Google Shape;73;p14_4" descr="Google Shape;73;p14"/>
            <p:cNvPicPr/>
            <p:nvPr/>
          </p:nvPicPr>
          <p:blipFill>
            <a:blip r:embed="rId50006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4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5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6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147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148" name="Object 7_2" descr="Object 7_2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149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Profile summary • Tiffany &amp; Co.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150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Key metrics of the profile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51" name="CustomShape 8"/>
          <p:cNvSpPr/>
          <p:nvPr/>
        </p:nvSpPr>
        <p:spPr>
          <a:xfrm>
            <a:off x="2705400" y="563652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2" name="CustomShape 9"/>
          <p:cNvSpPr/>
          <p:nvPr/>
        </p:nvSpPr>
        <p:spPr>
          <a:xfrm>
            <a:off x="2840400" y="5702040"/>
            <a:ext cx="4146120" cy="2890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26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53" name="CustomShape 10"/>
          <p:cNvSpPr/>
          <p:nvPr/>
        </p:nvSpPr>
        <p:spPr>
          <a:xfrm>
            <a:off x="4249800" y="8299440"/>
            <a:ext cx="2397924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posts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54" name="CustomShape 11"/>
          <p:cNvSpPr/>
          <p:nvPr/>
        </p:nvSpPr>
        <p:spPr>
          <a:xfrm>
            <a:off x="8419680" y="563652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5" name="CustomShape 12"/>
          <p:cNvSpPr/>
          <p:nvPr/>
        </p:nvSpPr>
        <p:spPr>
          <a:xfrm>
            <a:off x="8554680" y="5046480"/>
            <a:ext cx="4136400" cy="42004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327.7K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56" name="CustomShape 13"/>
          <p:cNvSpPr/>
          <p:nvPr/>
        </p:nvSpPr>
        <p:spPr>
          <a:xfrm>
            <a:off x="9261000" y="829944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57" name="CustomShape 14"/>
          <p:cNvSpPr/>
          <p:nvPr/>
        </p:nvSpPr>
        <p:spPr>
          <a:xfrm>
            <a:off x="2705400" y="1058940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8" name="CustomShape 15"/>
          <p:cNvSpPr/>
          <p:nvPr/>
        </p:nvSpPr>
        <p:spPr>
          <a:xfrm>
            <a:off x="2906280" y="7863480"/>
            <a:ext cx="407052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12.6K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59" name="CustomShape 16"/>
          <p:cNvSpPr/>
          <p:nvPr/>
        </p:nvSpPr>
        <p:spPr>
          <a:xfrm>
            <a:off x="3021840" y="130708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60" name="CustomShape 17"/>
          <p:cNvSpPr/>
          <p:nvPr/>
        </p:nvSpPr>
        <p:spPr>
          <a:xfrm>
            <a:off x="4396680" y="13810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/ post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61" name="CustomShape 18"/>
          <p:cNvSpPr/>
          <p:nvPr/>
        </p:nvSpPr>
        <p:spPr>
          <a:xfrm>
            <a:off x="8419680" y="1058940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2" name="CustomShape 19"/>
          <p:cNvSpPr/>
          <p:nvPr/>
        </p:nvSpPr>
        <p:spPr>
          <a:xfrm>
            <a:off x="8554680" y="8612280"/>
            <a:ext cx="413640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0.1%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63" name="CustomShape 20"/>
          <p:cNvSpPr/>
          <p:nvPr/>
        </p:nvSpPr>
        <p:spPr>
          <a:xfrm>
            <a:off x="8726400" y="1310004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64" name="CustomShape 21"/>
          <p:cNvSpPr/>
          <p:nvPr/>
        </p:nvSpPr>
        <p:spPr>
          <a:xfrm>
            <a:off x="9613080" y="138150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rate / post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65" name="CustomShape 22"/>
          <p:cNvSpPr/>
          <p:nvPr/>
        </p:nvSpPr>
        <p:spPr>
          <a:xfrm>
            <a:off x="2705400" y="15542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6" name="CustomShape 23"/>
          <p:cNvSpPr/>
          <p:nvPr/>
        </p:nvSpPr>
        <p:spPr>
          <a:xfrm>
            <a:off x="2840400" y="12949200"/>
            <a:ext cx="413640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/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67" name="CustomShape 24"/>
          <p:cNvSpPr/>
          <p:nvPr/>
        </p:nvSpPr>
        <p:spPr>
          <a:xfrm>
            <a:off x="2953800" y="18009360"/>
            <a:ext cx="397008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68" name="CustomShape 25"/>
          <p:cNvSpPr/>
          <p:nvPr/>
        </p:nvSpPr>
        <p:spPr>
          <a:xfrm>
            <a:off x="3668760" y="187678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rate / profile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69" name="CustomShape 26"/>
          <p:cNvSpPr/>
          <p:nvPr/>
        </p:nvSpPr>
        <p:spPr>
          <a:xfrm>
            <a:off x="8419680" y="15542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0" name="CustomShape 27"/>
          <p:cNvSpPr/>
          <p:nvPr/>
        </p:nvSpPr>
        <p:spPr>
          <a:xfrm>
            <a:off x="8554680" y="14259240"/>
            <a:ext cx="4136400" cy="55108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19.6K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71" name="CustomShape 28"/>
          <p:cNvSpPr/>
          <p:nvPr/>
        </p:nvSpPr>
        <p:spPr>
          <a:xfrm>
            <a:off x="9148680" y="180529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profile growth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72" name="CustomShape 29"/>
          <p:cNvSpPr/>
          <p:nvPr/>
        </p:nvSpPr>
        <p:spPr>
          <a:xfrm>
            <a:off x="16175160" y="6082560"/>
            <a:ext cx="23776200" cy="7567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Followers'  evolution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173" name="CustomShape 30"/>
          <p:cNvSpPr/>
          <p:nvPr/>
        </p:nvSpPr>
        <p:spPr>
          <a:xfrm>
            <a:off x="16040160" y="15079320"/>
            <a:ext cx="84067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4" name="CustomShape 31"/>
          <p:cNvSpPr/>
          <p:nvPr/>
        </p:nvSpPr>
        <p:spPr>
          <a:xfrm>
            <a:off x="16040160" y="16259760"/>
            <a:ext cx="84067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5" name="CustomShape 32"/>
          <p:cNvSpPr/>
          <p:nvPr/>
        </p:nvSpPr>
        <p:spPr>
          <a:xfrm>
            <a:off x="16040160" y="17441280"/>
            <a:ext cx="84067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6" name="CustomShape 33"/>
          <p:cNvSpPr/>
          <p:nvPr/>
        </p:nvSpPr>
        <p:spPr>
          <a:xfrm>
            <a:off x="15959160" y="14922360"/>
            <a:ext cx="672192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Followers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77" name="CustomShape 34"/>
          <p:cNvSpPr/>
          <p:nvPr/>
        </p:nvSpPr>
        <p:spPr>
          <a:xfrm>
            <a:off x="15959160" y="16102800"/>
            <a:ext cx="900720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Eng. Rate/Post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78" name="CustomShape 35"/>
          <p:cNvSpPr/>
          <p:nvPr/>
        </p:nvSpPr>
        <p:spPr>
          <a:xfrm>
            <a:off x="15959160" y="17558280"/>
            <a:ext cx="1028808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Eng. Rate/Profile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79" name="CustomShape 36"/>
          <p:cNvSpPr/>
          <p:nvPr/>
        </p:nvSpPr>
        <p:spPr>
          <a:xfrm>
            <a:off x="25991280" y="15650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0" name="CustomShape 37"/>
          <p:cNvSpPr/>
          <p:nvPr/>
        </p:nvSpPr>
        <p:spPr>
          <a:xfrm>
            <a:off x="25463160" y="16576560"/>
            <a:ext cx="5479920" cy="10922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5400" b="1" strike="noStrike" spc="-4">
                <a:solidFill>
                  <a:srgbClr val="000000"/>
                </a:solidFill>
                <a:latin typeface="Arial"/>
                <a:ea typeface="Arial"/>
              </a:rPr>
              <a:t>16840861</a:t>
            </a:r>
            <a:endParaRPr lang="en-US" sz="5400" b="0" strike="noStrike" spc="-1">
              <a:latin typeface="Arial"/>
            </a:endParaRPr>
          </a:p>
        </p:txBody>
      </p:sp>
      <p:sp>
        <p:nvSpPr>
          <p:cNvPr id="181" name="CustomShape 38"/>
          <p:cNvSpPr/>
          <p:nvPr/>
        </p:nvSpPr>
        <p:spPr>
          <a:xfrm>
            <a:off x="27249480" y="181609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Followers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82" name="CustomShape 39"/>
          <p:cNvSpPr/>
          <p:nvPr/>
        </p:nvSpPr>
        <p:spPr>
          <a:xfrm>
            <a:off x="18011160" y="15196320"/>
            <a:ext cx="67219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0.1%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83" name="CustomShape 40"/>
          <p:cNvSpPr/>
          <p:nvPr/>
        </p:nvSpPr>
        <p:spPr>
          <a:xfrm>
            <a:off x="18345960" y="16334640"/>
            <a:ext cx="641304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/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84" name="CustomShape 41"/>
          <p:cNvSpPr/>
          <p:nvPr/>
        </p:nvSpPr>
        <p:spPr>
          <a:xfrm>
            <a:off x="17538120" y="17558280"/>
            <a:ext cx="728784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/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185" name="Group 42"/>
          <p:cNvGrpSpPr/>
          <p:nvPr/>
        </p:nvGrpSpPr>
        <p:grpSpPr>
          <a:xfrm>
            <a:off x="16047720" y="8065440"/>
            <a:ext cx="13487400" cy="5715000"/>
            <a:chOff x="16047720" y="8065440"/>
            <a:chExt cx="13485960" cy="5393520"/>
          </a:xfrm>
        </p:grpSpPr>
        <p:pic>
          <p:nvPicPr>
            <p:cNvPr id="186" name="Google Shape;73;p14_5" descr="Google Shape;73;p14_5"/>
            <p:cNvPicPr/>
            <p:nvPr/>
          </p:nvPicPr>
          <p:blipFill>
            <a:blip r:embed="rId50007"/>
            <a:stretch/>
          </p:blipFill>
          <p:spPr>
            <a:xfrm>
              <a:off x="16047720" y="8065440"/>
              <a:ext cx="13485960" cy="53935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188" name="Group 44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189" name="Google Shape;220;p17_17" descr="Google Shape;220;p17_0"/>
            <p:cNvPicPr/>
            <p:nvPr/>
          </p:nvPicPr>
          <p:blipFill>
            <a:blip r:embed="rId50008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191" name="Group 46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192" name="Google Shape;73;p14_6" descr="Google Shape;73;p14"/>
            <p:cNvPicPr/>
            <p:nvPr/>
          </p:nvPicPr>
          <p:blipFill>
            <a:blip r:embed="rId50009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CustomShape 1"/>
          <p:cNvSpPr/>
          <p:nvPr/>
        </p:nvSpPr>
        <p:spPr>
          <a:xfrm>
            <a:off x="2272320" y="2421360"/>
            <a:ext cx="29761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5" name="CustomShape 2"/>
          <p:cNvSpPr/>
          <p:nvPr/>
        </p:nvSpPr>
        <p:spPr>
          <a:xfrm>
            <a:off x="3884760" y="2534760"/>
            <a:ext cx="2816208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6" name="CustomShape 3"/>
          <p:cNvSpPr/>
          <p:nvPr/>
        </p:nvSpPr>
        <p:spPr>
          <a:xfrm>
            <a:off x="2285280" y="2649240"/>
            <a:ext cx="29761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7" name="CustomShape 4"/>
          <p:cNvSpPr/>
          <p:nvPr/>
        </p:nvSpPr>
        <p:spPr>
          <a:xfrm>
            <a:off x="2839320" y="1662120"/>
            <a:ext cx="2375676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198" name="CustomShape 5"/>
          <p:cNvSpPr/>
          <p:nvPr/>
        </p:nvSpPr>
        <p:spPr>
          <a:xfrm>
            <a:off x="23336640" y="1813680"/>
            <a:ext cx="2375676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99" name="CustomShape 6"/>
          <p:cNvSpPr/>
          <p:nvPr/>
        </p:nvSpPr>
        <p:spPr>
          <a:xfrm>
            <a:off x="2839320" y="3589920"/>
            <a:ext cx="2375676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Top posts • DIYAM HOUSE OF SILVER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200" name="CustomShape 7"/>
          <p:cNvSpPr/>
          <p:nvPr/>
        </p:nvSpPr>
        <p:spPr>
          <a:xfrm>
            <a:off x="2839320" y="4404600"/>
            <a:ext cx="2375676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The most engaging posts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201" name="CustomShape 8"/>
          <p:cNvSpPr/>
          <p:nvPr/>
        </p:nvSpPr>
        <p:spPr>
          <a:xfrm>
            <a:off x="295380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Date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2" name="CustomShape 9"/>
          <p:cNvSpPr/>
          <p:nvPr/>
        </p:nvSpPr>
        <p:spPr>
          <a:xfrm>
            <a:off x="516348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Image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3" name="CustomShape 10"/>
          <p:cNvSpPr/>
          <p:nvPr/>
        </p:nvSpPr>
        <p:spPr>
          <a:xfrm>
            <a:off x="737316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Text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4" name="CustomShape 11"/>
          <p:cNvSpPr/>
          <p:nvPr/>
        </p:nvSpPr>
        <p:spPr>
          <a:xfrm>
            <a:off x="1939356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Type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5" name="CustomShape 12"/>
          <p:cNvSpPr/>
          <p:nvPr/>
        </p:nvSpPr>
        <p:spPr>
          <a:xfrm>
            <a:off x="2207412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Engagement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6" name="CustomShape 13"/>
          <p:cNvSpPr/>
          <p:nvPr/>
        </p:nvSpPr>
        <p:spPr>
          <a:xfrm>
            <a:off x="2439828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Comments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7" name="CustomShape 14"/>
          <p:cNvSpPr/>
          <p:nvPr/>
        </p:nvSpPr>
        <p:spPr>
          <a:xfrm>
            <a:off x="2649348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Likes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8" name="CustomShape 15"/>
          <p:cNvSpPr/>
          <p:nvPr/>
        </p:nvSpPr>
        <p:spPr>
          <a:xfrm>
            <a:off x="268920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9" name="CustomShape 16"/>
          <p:cNvSpPr/>
          <p:nvPr/>
        </p:nvSpPr>
        <p:spPr>
          <a:xfrm>
            <a:off x="489888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0" name="CustomShape 17"/>
          <p:cNvSpPr/>
          <p:nvPr/>
        </p:nvSpPr>
        <p:spPr>
          <a:xfrm>
            <a:off x="710856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1" name="CustomShape 18"/>
          <p:cNvSpPr/>
          <p:nvPr/>
        </p:nvSpPr>
        <p:spPr>
          <a:xfrm>
            <a:off x="1884384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2" name="CustomShape 19"/>
          <p:cNvSpPr/>
          <p:nvPr/>
        </p:nvSpPr>
        <p:spPr>
          <a:xfrm>
            <a:off x="2180952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3" name="CustomShape 20"/>
          <p:cNvSpPr/>
          <p:nvPr/>
        </p:nvSpPr>
        <p:spPr>
          <a:xfrm>
            <a:off x="2401920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4" name="CustomShape 21"/>
          <p:cNvSpPr/>
          <p:nvPr/>
        </p:nvSpPr>
        <p:spPr>
          <a:xfrm>
            <a:off x="2622888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5" name="CustomShape 22"/>
          <p:cNvSpPr/>
          <p:nvPr/>
        </p:nvSpPr>
        <p:spPr>
          <a:xfrm>
            <a:off x="2843856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6" name="CustomShape 23"/>
          <p:cNvSpPr/>
          <p:nvPr/>
        </p:nvSpPr>
        <p:spPr>
          <a:xfrm>
            <a:off x="3151440" y="7615080"/>
            <a:ext cx="1347840" cy="68533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02 Jul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21 Jun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27 Jun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26 Jun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17 Jul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17" name="CustomShape 24"/>
          <p:cNvSpPr/>
          <p:nvPr/>
        </p:nvSpPr>
        <p:spPr>
          <a:xfrm>
            <a:off x="18993960" y="7541640"/>
            <a:ext cx="2684880" cy="1732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18" name="CustomShape 25"/>
          <p:cNvSpPr/>
          <p:nvPr/>
        </p:nvSpPr>
        <p:spPr>
          <a:xfrm>
            <a:off x="21563280" y="7541640"/>
            <a:ext cx="2342520" cy="36817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8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7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7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5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5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219" name="CustomShape 26"/>
          <p:cNvSpPr/>
          <p:nvPr/>
        </p:nvSpPr>
        <p:spPr>
          <a:xfrm>
            <a:off x="24580800" y="7541640"/>
            <a:ext cx="2170800" cy="4656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0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0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0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0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220" name="CustomShape 27"/>
          <p:cNvSpPr/>
          <p:nvPr/>
        </p:nvSpPr>
        <p:spPr>
          <a:xfrm>
            <a:off x="26775360" y="7529760"/>
            <a:ext cx="1896480" cy="5144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7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7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7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5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5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221" name="Group 28"/>
          <p:cNvGrpSpPr/>
          <p:nvPr/>
        </p:nvGrpSpPr>
        <p:grpSpPr>
          <a:xfrm>
            <a:off x="5155920" y="7132320"/>
            <a:ext cx="762000" cy="514350"/>
            <a:chOff x="5155920" y="7132320"/>
            <a:chExt cx="1624320" cy="5382360"/>
          </a:xfrm>
        </p:grpSpPr>
        <p:pic>
          <p:nvPicPr>
            <p:cNvPr id="222" name="Google Shape;184;p16_7" descr="Google Shape;184;p16_7"/>
            <p:cNvPicPr/>
            <p:nvPr/>
          </p:nvPicPr>
          <p:blipFill>
            <a:blip r:embed="rId50010"/>
            <a:stretch/>
          </p:blipFill>
          <p:spPr>
            <a:xfrm>
              <a:off x="5155920" y="713232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24" name="Group 30"/>
          <p:cNvGrpSpPr/>
          <p:nvPr/>
        </p:nvGrpSpPr>
        <p:grpSpPr>
          <a:xfrm>
            <a:off x="5155920" y="9408960"/>
            <a:ext cx="1905000" cy="1905000"/>
            <a:chOff x="5155920" y="9408960"/>
            <a:chExt cx="1624320" cy="5382360"/>
          </a:xfrm>
        </p:grpSpPr>
        <p:pic>
          <p:nvPicPr>
            <p:cNvPr id="225" name="Google Shape;184;p16_8" descr="Google Shape;184;p16_8"/>
            <p:cNvPicPr/>
            <p:nvPr/>
          </p:nvPicPr>
          <p:blipFill>
            <a:blip r:embed="rId50011"/>
            <a:stretch/>
          </p:blipFill>
          <p:spPr>
            <a:xfrm>
              <a:off x="5155920" y="940896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27" name="Group 32"/>
          <p:cNvGrpSpPr/>
          <p:nvPr/>
        </p:nvGrpSpPr>
        <p:grpSpPr>
          <a:xfrm>
            <a:off x="5155920" y="11686680"/>
            <a:ext cx="1905000" cy="1905000"/>
            <a:chOff x="5155920" y="11686680"/>
            <a:chExt cx="1624320" cy="5382360"/>
          </a:xfrm>
        </p:grpSpPr>
        <p:pic>
          <p:nvPicPr>
            <p:cNvPr id="228" name="Google Shape;184;p16_9" descr="Google Shape;184;p16_9"/>
            <p:cNvPicPr/>
            <p:nvPr/>
          </p:nvPicPr>
          <p:blipFill>
            <a:blip r:embed="rId50012"/>
            <a:stretch/>
          </p:blipFill>
          <p:spPr>
            <a:xfrm>
              <a:off x="5155920" y="1168668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30" name="Group 34"/>
          <p:cNvGrpSpPr/>
          <p:nvPr/>
        </p:nvGrpSpPr>
        <p:grpSpPr>
          <a:xfrm>
            <a:off x="5155920" y="13991400"/>
            <a:ext cx="1905000" cy="1905000"/>
            <a:chOff x="5155920" y="13991400"/>
            <a:chExt cx="1624320" cy="5382360"/>
          </a:xfrm>
        </p:grpSpPr>
        <p:pic>
          <p:nvPicPr>
            <p:cNvPr id="231" name="Google Shape;184;p16_10" descr="Google Shape;184;p16_10"/>
            <p:cNvPicPr/>
            <p:nvPr/>
          </p:nvPicPr>
          <p:blipFill>
            <a:blip r:embed="rId50013"/>
            <a:stretch/>
          </p:blipFill>
          <p:spPr>
            <a:xfrm>
              <a:off x="5155920" y="1399140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33" name="Group 36"/>
          <p:cNvGrpSpPr/>
          <p:nvPr/>
        </p:nvGrpSpPr>
        <p:grpSpPr>
          <a:xfrm>
            <a:off x="5155920" y="16268040"/>
            <a:ext cx="1905000" cy="1905000"/>
            <a:chOff x="5155920" y="16268040"/>
            <a:chExt cx="1624320" cy="5382360"/>
          </a:xfrm>
        </p:grpSpPr>
        <p:pic>
          <p:nvPicPr>
            <p:cNvPr id="234" name="Google Shape;184;p16_11" descr="Google Shape;184;p16_11"/>
            <p:cNvPicPr/>
            <p:nvPr/>
          </p:nvPicPr>
          <p:blipFill>
            <a:blip r:embed="rId50014"/>
            <a:stretch/>
          </p:blipFill>
          <p:spPr>
            <a:xfrm>
              <a:off x="5155920" y="1626804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236" name="CustomShape 38"/>
          <p:cNvSpPr/>
          <p:nvPr/>
        </p:nvSpPr>
        <p:spPr>
          <a:xfrm>
            <a:off x="7291080" y="713232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925 Silver Adjustable Rakhi. Available in stock. Get yours before its over. For more details Dm o...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37" name="CustomShape 39"/>
          <p:cNvSpPr/>
          <p:nvPr/>
        </p:nvSpPr>
        <p:spPr>
          <a:xfrm>
            <a:off x="7291080" y="950940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925 Silver Earings Oxidise Finish. Available in Stock. For more details DM or visit store. diyamh...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38" name="CustomShape 40"/>
          <p:cNvSpPr/>
          <p:nvPr/>
        </p:nvSpPr>
        <p:spPr>
          <a:xfrm>
            <a:off x="7291080" y="1177848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925 silver oxadise Necklace. Available in stock. For more details Dm or Visit store. diyamhouseof...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39" name="CustomShape 41"/>
          <p:cNvSpPr/>
          <p:nvPr/>
        </p:nvSpPr>
        <p:spPr>
          <a:xfrm>
            <a:off x="7291080" y="1404648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925 Silver Necklace. Available in Stock. For more details Dm or Visit Store. diyamhouseofsilver 9...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40" name="CustomShape 42"/>
          <p:cNvSpPr/>
          <p:nvPr/>
        </p:nvSpPr>
        <p:spPr>
          <a:xfrm>
            <a:off x="7291080" y="1631448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925 silver antique finish necklace. Available in stock. For more details Dm or visit store. diyam...</a:t>
            </a:r>
            <a:endParaRPr lang="en-US" sz="2400" b="0" strike="noStrike" spc="-1">
              <a:latin typeface="Arial"/>
            </a:endParaRPr>
          </a:p>
        </p:txBody>
      </p:sp>
      <p:pic>
        <p:nvPicPr>
          <p:cNvPr id="241" name="Object 7_3" descr="Object 7_3"/>
          <p:cNvPicPr/>
          <p:nvPr/>
        </p:nvPicPr>
        <p:blipFill>
          <a:blip r:embed="rId3"/>
          <a:stretch/>
        </p:blipFill>
        <p:spPr>
          <a:xfrm>
            <a:off x="29376000" y="76032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242" name="Group 43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243" name="Google Shape;220;p17_18" descr="Google Shape;220;p17_0"/>
            <p:cNvPicPr/>
            <p:nvPr/>
          </p:nvPicPr>
          <p:blipFill>
            <a:blip r:embed="rId50015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45" name="Group 45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246" name="Google Shape;73;p14_7" descr="Google Shape;73;p14"/>
            <p:cNvPicPr/>
            <p:nvPr/>
          </p:nvPicPr>
          <p:blipFill>
            <a:blip r:embed="rId50016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CustomShape 1"/>
          <p:cNvSpPr/>
          <p:nvPr/>
        </p:nvSpPr>
        <p:spPr>
          <a:xfrm>
            <a:off x="2272320" y="2421360"/>
            <a:ext cx="29761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9" name="CustomShape 2"/>
          <p:cNvSpPr/>
          <p:nvPr/>
        </p:nvSpPr>
        <p:spPr>
          <a:xfrm>
            <a:off x="3884760" y="2534760"/>
            <a:ext cx="2816208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0" name="CustomShape 3"/>
          <p:cNvSpPr/>
          <p:nvPr/>
        </p:nvSpPr>
        <p:spPr>
          <a:xfrm>
            <a:off x="2285280" y="2649240"/>
            <a:ext cx="29761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1" name="CustomShape 4"/>
          <p:cNvSpPr/>
          <p:nvPr/>
        </p:nvSpPr>
        <p:spPr>
          <a:xfrm>
            <a:off x="2839320" y="1662120"/>
            <a:ext cx="2375676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252" name="CustomShape 5"/>
          <p:cNvSpPr/>
          <p:nvPr/>
        </p:nvSpPr>
        <p:spPr>
          <a:xfrm>
            <a:off x="23336640" y="1813680"/>
            <a:ext cx="2375676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253" name="CustomShape 6"/>
          <p:cNvSpPr/>
          <p:nvPr/>
        </p:nvSpPr>
        <p:spPr>
          <a:xfrm>
            <a:off x="2839320" y="3589920"/>
            <a:ext cx="2375676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Top posts • Tiffany &amp; Co.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254" name="CustomShape 7"/>
          <p:cNvSpPr/>
          <p:nvPr/>
        </p:nvSpPr>
        <p:spPr>
          <a:xfrm>
            <a:off x="2839320" y="4404600"/>
            <a:ext cx="2375676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The most engaging posts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255" name="CustomShape 8"/>
          <p:cNvSpPr/>
          <p:nvPr/>
        </p:nvSpPr>
        <p:spPr>
          <a:xfrm>
            <a:off x="295380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Date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56" name="CustomShape 9"/>
          <p:cNvSpPr/>
          <p:nvPr/>
        </p:nvSpPr>
        <p:spPr>
          <a:xfrm>
            <a:off x="516348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Image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57" name="CustomShape 10"/>
          <p:cNvSpPr/>
          <p:nvPr/>
        </p:nvSpPr>
        <p:spPr>
          <a:xfrm>
            <a:off x="737316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Text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58" name="CustomShape 11"/>
          <p:cNvSpPr/>
          <p:nvPr/>
        </p:nvSpPr>
        <p:spPr>
          <a:xfrm>
            <a:off x="1939356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Type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59" name="CustomShape 12"/>
          <p:cNvSpPr/>
          <p:nvPr/>
        </p:nvSpPr>
        <p:spPr>
          <a:xfrm>
            <a:off x="2207412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Engagement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60" name="CustomShape 13"/>
          <p:cNvSpPr/>
          <p:nvPr/>
        </p:nvSpPr>
        <p:spPr>
          <a:xfrm>
            <a:off x="2439828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Comments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61" name="CustomShape 14"/>
          <p:cNvSpPr/>
          <p:nvPr/>
        </p:nvSpPr>
        <p:spPr>
          <a:xfrm>
            <a:off x="2649348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Likes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62" name="CustomShape 15"/>
          <p:cNvSpPr/>
          <p:nvPr/>
        </p:nvSpPr>
        <p:spPr>
          <a:xfrm>
            <a:off x="268920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3" name="CustomShape 16"/>
          <p:cNvSpPr/>
          <p:nvPr/>
        </p:nvSpPr>
        <p:spPr>
          <a:xfrm>
            <a:off x="489888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4" name="CustomShape 17"/>
          <p:cNvSpPr/>
          <p:nvPr/>
        </p:nvSpPr>
        <p:spPr>
          <a:xfrm>
            <a:off x="710856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5" name="CustomShape 18"/>
          <p:cNvSpPr/>
          <p:nvPr/>
        </p:nvSpPr>
        <p:spPr>
          <a:xfrm>
            <a:off x="1884384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6" name="CustomShape 19"/>
          <p:cNvSpPr/>
          <p:nvPr/>
        </p:nvSpPr>
        <p:spPr>
          <a:xfrm>
            <a:off x="2180952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7" name="CustomShape 20"/>
          <p:cNvSpPr/>
          <p:nvPr/>
        </p:nvSpPr>
        <p:spPr>
          <a:xfrm>
            <a:off x="2401920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8" name="CustomShape 21"/>
          <p:cNvSpPr/>
          <p:nvPr/>
        </p:nvSpPr>
        <p:spPr>
          <a:xfrm>
            <a:off x="2622888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9" name="CustomShape 22"/>
          <p:cNvSpPr/>
          <p:nvPr/>
        </p:nvSpPr>
        <p:spPr>
          <a:xfrm>
            <a:off x="2843856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0" name="CustomShape 23"/>
          <p:cNvSpPr/>
          <p:nvPr/>
        </p:nvSpPr>
        <p:spPr>
          <a:xfrm>
            <a:off x="3151440" y="7615080"/>
            <a:ext cx="1347840" cy="68533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01 Jul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07 Jul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06 Jul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29 Jun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03 Jul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71" name="CustomShape 24"/>
          <p:cNvSpPr/>
          <p:nvPr/>
        </p:nvSpPr>
        <p:spPr>
          <a:xfrm>
            <a:off x="18993960" y="7541640"/>
            <a:ext cx="2684880" cy="1732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image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carousel_album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72" name="CustomShape 25"/>
          <p:cNvSpPr/>
          <p:nvPr/>
        </p:nvSpPr>
        <p:spPr>
          <a:xfrm>
            <a:off x="21563280" y="7541640"/>
            <a:ext cx="2342520" cy="36817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62686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29964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25269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21327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17022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273" name="CustomShape 26"/>
          <p:cNvSpPr/>
          <p:nvPr/>
        </p:nvSpPr>
        <p:spPr>
          <a:xfrm>
            <a:off x="24580800" y="7541640"/>
            <a:ext cx="2170800" cy="4656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632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366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251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163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74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274" name="CustomShape 27"/>
          <p:cNvSpPr/>
          <p:nvPr/>
        </p:nvSpPr>
        <p:spPr>
          <a:xfrm>
            <a:off x="26775360" y="7529760"/>
            <a:ext cx="1896480" cy="5144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62054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29598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25018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21164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16948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275" name="Group 28"/>
          <p:cNvGrpSpPr/>
          <p:nvPr/>
        </p:nvGrpSpPr>
        <p:grpSpPr>
          <a:xfrm>
            <a:off x="5155920" y="7132320"/>
            <a:ext cx="762000" cy="514350"/>
            <a:chOff x="5155920" y="7132320"/>
            <a:chExt cx="1624320" cy="5382360"/>
          </a:xfrm>
        </p:grpSpPr>
        <p:pic>
          <p:nvPicPr>
            <p:cNvPr id="276" name="Google Shape;184;p16_13" descr="Google Shape;184;p16_13"/>
            <p:cNvPicPr/>
            <p:nvPr/>
          </p:nvPicPr>
          <p:blipFill>
            <a:blip r:embed="rId50017"/>
            <a:stretch/>
          </p:blipFill>
          <p:spPr>
            <a:xfrm>
              <a:off x="5155920" y="713232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78" name="Group 30"/>
          <p:cNvGrpSpPr/>
          <p:nvPr/>
        </p:nvGrpSpPr>
        <p:grpSpPr>
          <a:xfrm>
            <a:off x="5155920" y="9408960"/>
            <a:ext cx="1905000" cy="1905000"/>
            <a:chOff x="5155920" y="9408960"/>
            <a:chExt cx="1624320" cy="5382360"/>
          </a:xfrm>
        </p:grpSpPr>
        <p:pic>
          <p:nvPicPr>
            <p:cNvPr id="279" name="Google Shape;184;p16_14" descr="Google Shape;184;p16_14"/>
            <p:cNvPicPr/>
            <p:nvPr/>
          </p:nvPicPr>
          <p:blipFill>
            <a:blip r:embed="rId50018"/>
            <a:stretch/>
          </p:blipFill>
          <p:spPr>
            <a:xfrm>
              <a:off x="5155920" y="940896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81" name="Group 32"/>
          <p:cNvGrpSpPr/>
          <p:nvPr/>
        </p:nvGrpSpPr>
        <p:grpSpPr>
          <a:xfrm>
            <a:off x="5155920" y="11686680"/>
            <a:ext cx="1905000" cy="1905000"/>
            <a:chOff x="5155920" y="11686680"/>
            <a:chExt cx="1624320" cy="5382360"/>
          </a:xfrm>
        </p:grpSpPr>
        <p:pic>
          <p:nvPicPr>
            <p:cNvPr id="282" name="Google Shape;184;p16_15" descr="Google Shape;184;p16_15"/>
            <p:cNvPicPr/>
            <p:nvPr/>
          </p:nvPicPr>
          <p:blipFill>
            <a:blip r:embed="rId50019"/>
            <a:stretch/>
          </p:blipFill>
          <p:spPr>
            <a:xfrm>
              <a:off x="5155920" y="1168668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84" name="Group 34"/>
          <p:cNvGrpSpPr/>
          <p:nvPr/>
        </p:nvGrpSpPr>
        <p:grpSpPr>
          <a:xfrm>
            <a:off x="5155920" y="13991400"/>
            <a:ext cx="1905000" cy="1905000"/>
            <a:chOff x="5155920" y="13991400"/>
            <a:chExt cx="1624320" cy="5382360"/>
          </a:xfrm>
        </p:grpSpPr>
        <p:pic>
          <p:nvPicPr>
            <p:cNvPr id="285" name="Google Shape;184;p16_16" descr="Google Shape;184;p16_16"/>
            <p:cNvPicPr/>
            <p:nvPr/>
          </p:nvPicPr>
          <p:blipFill>
            <a:blip r:embed="rId50020"/>
            <a:stretch/>
          </p:blipFill>
          <p:spPr>
            <a:xfrm>
              <a:off x="5155920" y="1399140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87" name="Group 36"/>
          <p:cNvGrpSpPr/>
          <p:nvPr/>
        </p:nvGrpSpPr>
        <p:grpSpPr>
          <a:xfrm>
            <a:off x="5155920" y="16268040"/>
            <a:ext cx="1905000" cy="1905000"/>
            <a:chOff x="5155920" y="16268040"/>
            <a:chExt cx="1624320" cy="5382360"/>
          </a:xfrm>
        </p:grpSpPr>
        <p:pic>
          <p:nvPicPr>
            <p:cNvPr id="288" name="Google Shape;184;p16_17" descr="Google Shape;184;p16_17"/>
            <p:cNvPicPr/>
            <p:nvPr/>
          </p:nvPicPr>
          <p:blipFill>
            <a:blip r:embed="rId50021"/>
            <a:stretch/>
          </p:blipFill>
          <p:spPr>
            <a:xfrm>
              <a:off x="5155920" y="1626804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290" name="CustomShape 38"/>
          <p:cNvSpPr/>
          <p:nvPr/>
        </p:nvSpPr>
        <p:spPr>
          <a:xfrm>
            <a:off x="7291080" y="713232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House ambassadors Anne Curtis and Win Metawin celebrate the opening of the reimagined Tiffany &amp; C...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91" name="CustomShape 39"/>
          <p:cNvSpPr/>
          <p:nvPr/>
        </p:nvSpPr>
        <p:spPr>
          <a:xfrm>
            <a:off x="7291080" y="950940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The House’s iconic Sixteen Stone by Tiffany ring has been reimagined with a striking center diamo...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92" name="CustomShape 40"/>
          <p:cNvSpPr/>
          <p:nvPr/>
        </p:nvSpPr>
        <p:spPr>
          <a:xfrm>
            <a:off x="7291080" y="1177848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Introducing the Sixteen Stone by Tiffany solitaire diamond ring. Since 1837, Tiffany &amp; Co. has de...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93" name="CustomShape 41"/>
          <p:cNvSpPr/>
          <p:nvPr/>
        </p:nvSpPr>
        <p:spPr>
          <a:xfrm>
            <a:off x="7291080" y="1404648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A platinum and diamond evolution of the design introduced by Jean Schlumberger in 1959, this Sixt...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94" name="CustomShape 42"/>
          <p:cNvSpPr/>
          <p:nvPr/>
        </p:nvSpPr>
        <p:spPr>
          <a:xfrm>
            <a:off x="7291080" y="1631448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Introducing the reimagined Singapore Flagship at ION Orchard in the Garden City. Featuring the Ho...</a:t>
            </a:r>
            <a:endParaRPr lang="en-US" sz="2400" b="0" strike="noStrike" spc="-1">
              <a:latin typeface="Arial"/>
            </a:endParaRPr>
          </a:p>
        </p:txBody>
      </p:sp>
      <p:pic>
        <p:nvPicPr>
          <p:cNvPr id="295" name="Object 7_4" descr="Object 7_4"/>
          <p:cNvPicPr/>
          <p:nvPr/>
        </p:nvPicPr>
        <p:blipFill>
          <a:blip r:embed="rId3"/>
          <a:stretch/>
        </p:blipFill>
        <p:spPr>
          <a:xfrm>
            <a:off x="29376000" y="76032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296" name="Group 43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297" name="Google Shape;220;p17_19" descr="Google Shape;220;p17_0"/>
            <p:cNvPicPr/>
            <p:nvPr/>
          </p:nvPicPr>
          <p:blipFill>
            <a:blip r:embed="rId50022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99" name="Group 45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300" name="Google Shape;73;p14_8" descr="Google Shape;73;p14"/>
            <p:cNvPicPr/>
            <p:nvPr/>
          </p:nvPicPr>
          <p:blipFill>
            <a:blip r:embed="rId50023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3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4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5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06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07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Publishing behaviour  • DIYAM HOUSE OF SILVER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308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posting patterns of the page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09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Posting times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10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1" name="CustomShape 10"/>
          <p:cNvSpPr/>
          <p:nvPr/>
        </p:nvSpPr>
        <p:spPr>
          <a:xfrm>
            <a:off x="2781000" y="14963040"/>
            <a:ext cx="412452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wed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312" name="CustomShape 11"/>
          <p:cNvSpPr/>
          <p:nvPr/>
        </p:nvSpPr>
        <p:spPr>
          <a:xfrm>
            <a:off x="2847960" y="18983520"/>
            <a:ext cx="413964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Day with most posts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313" name="Group 12"/>
          <p:cNvGrpSpPr/>
          <p:nvPr/>
        </p:nvGrpSpPr>
        <p:grpSpPr>
          <a:xfrm>
            <a:off x="1071360" y="905040"/>
            <a:ext cx="1314450" cy="1314450"/>
            <a:chOff x="1071360" y="905040"/>
            <a:chExt cx="3864240" cy="2658960"/>
          </a:xfrm>
        </p:grpSpPr>
        <p:pic>
          <p:nvPicPr>
            <p:cNvPr id="314" name="Google Shape;220;p17_0" descr="Google Shape;220;p17_0"/>
            <p:cNvPicPr/>
            <p:nvPr/>
          </p:nvPicPr>
          <p:blipFill>
            <a:blip r:embed="rId50024"/>
            <a:stretch/>
          </p:blipFill>
          <p:spPr>
            <a:xfrm>
              <a:off x="1071360" y="90504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316" name="Group 14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317" name="Google Shape;220;p17_5" descr="Google Shape;220;p17_5"/>
            <p:cNvPicPr/>
            <p:nvPr/>
          </p:nvPicPr>
          <p:blipFill>
            <a:blip r:embed="rId50025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319" name="CustomShape 16"/>
          <p:cNvSpPr/>
          <p:nvPr/>
        </p:nvSpPr>
        <p:spPr>
          <a:xfrm>
            <a:off x="9367920" y="1682208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0" name="CustomShape 17"/>
          <p:cNvSpPr/>
          <p:nvPr/>
        </p:nvSpPr>
        <p:spPr>
          <a:xfrm>
            <a:off x="9502920" y="14222880"/>
            <a:ext cx="412452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11 AM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321" name="CustomShape 18"/>
          <p:cNvSpPr/>
          <p:nvPr/>
        </p:nvSpPr>
        <p:spPr>
          <a:xfrm>
            <a:off x="9514800" y="18912240"/>
            <a:ext cx="411156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Hour with most posts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322" name="Object 7_5" descr="Object 7_5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323" name="Group 19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324" name="Google Shape;73;p14_9" descr="Google Shape;73;p14"/>
            <p:cNvPicPr/>
            <p:nvPr/>
          </p:nvPicPr>
          <p:blipFill>
            <a:blip r:embed="rId50026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8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9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31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Publishing behaviour  • Tiffany &amp; Co.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332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posting patterns of the page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33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Posting times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34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5" name="CustomShape 10"/>
          <p:cNvSpPr/>
          <p:nvPr/>
        </p:nvSpPr>
        <p:spPr>
          <a:xfrm>
            <a:off x="2781000" y="14963040"/>
            <a:ext cx="412452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sat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336" name="CustomShape 11"/>
          <p:cNvSpPr/>
          <p:nvPr/>
        </p:nvSpPr>
        <p:spPr>
          <a:xfrm>
            <a:off x="2847960" y="18983520"/>
            <a:ext cx="413964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Day with most posts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337" name="Group 12"/>
          <p:cNvGrpSpPr/>
          <p:nvPr/>
        </p:nvGrpSpPr>
        <p:grpSpPr>
          <a:xfrm>
            <a:off x="1071360" y="905040"/>
            <a:ext cx="1314450" cy="1314450"/>
            <a:chOff x="1071360" y="905040"/>
            <a:chExt cx="3864240" cy="2786400"/>
          </a:xfrm>
        </p:grpSpPr>
        <p:pic>
          <p:nvPicPr>
            <p:cNvPr id="338" name="Google Shape;220;p17_6" descr="Google Shape;220;p17_6"/>
            <p:cNvPicPr/>
            <p:nvPr/>
          </p:nvPicPr>
          <p:blipFill>
            <a:blip r:embed="rId50027"/>
            <a:stretch/>
          </p:blipFill>
          <p:spPr>
            <a:xfrm>
              <a:off x="1071360" y="905040"/>
              <a:ext cx="3864240" cy="278640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340" name="Group 14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341" name="Google Shape;220;p17_8" descr="Google Shape;220;p17_8"/>
            <p:cNvPicPr/>
            <p:nvPr/>
          </p:nvPicPr>
          <p:blipFill>
            <a:blip r:embed="rId50028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343" name="CustomShape 16"/>
          <p:cNvSpPr/>
          <p:nvPr/>
        </p:nvSpPr>
        <p:spPr>
          <a:xfrm>
            <a:off x="9367920" y="1682208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4" name="CustomShape 17"/>
          <p:cNvSpPr/>
          <p:nvPr/>
        </p:nvSpPr>
        <p:spPr>
          <a:xfrm>
            <a:off x="9502920" y="14222880"/>
            <a:ext cx="412452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7 PM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345" name="CustomShape 18"/>
          <p:cNvSpPr/>
          <p:nvPr/>
        </p:nvSpPr>
        <p:spPr>
          <a:xfrm>
            <a:off x="9514800" y="18912240"/>
            <a:ext cx="411156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Hour with most posts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346" name="Object 7_6" descr="Object 7_6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347" name="Group 19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348" name="Google Shape;73;p14_10" descr="Google Shape;73;p14"/>
            <p:cNvPicPr/>
            <p:nvPr/>
          </p:nvPicPr>
          <p:blipFill>
            <a:blip r:embed="rId50029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1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2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3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54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55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Publishing behaviour  • DIYAM HOUSE OF SILVER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356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posting patterns of the page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57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Distribution of posts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58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9" name="CustomShape 10"/>
          <p:cNvSpPr/>
          <p:nvPr/>
        </p:nvSpPr>
        <p:spPr>
          <a:xfrm>
            <a:off x="2781000" y="14962320"/>
            <a:ext cx="4124520" cy="68220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1.3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360" name="CustomShape 11"/>
          <p:cNvSpPr/>
          <p:nvPr/>
        </p:nvSpPr>
        <p:spPr>
          <a:xfrm>
            <a:off x="2847960" y="19257120"/>
            <a:ext cx="4139640" cy="8186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 posts / day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361" name="Group 12"/>
          <p:cNvGrpSpPr/>
          <p:nvPr/>
        </p:nvGrpSpPr>
        <p:grpSpPr>
          <a:xfrm>
            <a:off x="1071360" y="905040"/>
            <a:ext cx="1314450" cy="1314450"/>
            <a:chOff x="1071360" y="905040"/>
            <a:chExt cx="3864240" cy="2786400"/>
          </a:xfrm>
        </p:grpSpPr>
        <p:pic>
          <p:nvPicPr>
            <p:cNvPr id="362" name="Google Shape;220;p17_2" descr="Google Shape;220;p17_6"/>
            <p:cNvPicPr/>
            <p:nvPr/>
          </p:nvPicPr>
          <p:blipFill>
            <a:blip r:embed="rId50030"/>
            <a:stretch/>
          </p:blipFill>
          <p:spPr>
            <a:xfrm>
              <a:off x="1071360" y="905040"/>
              <a:ext cx="3864240" cy="278640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364" name="Group 14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365" name="Google Shape;220;p17_3" descr="Google Shape;220;p17_8"/>
            <p:cNvPicPr/>
            <p:nvPr/>
          </p:nvPicPr>
          <p:blipFill>
            <a:blip r:embed="rId50031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pic>
        <p:nvPicPr>
          <p:cNvPr id="367" name="Object 7_16" descr="Object 7_6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368" name="Group 16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369" name="Google Shape;73;p14_11" descr="Google Shape;73;p14"/>
            <p:cNvPicPr/>
            <p:nvPr/>
          </p:nvPicPr>
          <p:blipFill>
            <a:blip r:embed="rId50032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2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3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4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75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76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Publishing behaviour  • Tiffany &amp; Co.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377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posting patterns of the page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78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Distribution of posts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79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0" name="CustomShape 10"/>
          <p:cNvSpPr/>
          <p:nvPr/>
        </p:nvSpPr>
        <p:spPr>
          <a:xfrm>
            <a:off x="2781000" y="14962320"/>
            <a:ext cx="4124520" cy="68220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0.9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381" name="CustomShape 11"/>
          <p:cNvSpPr/>
          <p:nvPr/>
        </p:nvSpPr>
        <p:spPr>
          <a:xfrm>
            <a:off x="2847960" y="19257120"/>
            <a:ext cx="4139640" cy="8186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 posts / day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382" name="Group 12"/>
          <p:cNvGrpSpPr/>
          <p:nvPr/>
        </p:nvGrpSpPr>
        <p:grpSpPr>
          <a:xfrm>
            <a:off x="1071360" y="905040"/>
            <a:ext cx="1314450" cy="1314450"/>
            <a:chOff x="1071360" y="905040"/>
            <a:chExt cx="3864240" cy="2786400"/>
          </a:xfrm>
        </p:grpSpPr>
        <p:pic>
          <p:nvPicPr>
            <p:cNvPr id="383" name="Google Shape;220;p17_7" descr="Google Shape;220;p17_6"/>
            <p:cNvPicPr/>
            <p:nvPr/>
          </p:nvPicPr>
          <p:blipFill>
            <a:blip r:embed="rId50033"/>
            <a:stretch/>
          </p:blipFill>
          <p:spPr>
            <a:xfrm>
              <a:off x="1071360" y="905040"/>
              <a:ext cx="3864240" cy="278640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385" name="Group 14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386" name="Google Shape;220;p17_10" descr="Google Shape;220;p17_8"/>
            <p:cNvPicPr/>
            <p:nvPr/>
          </p:nvPicPr>
          <p:blipFill>
            <a:blip r:embed="rId50034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pic>
        <p:nvPicPr>
          <p:cNvPr id="388" name="Object 7_18" descr="Object 7_6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389" name="Group 16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390" name="Google Shape;73;p14_12" descr="Google Shape;73;p14"/>
            <p:cNvPicPr/>
            <p:nvPr/>
          </p:nvPicPr>
          <p:blipFill>
            <a:blip r:embed="rId50035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3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4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5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96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397" name="Object 7_0" descr="Object 7_0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398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Content performance • DIYAM HOUSE OF SILVER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399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what types of post the profile published and understand the success of different post types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00" name="CustomShape 8"/>
          <p:cNvSpPr/>
          <p:nvPr/>
        </p:nvSpPr>
        <p:spPr>
          <a:xfrm>
            <a:off x="2840400" y="583128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 types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01" name="CustomShape 9"/>
          <p:cNvSpPr/>
          <p:nvPr/>
        </p:nvSpPr>
        <p:spPr>
          <a:xfrm>
            <a:off x="2840400" y="1390860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 types ranked by avg. engagement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02" name="CustomShape 10"/>
          <p:cNvSpPr/>
          <p:nvPr/>
        </p:nvSpPr>
        <p:spPr>
          <a:xfrm>
            <a:off x="2705400" y="12602880"/>
            <a:ext cx="26656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03" name="CustomShape 11"/>
          <p:cNvSpPr/>
          <p:nvPr/>
        </p:nvSpPr>
        <p:spPr>
          <a:xfrm>
            <a:off x="22354920" y="6436800"/>
            <a:ext cx="6028560" cy="17931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Reel count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Image count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04" name="CustomShape 12"/>
          <p:cNvSpPr/>
          <p:nvPr/>
        </p:nvSpPr>
        <p:spPr>
          <a:xfrm>
            <a:off x="27106920" y="6437880"/>
            <a:ext cx="6028560" cy="2280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29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10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05" name="CustomShape 13"/>
          <p:cNvSpPr/>
          <p:nvPr/>
        </p:nvSpPr>
        <p:spPr>
          <a:xfrm>
            <a:off x="22354920" y="16264800"/>
            <a:ext cx="6028560" cy="17931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Reel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Image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06" name="CustomShape 14"/>
          <p:cNvSpPr/>
          <p:nvPr/>
        </p:nvSpPr>
        <p:spPr>
          <a:xfrm>
            <a:off x="27106920" y="16265880"/>
            <a:ext cx="6028560" cy="2768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4.21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1.30 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407" name="Group 15"/>
          <p:cNvGrpSpPr/>
          <p:nvPr/>
        </p:nvGrpSpPr>
        <p:grpSpPr>
          <a:xfrm>
            <a:off x="2716200" y="7763040"/>
            <a:ext cx="19431000" cy="3886200"/>
            <a:chOff x="2716200" y="7763040"/>
            <a:chExt cx="19410840" cy="3884760"/>
          </a:xfrm>
        </p:grpSpPr>
        <p:pic>
          <p:nvPicPr>
            <p:cNvPr id="408" name="Google Shape;184;p16_4" descr="Google Shape;184;p16_4"/>
            <p:cNvPicPr/>
            <p:nvPr/>
          </p:nvPicPr>
          <p:blipFill>
            <a:blip r:embed="rId50036"/>
            <a:stretch/>
          </p:blipFill>
          <p:spPr>
            <a:xfrm>
              <a:off x="2716200" y="77630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10" name="Group 17"/>
          <p:cNvGrpSpPr/>
          <p:nvPr/>
        </p:nvGrpSpPr>
        <p:grpSpPr>
          <a:xfrm>
            <a:off x="2717280" y="16651440"/>
            <a:ext cx="19431000" cy="3886200"/>
            <a:chOff x="2717280" y="16651440"/>
            <a:chExt cx="19410840" cy="3884760"/>
          </a:xfrm>
        </p:grpSpPr>
        <p:pic>
          <p:nvPicPr>
            <p:cNvPr id="411" name="Google Shape;184;p16_5" descr="Google Shape;184;p16_5"/>
            <p:cNvPicPr/>
            <p:nvPr/>
          </p:nvPicPr>
          <p:blipFill>
            <a:blip r:embed="rId50037"/>
            <a:stretch/>
          </p:blipFill>
          <p:spPr>
            <a:xfrm>
              <a:off x="2717280" y="166514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13" name="Group 19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414" name="Google Shape;220;p17_20" descr="Google Shape;220;p17_0"/>
            <p:cNvPicPr/>
            <p:nvPr/>
          </p:nvPicPr>
          <p:blipFill>
            <a:blip r:embed="rId50038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16" name="Group 21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417" name="Google Shape;73;p14_13" descr="Google Shape;73;p14"/>
            <p:cNvPicPr/>
            <p:nvPr/>
          </p:nvPicPr>
          <p:blipFill>
            <a:blip r:embed="rId50039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0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1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2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23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424" name="Object 7_8" descr="Object 7_8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425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Content performance • Tiffany &amp; Co.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426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what types of post the profile published and understand the success of different post types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27" name="CustomShape 8"/>
          <p:cNvSpPr/>
          <p:nvPr/>
        </p:nvSpPr>
        <p:spPr>
          <a:xfrm>
            <a:off x="2840400" y="583128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 types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28" name="CustomShape 9"/>
          <p:cNvSpPr/>
          <p:nvPr/>
        </p:nvSpPr>
        <p:spPr>
          <a:xfrm>
            <a:off x="2840400" y="1390860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 types ranked by avg. engagement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29" name="CustomShape 10"/>
          <p:cNvSpPr/>
          <p:nvPr/>
        </p:nvSpPr>
        <p:spPr>
          <a:xfrm>
            <a:off x="2705400" y="12602880"/>
            <a:ext cx="26656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0" name="CustomShape 11"/>
          <p:cNvSpPr/>
          <p:nvPr/>
        </p:nvSpPr>
        <p:spPr>
          <a:xfrm>
            <a:off x="22354920" y="6436800"/>
            <a:ext cx="6028560" cy="17931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Image count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Reel count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Carousel count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31" name="CustomShape 12"/>
          <p:cNvSpPr/>
          <p:nvPr/>
        </p:nvSpPr>
        <p:spPr>
          <a:xfrm>
            <a:off x="27106920" y="6437880"/>
            <a:ext cx="6028560" cy="2280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11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8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7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32" name="CustomShape 13"/>
          <p:cNvSpPr/>
          <p:nvPr/>
        </p:nvSpPr>
        <p:spPr>
          <a:xfrm>
            <a:off x="22354920" y="16264800"/>
            <a:ext cx="6028560" cy="17931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Image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Reel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Carousel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33" name="CustomShape 14"/>
          <p:cNvSpPr/>
          <p:nvPr/>
        </p:nvSpPr>
        <p:spPr>
          <a:xfrm>
            <a:off x="27106920" y="16265880"/>
            <a:ext cx="6028560" cy="2768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8995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20.30K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9472 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434" name="Group 15"/>
          <p:cNvGrpSpPr/>
          <p:nvPr/>
        </p:nvGrpSpPr>
        <p:grpSpPr>
          <a:xfrm>
            <a:off x="2716200" y="7763040"/>
            <a:ext cx="19431000" cy="3886200"/>
            <a:chOff x="2716200" y="7763040"/>
            <a:chExt cx="19410840" cy="3884760"/>
          </a:xfrm>
        </p:grpSpPr>
        <p:pic>
          <p:nvPicPr>
            <p:cNvPr id="435" name="Google Shape;184;p16_19" descr="Google Shape;184;p16_19"/>
            <p:cNvPicPr/>
            <p:nvPr/>
          </p:nvPicPr>
          <p:blipFill>
            <a:blip r:embed="rId50040"/>
            <a:stretch/>
          </p:blipFill>
          <p:spPr>
            <a:xfrm>
              <a:off x="2716200" y="77630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37" name="Group 17"/>
          <p:cNvGrpSpPr/>
          <p:nvPr/>
        </p:nvGrpSpPr>
        <p:grpSpPr>
          <a:xfrm>
            <a:off x="2717280" y="16651440"/>
            <a:ext cx="19431000" cy="3886200"/>
            <a:chOff x="2717280" y="16651440"/>
            <a:chExt cx="19410840" cy="3884760"/>
          </a:xfrm>
        </p:grpSpPr>
        <p:pic>
          <p:nvPicPr>
            <p:cNvPr id="438" name="Google Shape;184;p16_20" descr="Google Shape;184;p16_20"/>
            <p:cNvPicPr/>
            <p:nvPr/>
          </p:nvPicPr>
          <p:blipFill>
            <a:blip r:embed="rId50041"/>
            <a:stretch/>
          </p:blipFill>
          <p:spPr>
            <a:xfrm>
              <a:off x="2717280" y="166514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40" name="Group 19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441" name="Google Shape;220;p17_21" descr="Google Shape;220;p17_0"/>
            <p:cNvPicPr/>
            <p:nvPr/>
          </p:nvPicPr>
          <p:blipFill>
            <a:blip r:embed="rId50042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43" name="Group 21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444" name="Google Shape;73;p14_14" descr="Google Shape;73;p14"/>
            <p:cNvPicPr/>
            <p:nvPr/>
          </p:nvPicPr>
          <p:blipFill>
            <a:blip r:embed="rId50043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7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8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9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50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451" name="Object 7_20" descr="Object 7_8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452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overview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453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distribution of engagement (likes + comments)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54" name="CustomShape 8"/>
          <p:cNvSpPr/>
          <p:nvPr/>
        </p:nvSpPr>
        <p:spPr>
          <a:xfrm>
            <a:off x="2840400" y="583128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 types ranked by engagement - DIYAM HOUSE OF SILVER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55" name="CustomShape 9"/>
          <p:cNvSpPr/>
          <p:nvPr/>
        </p:nvSpPr>
        <p:spPr>
          <a:xfrm>
            <a:off x="2840400" y="1430460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 types ranked by engagement - Tiffany &amp; Co.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56" name="CustomShape 10"/>
          <p:cNvSpPr/>
          <p:nvPr/>
        </p:nvSpPr>
        <p:spPr>
          <a:xfrm>
            <a:off x="2705400" y="12602880"/>
            <a:ext cx="26656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7" name="CustomShape 11"/>
          <p:cNvSpPr/>
          <p:nvPr/>
        </p:nvSpPr>
        <p:spPr>
          <a:xfrm>
            <a:off x="22354920" y="6436800"/>
            <a:ext cx="6028560" cy="1731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Reel 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Image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58" name="CustomShape 12"/>
          <p:cNvSpPr/>
          <p:nvPr/>
        </p:nvSpPr>
        <p:spPr>
          <a:xfrm>
            <a:off x="27106920" y="6437880"/>
            <a:ext cx="6028560" cy="2219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122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13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59" name="CustomShape 13"/>
          <p:cNvSpPr/>
          <p:nvPr/>
        </p:nvSpPr>
        <p:spPr>
          <a:xfrm>
            <a:off x="22354920" y="16264800"/>
            <a:ext cx="6028560" cy="1731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Image 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Reel 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Carousel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60" name="CustomShape 14"/>
          <p:cNvSpPr/>
          <p:nvPr/>
        </p:nvSpPr>
        <p:spPr>
          <a:xfrm>
            <a:off x="27106920" y="16265880"/>
            <a:ext cx="6028560" cy="2219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98.94K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162.40K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66.31K 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461" name="Group 15"/>
          <p:cNvGrpSpPr/>
          <p:nvPr/>
        </p:nvGrpSpPr>
        <p:grpSpPr>
          <a:xfrm>
            <a:off x="2716200" y="7763040"/>
            <a:ext cx="19431000" cy="3886200"/>
            <a:chOff x="2716200" y="7763040"/>
            <a:chExt cx="19410840" cy="3884760"/>
          </a:xfrm>
        </p:grpSpPr>
        <p:pic>
          <p:nvPicPr>
            <p:cNvPr id="462" name="Google Shape;184;p16_37" descr="Google Shape;184;p16_19"/>
            <p:cNvPicPr/>
            <p:nvPr/>
          </p:nvPicPr>
          <p:blipFill>
            <a:blip r:embed="rId50044"/>
            <a:stretch/>
          </p:blipFill>
          <p:spPr>
            <a:xfrm>
              <a:off x="2716200" y="77630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64" name="Group 17"/>
          <p:cNvGrpSpPr/>
          <p:nvPr/>
        </p:nvGrpSpPr>
        <p:grpSpPr>
          <a:xfrm>
            <a:off x="2717280" y="16651440"/>
            <a:ext cx="19431000" cy="3886200"/>
            <a:chOff x="2717280" y="16651440"/>
            <a:chExt cx="19410840" cy="3884760"/>
          </a:xfrm>
        </p:grpSpPr>
        <p:pic>
          <p:nvPicPr>
            <p:cNvPr id="465" name="Google Shape;184;p16_38" descr="Google Shape;184;p16_20"/>
            <p:cNvPicPr/>
            <p:nvPr/>
          </p:nvPicPr>
          <p:blipFill>
            <a:blip r:embed="rId50045"/>
            <a:stretch/>
          </p:blipFill>
          <p:spPr>
            <a:xfrm>
              <a:off x="2717280" y="166514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67" name="Group 19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468" name="Google Shape;73;p14_15" descr="Google Shape;73;p14"/>
            <p:cNvPicPr/>
            <p:nvPr/>
          </p:nvPicPr>
          <p:blipFill>
            <a:blip r:embed="rId50046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1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2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3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74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75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overview • DIYAM HOUSE OF SILVER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476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distribution of engagement (likes + comments)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77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distribution / day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78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9" name="CustomShape 10"/>
          <p:cNvSpPr/>
          <p:nvPr/>
        </p:nvSpPr>
        <p:spPr>
          <a:xfrm>
            <a:off x="2781000" y="14307840"/>
            <a:ext cx="412452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4.5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480" name="CustomShape 11"/>
          <p:cNvSpPr/>
          <p:nvPr/>
        </p:nvSpPr>
        <p:spPr>
          <a:xfrm>
            <a:off x="2847960" y="19257120"/>
            <a:ext cx="4139640" cy="8186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 eng / day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481" name="Group 12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482" name="Google Shape;220;p17_11" descr="Google Shape;220;p17_11"/>
            <p:cNvPicPr/>
            <p:nvPr/>
          </p:nvPicPr>
          <p:blipFill>
            <a:blip r:embed="rId50047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pic>
        <p:nvPicPr>
          <p:cNvPr id="484" name="Object 7_11" descr="Object 7_11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485" name="Group 14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486" name="Google Shape;220;p17_9" descr="Google Shape;220;p17_0"/>
            <p:cNvPicPr/>
            <p:nvPr/>
          </p:nvPicPr>
          <p:blipFill>
            <a:blip r:embed="rId50048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88" name="Group 16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489" name="Google Shape;73;p14_16" descr="Google Shape;73;p14"/>
            <p:cNvPicPr/>
            <p:nvPr/>
          </p:nvPicPr>
          <p:blipFill>
            <a:blip r:embed="rId50049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92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93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94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95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96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overview • Tiffany &amp; Co.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497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distribution of engagement (likes + comments)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98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distribution / day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99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00" name="CustomShape 10"/>
          <p:cNvSpPr/>
          <p:nvPr/>
        </p:nvSpPr>
        <p:spPr>
          <a:xfrm>
            <a:off x="2781000" y="14307840"/>
            <a:ext cx="412452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10.9K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501" name="CustomShape 11"/>
          <p:cNvSpPr/>
          <p:nvPr/>
        </p:nvSpPr>
        <p:spPr>
          <a:xfrm>
            <a:off x="2847960" y="19257120"/>
            <a:ext cx="4139640" cy="8186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 eng / day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502" name="Group 12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503" name="Google Shape;220;p17_16" descr="Google Shape;220;p17_11"/>
            <p:cNvPicPr/>
            <p:nvPr/>
          </p:nvPicPr>
          <p:blipFill>
            <a:blip r:embed="rId50050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pic>
        <p:nvPicPr>
          <p:cNvPr id="505" name="Object 7_19" descr="Object 7_11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506" name="Group 14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507" name="Google Shape;220;p17_15" descr="Google Shape;220;p17_0"/>
            <p:cNvPicPr/>
            <p:nvPr/>
          </p:nvPicPr>
          <p:blipFill>
            <a:blip r:embed="rId50051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509" name="Group 16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510" name="Google Shape;73;p14_17" descr="Google Shape;73;p14"/>
            <p:cNvPicPr/>
            <p:nvPr/>
          </p:nvPicPr>
          <p:blipFill>
            <a:blip r:embed="rId50052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3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4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5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16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17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overview • DIYAM HOUSE OF SILVER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518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distribution of engagement (likes + comments)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19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Best time to post by engagement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20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21" name="CustomShape 10"/>
          <p:cNvSpPr/>
          <p:nvPr/>
        </p:nvSpPr>
        <p:spPr>
          <a:xfrm>
            <a:off x="2781000" y="14963040"/>
            <a:ext cx="412452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sun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522" name="CustomShape 11"/>
          <p:cNvSpPr/>
          <p:nvPr/>
        </p:nvSpPr>
        <p:spPr>
          <a:xfrm>
            <a:off x="2847960" y="18983520"/>
            <a:ext cx="413964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Day with most engagement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523" name="Group 12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524" name="Google Shape;220;p17_14" descr="Google Shape;220;p17_11"/>
            <p:cNvPicPr/>
            <p:nvPr/>
          </p:nvPicPr>
          <p:blipFill>
            <a:blip r:embed="rId50053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526" name="CustomShape 14"/>
          <p:cNvSpPr/>
          <p:nvPr/>
        </p:nvSpPr>
        <p:spPr>
          <a:xfrm>
            <a:off x="9367920" y="1682208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27" name="CustomShape 15"/>
          <p:cNvSpPr/>
          <p:nvPr/>
        </p:nvSpPr>
        <p:spPr>
          <a:xfrm>
            <a:off x="9502920" y="14877720"/>
            <a:ext cx="412452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11 AM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528" name="CustomShape 16"/>
          <p:cNvSpPr/>
          <p:nvPr/>
        </p:nvSpPr>
        <p:spPr>
          <a:xfrm>
            <a:off x="9514800" y="18912240"/>
            <a:ext cx="411156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Hour with most engagement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529" name="Object 7_7" descr="Object 7_11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530" name="Group 17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531" name="Google Shape;220;p17_12" descr="Google Shape;220;p17_0"/>
            <p:cNvPicPr/>
            <p:nvPr/>
          </p:nvPicPr>
          <p:blipFill>
            <a:blip r:embed="rId50054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533" name="Group 19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534" name="Google Shape;73;p14_18" descr="Google Shape;73;p14"/>
            <p:cNvPicPr/>
            <p:nvPr/>
          </p:nvPicPr>
          <p:blipFill>
            <a:blip r:embed="rId50055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7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8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9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40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41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overview • Tiffany &amp; Co.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542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distribution of engagement (likes + comments)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43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Best time to post by engagement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44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45" name="CustomShape 10"/>
          <p:cNvSpPr/>
          <p:nvPr/>
        </p:nvSpPr>
        <p:spPr>
          <a:xfrm>
            <a:off x="2781000" y="14963040"/>
            <a:ext cx="412452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wed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546" name="CustomShape 11"/>
          <p:cNvSpPr/>
          <p:nvPr/>
        </p:nvSpPr>
        <p:spPr>
          <a:xfrm>
            <a:off x="2847960" y="18983520"/>
            <a:ext cx="413964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Day with most engagement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547" name="Group 12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548" name="Google Shape;220;p17_13" descr="Google Shape;220;p17_13"/>
            <p:cNvPicPr/>
            <p:nvPr/>
          </p:nvPicPr>
          <p:blipFill>
            <a:blip r:embed="rId50056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550" name="CustomShape 14"/>
          <p:cNvSpPr/>
          <p:nvPr/>
        </p:nvSpPr>
        <p:spPr>
          <a:xfrm>
            <a:off x="9367920" y="1682208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51" name="CustomShape 15"/>
          <p:cNvSpPr/>
          <p:nvPr/>
        </p:nvSpPr>
        <p:spPr>
          <a:xfrm>
            <a:off x="9502920" y="14877720"/>
            <a:ext cx="412452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4 PM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552" name="CustomShape 16"/>
          <p:cNvSpPr/>
          <p:nvPr/>
        </p:nvSpPr>
        <p:spPr>
          <a:xfrm>
            <a:off x="9514800" y="18912240"/>
            <a:ext cx="411156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Hour with most engagement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553" name="Object 7_12" descr="Object 7_12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554" name="Group 17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555" name="Google Shape;220;p17_4" descr="Google Shape;220;p17_0"/>
            <p:cNvPicPr/>
            <p:nvPr/>
          </p:nvPicPr>
          <p:blipFill>
            <a:blip r:embed="rId50057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557" name="Group 19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558" name="Google Shape;73;p14_19" descr="Google Shape;73;p14"/>
            <p:cNvPicPr/>
            <p:nvPr/>
          </p:nvPicPr>
          <p:blipFill>
            <a:blip r:embed="rId50058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61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62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63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64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565" name="Object 7_13" descr="Object 7_13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566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metrics  • DIYAM HOUSE OF SILVER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567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Breakdown of engagement for the profile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68" name="CustomShape 8"/>
          <p:cNvSpPr/>
          <p:nvPr/>
        </p:nvSpPr>
        <p:spPr>
          <a:xfrm>
            <a:off x="2840400" y="583128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Distribution of comments / day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69" name="CustomShape 9"/>
          <p:cNvSpPr/>
          <p:nvPr/>
        </p:nvSpPr>
        <p:spPr>
          <a:xfrm>
            <a:off x="2840400" y="1390860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Distribution of likes / day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70" name="CustomShape 10"/>
          <p:cNvSpPr/>
          <p:nvPr/>
        </p:nvSpPr>
        <p:spPr>
          <a:xfrm>
            <a:off x="24993360" y="65890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71" name="CustomShape 11"/>
          <p:cNvSpPr/>
          <p:nvPr/>
        </p:nvSpPr>
        <p:spPr>
          <a:xfrm>
            <a:off x="25128360" y="5961240"/>
            <a:ext cx="4078080" cy="42004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5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572" name="CustomShape 12"/>
          <p:cNvSpPr/>
          <p:nvPr/>
        </p:nvSpPr>
        <p:spPr>
          <a:xfrm>
            <a:off x="26090640" y="90997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comments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73" name="CustomShape 13"/>
          <p:cNvSpPr/>
          <p:nvPr/>
        </p:nvSpPr>
        <p:spPr>
          <a:xfrm>
            <a:off x="24993360" y="15542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74" name="CustomShape 14"/>
          <p:cNvSpPr/>
          <p:nvPr/>
        </p:nvSpPr>
        <p:spPr>
          <a:xfrm>
            <a:off x="25181280" y="15570000"/>
            <a:ext cx="4083480" cy="2890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130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575" name="CustomShape 15"/>
          <p:cNvSpPr/>
          <p:nvPr/>
        </p:nvSpPr>
        <p:spPr>
          <a:xfrm>
            <a:off x="26843400" y="180529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likes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76" name="CustomShape 16"/>
          <p:cNvSpPr/>
          <p:nvPr/>
        </p:nvSpPr>
        <p:spPr>
          <a:xfrm>
            <a:off x="2705400" y="12602880"/>
            <a:ext cx="26656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577" name="Group 17"/>
          <p:cNvGrpSpPr/>
          <p:nvPr/>
        </p:nvGrpSpPr>
        <p:grpSpPr>
          <a:xfrm>
            <a:off x="2716200" y="7763040"/>
            <a:ext cx="19431000" cy="3886200"/>
            <a:chOff x="2716200" y="7763040"/>
            <a:chExt cx="19410840" cy="3884760"/>
          </a:xfrm>
        </p:grpSpPr>
        <p:pic>
          <p:nvPicPr>
            <p:cNvPr id="578" name="Google Shape;184;p16_28" descr="Google Shape;184;p16_28"/>
            <p:cNvPicPr/>
            <p:nvPr/>
          </p:nvPicPr>
          <p:blipFill>
            <a:blip r:embed="rId50059"/>
            <a:stretch/>
          </p:blipFill>
          <p:spPr>
            <a:xfrm>
              <a:off x="2716200" y="77630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580" name="Group 19"/>
          <p:cNvGrpSpPr/>
          <p:nvPr/>
        </p:nvGrpSpPr>
        <p:grpSpPr>
          <a:xfrm>
            <a:off x="2717280" y="16651440"/>
            <a:ext cx="19431000" cy="3886200"/>
            <a:chOff x="2717280" y="16651440"/>
            <a:chExt cx="19410840" cy="3884760"/>
          </a:xfrm>
        </p:grpSpPr>
        <p:pic>
          <p:nvPicPr>
            <p:cNvPr id="581" name="Google Shape;184;p16_29" descr="Google Shape;184;p16_29"/>
            <p:cNvPicPr/>
            <p:nvPr/>
          </p:nvPicPr>
          <p:blipFill>
            <a:blip r:embed="rId50060"/>
            <a:stretch/>
          </p:blipFill>
          <p:spPr>
            <a:xfrm>
              <a:off x="2717280" y="166514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583" name="Group 21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584" name="Google Shape;220;p17_22" descr="Google Shape;220;p17_0"/>
            <p:cNvPicPr/>
            <p:nvPr/>
          </p:nvPicPr>
          <p:blipFill>
            <a:blip r:embed="rId50061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586" name="Group 23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587" name="Google Shape;73;p14_20" descr="Google Shape;73;p14"/>
            <p:cNvPicPr/>
            <p:nvPr/>
          </p:nvPicPr>
          <p:blipFill>
            <a:blip r:embed="rId50062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90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91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92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93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594" name="Object 7_14" descr="Object 7_14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595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metrics  • Tiffany &amp; Co.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596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Breakdown of engagement for the profile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97" name="CustomShape 8"/>
          <p:cNvSpPr/>
          <p:nvPr/>
        </p:nvSpPr>
        <p:spPr>
          <a:xfrm>
            <a:off x="2840400" y="583128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Distribution of comments / day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98" name="CustomShape 9"/>
          <p:cNvSpPr/>
          <p:nvPr/>
        </p:nvSpPr>
        <p:spPr>
          <a:xfrm>
            <a:off x="2840400" y="1390860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Distribution of likes / day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99" name="CustomShape 10"/>
          <p:cNvSpPr/>
          <p:nvPr/>
        </p:nvSpPr>
        <p:spPr>
          <a:xfrm>
            <a:off x="24993360" y="65890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00" name="CustomShape 11"/>
          <p:cNvSpPr/>
          <p:nvPr/>
        </p:nvSpPr>
        <p:spPr>
          <a:xfrm>
            <a:off x="25128360" y="5961240"/>
            <a:ext cx="4078080" cy="42004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3374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601" name="CustomShape 12"/>
          <p:cNvSpPr/>
          <p:nvPr/>
        </p:nvSpPr>
        <p:spPr>
          <a:xfrm>
            <a:off x="26090640" y="90997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comments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02" name="CustomShape 13"/>
          <p:cNvSpPr/>
          <p:nvPr/>
        </p:nvSpPr>
        <p:spPr>
          <a:xfrm>
            <a:off x="24993360" y="15542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03" name="CustomShape 14"/>
          <p:cNvSpPr/>
          <p:nvPr/>
        </p:nvSpPr>
        <p:spPr>
          <a:xfrm>
            <a:off x="25181280" y="15570000"/>
            <a:ext cx="4083480" cy="2890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324.3K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604" name="CustomShape 15"/>
          <p:cNvSpPr/>
          <p:nvPr/>
        </p:nvSpPr>
        <p:spPr>
          <a:xfrm>
            <a:off x="26843400" y="180529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likes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05" name="CustomShape 16"/>
          <p:cNvSpPr/>
          <p:nvPr/>
        </p:nvSpPr>
        <p:spPr>
          <a:xfrm>
            <a:off x="2705400" y="12602880"/>
            <a:ext cx="26656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606" name="Group 17"/>
          <p:cNvGrpSpPr/>
          <p:nvPr/>
        </p:nvGrpSpPr>
        <p:grpSpPr>
          <a:xfrm>
            <a:off x="2716200" y="7763040"/>
            <a:ext cx="19431000" cy="3886200"/>
            <a:chOff x="2716200" y="7763040"/>
            <a:chExt cx="19410840" cy="3884760"/>
          </a:xfrm>
        </p:grpSpPr>
        <p:pic>
          <p:nvPicPr>
            <p:cNvPr id="607" name="Google Shape;184;p16_30" descr="Google Shape;184;p16_30"/>
            <p:cNvPicPr/>
            <p:nvPr/>
          </p:nvPicPr>
          <p:blipFill>
            <a:blip r:embed="rId50063"/>
            <a:stretch/>
          </p:blipFill>
          <p:spPr>
            <a:xfrm>
              <a:off x="2716200" y="77630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609" name="Group 19"/>
          <p:cNvGrpSpPr/>
          <p:nvPr/>
        </p:nvGrpSpPr>
        <p:grpSpPr>
          <a:xfrm>
            <a:off x="2717280" y="16651440"/>
            <a:ext cx="19431000" cy="3886200"/>
            <a:chOff x="2717280" y="16651440"/>
            <a:chExt cx="19410840" cy="3884760"/>
          </a:xfrm>
        </p:grpSpPr>
        <p:pic>
          <p:nvPicPr>
            <p:cNvPr id="610" name="Google Shape;184;p16_31" descr="Google Shape;184;p16_31"/>
            <p:cNvPicPr/>
            <p:nvPr/>
          </p:nvPicPr>
          <p:blipFill>
            <a:blip r:embed="rId50064"/>
            <a:stretch/>
          </p:blipFill>
          <p:spPr>
            <a:xfrm>
              <a:off x="2717280" y="166514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612" name="Group 21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613" name="Google Shape;220;p17_23" descr="Google Shape;220;p17_0"/>
            <p:cNvPicPr/>
            <p:nvPr/>
          </p:nvPicPr>
          <p:blipFill>
            <a:blip r:embed="rId50065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615" name="Group 23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616" name="Google Shape;73;p14_21" descr="Google Shape;73;p14"/>
            <p:cNvPicPr/>
            <p:nvPr/>
          </p:nvPicPr>
          <p:blipFill>
            <a:blip r:embed="rId50066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19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0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1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622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623" name="Object 7_15" descr="Object 7_15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624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Hashtag analysis • DIYAM HOUSE OF SILVER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625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what hashtags are used the most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26" name="CustomShape 8"/>
          <p:cNvSpPr/>
          <p:nvPr/>
        </p:nvSpPr>
        <p:spPr>
          <a:xfrm>
            <a:off x="2840400" y="583128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Most used hashtags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627" name="CustomShape 9"/>
          <p:cNvSpPr/>
          <p:nvPr/>
        </p:nvSpPr>
        <p:spPr>
          <a:xfrm>
            <a:off x="24993360" y="65890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8" name="CustomShape 10"/>
          <p:cNvSpPr/>
          <p:nvPr/>
        </p:nvSpPr>
        <p:spPr>
          <a:xfrm>
            <a:off x="25128360" y="4650840"/>
            <a:ext cx="413640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3.8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629" name="CustomShape 11"/>
          <p:cNvSpPr/>
          <p:nvPr/>
        </p:nvSpPr>
        <p:spPr>
          <a:xfrm>
            <a:off x="25754760" y="90997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hashtags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30" name="CustomShape 12"/>
          <p:cNvSpPr/>
          <p:nvPr/>
        </p:nvSpPr>
        <p:spPr>
          <a:xfrm>
            <a:off x="26685720" y="951876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/ post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31" name="CustomShape 13"/>
          <p:cNvSpPr/>
          <p:nvPr/>
        </p:nvSpPr>
        <p:spPr>
          <a:xfrm>
            <a:off x="20302920" y="12808800"/>
            <a:ext cx="6028560" cy="1731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925silver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elegantjewellery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luxurystyle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necklacedesign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silverjewellery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bangalore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hyderabad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632" name="CustomShape 14"/>
          <p:cNvSpPr/>
          <p:nvPr/>
        </p:nvSpPr>
        <p:spPr>
          <a:xfrm>
            <a:off x="26890920" y="12809880"/>
            <a:ext cx="6028560" cy="1731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22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22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22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22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22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8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8 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633" name="Group 15"/>
          <p:cNvGrpSpPr/>
          <p:nvPr/>
        </p:nvGrpSpPr>
        <p:grpSpPr>
          <a:xfrm>
            <a:off x="2716200" y="8402400"/>
            <a:ext cx="15716250" cy="9429750"/>
            <a:chOff x="2716200" y="8402400"/>
            <a:chExt cx="15652440" cy="9398160"/>
          </a:xfrm>
        </p:grpSpPr>
        <p:pic>
          <p:nvPicPr>
            <p:cNvPr id="634" name="Google Shape;184;p16_33" descr="Google Shape;184;p16_33"/>
            <p:cNvPicPr/>
            <p:nvPr/>
          </p:nvPicPr>
          <p:blipFill>
            <a:blip r:embed="rId50067"/>
            <a:stretch/>
          </p:blipFill>
          <p:spPr>
            <a:xfrm>
              <a:off x="2716200" y="8402400"/>
              <a:ext cx="15652440" cy="939816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636" name="CustomShape 17"/>
          <p:cNvSpPr/>
          <p:nvPr/>
        </p:nvSpPr>
        <p:spPr>
          <a:xfrm>
            <a:off x="20434680" y="11795760"/>
            <a:ext cx="5754240" cy="1092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0" b="0" strike="noStrike" spc="-4">
                <a:solidFill>
                  <a:srgbClr val="000000"/>
                </a:solidFill>
                <a:latin typeface="Arial"/>
                <a:ea typeface="Arial"/>
              </a:rPr>
              <a:t>Hashtags</a:t>
            </a:r>
            <a:endParaRPr lang="en-US" sz="5400" b="0" strike="noStrike" spc="-1">
              <a:latin typeface="Arial"/>
            </a:endParaRPr>
          </a:p>
        </p:txBody>
      </p:sp>
      <p:sp>
        <p:nvSpPr>
          <p:cNvPr id="637" name="CustomShape 18"/>
          <p:cNvSpPr/>
          <p:nvPr/>
        </p:nvSpPr>
        <p:spPr>
          <a:xfrm>
            <a:off x="26266680" y="11795760"/>
            <a:ext cx="5754240" cy="1092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0" b="0" strike="noStrike" spc="-4">
                <a:solidFill>
                  <a:srgbClr val="000000"/>
                </a:solidFill>
                <a:latin typeface="Arial"/>
                <a:ea typeface="Arial"/>
              </a:rPr>
              <a:t>Occurrences</a:t>
            </a:r>
            <a:endParaRPr lang="en-US" sz="5400" b="0" strike="noStrike" spc="-1">
              <a:latin typeface="Arial"/>
            </a:endParaRPr>
          </a:p>
        </p:txBody>
      </p:sp>
      <p:grpSp>
        <p:nvGrpSpPr>
          <p:cNvPr id="638" name="Group 19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639" name="Google Shape;220;p17_24" descr="Google Shape;220;p17_0"/>
            <p:cNvPicPr/>
            <p:nvPr/>
          </p:nvPicPr>
          <p:blipFill>
            <a:blip r:embed="rId50068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641" name="Group 21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642" name="Google Shape;73;p14_22" descr="Google Shape;73;p14"/>
            <p:cNvPicPr/>
            <p:nvPr/>
          </p:nvPicPr>
          <p:blipFill>
            <a:blip r:embed="rId50069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5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6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7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648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20 Jun 2026 - 19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649" name="Object 7_17" descr="Object 7_17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650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Hashtag analysis • Tiffany &amp; Co.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651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what hashtags are used the most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52" name="CustomShape 8"/>
          <p:cNvSpPr/>
          <p:nvPr/>
        </p:nvSpPr>
        <p:spPr>
          <a:xfrm>
            <a:off x="2840400" y="583128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Most used hashtags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653" name="CustomShape 9"/>
          <p:cNvSpPr/>
          <p:nvPr/>
        </p:nvSpPr>
        <p:spPr>
          <a:xfrm>
            <a:off x="24993360" y="65890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54" name="CustomShape 10"/>
          <p:cNvSpPr/>
          <p:nvPr/>
        </p:nvSpPr>
        <p:spPr>
          <a:xfrm>
            <a:off x="25128360" y="4650840"/>
            <a:ext cx="413640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1.3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655" name="CustomShape 11"/>
          <p:cNvSpPr/>
          <p:nvPr/>
        </p:nvSpPr>
        <p:spPr>
          <a:xfrm>
            <a:off x="25754760" y="90997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hashtags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56" name="CustomShape 12"/>
          <p:cNvSpPr/>
          <p:nvPr/>
        </p:nvSpPr>
        <p:spPr>
          <a:xfrm>
            <a:off x="26685720" y="951876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/ post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57" name="CustomShape 13"/>
          <p:cNvSpPr/>
          <p:nvPr/>
        </p:nvSpPr>
        <p:spPr>
          <a:xfrm>
            <a:off x="20302920" y="12808800"/>
            <a:ext cx="6028560" cy="1731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tiffanyandco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elsaperetti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america250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tiffanywatches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658" name="CustomShape 14"/>
          <p:cNvSpPr/>
          <p:nvPr/>
        </p:nvSpPr>
        <p:spPr>
          <a:xfrm>
            <a:off x="26890920" y="12809880"/>
            <a:ext cx="6028560" cy="1731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26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4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 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659" name="Group 15"/>
          <p:cNvGrpSpPr/>
          <p:nvPr/>
        </p:nvGrpSpPr>
        <p:grpSpPr>
          <a:xfrm>
            <a:off x="2716200" y="8402400"/>
            <a:ext cx="15716250" cy="9429750"/>
            <a:chOff x="2716200" y="8402400"/>
            <a:chExt cx="15652440" cy="9398160"/>
          </a:xfrm>
        </p:grpSpPr>
        <p:pic>
          <p:nvPicPr>
            <p:cNvPr id="660" name="Google Shape;184;p16_36" descr="Google Shape;184;p16_36"/>
            <p:cNvPicPr/>
            <p:nvPr/>
          </p:nvPicPr>
          <p:blipFill>
            <a:blip r:embed="rId50070"/>
            <a:stretch/>
          </p:blipFill>
          <p:spPr>
            <a:xfrm>
              <a:off x="2716200" y="8402400"/>
              <a:ext cx="15652440" cy="939816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662" name="CustomShape 17"/>
          <p:cNvSpPr/>
          <p:nvPr/>
        </p:nvSpPr>
        <p:spPr>
          <a:xfrm>
            <a:off x="20434680" y="11795760"/>
            <a:ext cx="5754240" cy="1092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0" b="0" strike="noStrike" spc="-4">
                <a:solidFill>
                  <a:srgbClr val="000000"/>
                </a:solidFill>
                <a:latin typeface="Arial"/>
                <a:ea typeface="Arial"/>
              </a:rPr>
              <a:t>Hashtags</a:t>
            </a:r>
            <a:endParaRPr lang="en-US" sz="5400" b="0" strike="noStrike" spc="-1">
              <a:latin typeface="Arial"/>
            </a:endParaRPr>
          </a:p>
        </p:txBody>
      </p:sp>
      <p:sp>
        <p:nvSpPr>
          <p:cNvPr id="663" name="CustomShape 18"/>
          <p:cNvSpPr/>
          <p:nvPr/>
        </p:nvSpPr>
        <p:spPr>
          <a:xfrm>
            <a:off x="26266680" y="11795760"/>
            <a:ext cx="5754240" cy="1092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0" b="0" strike="noStrike" spc="-4">
                <a:solidFill>
                  <a:srgbClr val="000000"/>
                </a:solidFill>
                <a:latin typeface="Arial"/>
                <a:ea typeface="Arial"/>
              </a:rPr>
              <a:t>Occurrences</a:t>
            </a:r>
            <a:endParaRPr lang="en-US" sz="5400" b="0" strike="noStrike" spc="-1">
              <a:latin typeface="Arial"/>
            </a:endParaRPr>
          </a:p>
        </p:txBody>
      </p:sp>
      <p:grpSp>
        <p:nvGrpSpPr>
          <p:cNvPr id="664" name="Group 19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665" name="Google Shape;220;p17_25" descr="Google Shape;220;p17_0"/>
            <p:cNvPicPr/>
            <p:nvPr/>
          </p:nvPicPr>
          <p:blipFill>
            <a:blip r:embed="rId50071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667" name="Group 21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668" name="Google Shape;73;p14_23" descr="Google Shape;73;p14"/>
            <p:cNvPicPr/>
            <p:nvPr/>
          </p:nvPicPr>
          <p:blipFill>
            <a:blip r:embed="rId50072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Application>Microsoft Office PowerPoint</Application>
  <PresentationFormat>Custom</PresentationFormat>
  <Slides>20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dc:description/>
  <cp:lastModifiedBy/>
  <cp:revision>13</cp:revision>
  <dcterms:modified xsi:type="dcterms:W3CDTF">2021-09-20T12:52:56Z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Notes">
    <vt:i4>0</vt:i4>
  </property>
  <property fmtid="{D5CDD505-2E9C-101B-9397-08002B2CF9AE}" pid="7" name="PresentationFormat">
    <vt:lpwstr>Custom</vt:lpwstr>
  </property>
  <property fmtid="{D5CDD505-2E9C-101B-9397-08002B2CF9AE}" pid="8" name="ScaleCrop">
    <vt:bool>false</vt:bool>
  </property>
  <property fmtid="{D5CDD505-2E9C-101B-9397-08002B2CF9AE}" pid="9" name="ShareDoc">
    <vt:bool>false</vt:bool>
  </property>
  <property fmtid="{D5CDD505-2E9C-101B-9397-08002B2CF9AE}" pid="10" name="Slides">
    <vt:i4>20</vt:i4>
  </property>
</Properties>
</file>