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1949072"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PUKHRAJJEWELLS_SILVERNGP</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767921"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@pukhrajjewells_silverngp</a:t>
            </a:r>
            <a:endParaRPr lang="en-US" sz="1000" dirty="0"/>
          </a:p>
        </p:txBody>
      </p:sp>
      <p:sp>
        <p:nvSpPr>
          <p:cNvPr id="7" name="Text 4"/>
          <p:cNvSpPr/>
          <p:nvPr/>
        </p:nvSpPr>
        <p:spPr>
          <a:xfrm>
            <a:off x="2174232"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2174232" y="6589652"/>
            <a:ext cx="175105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20 Jun 2026 - 19 Jul 2026</a:t>
            </a:r>
            <a:endParaRPr lang="en-US" sz="1000" dirty="0"/>
          </a:p>
        </p:txBody>
      </p:sp>
      <p:sp>
        <p:nvSpPr>
          <p:cNvPr id="9" name="Text 6"/>
          <p:cNvSpPr/>
          <p:nvPr/>
        </p:nvSpPr>
        <p:spPr>
          <a:xfrm>
            <a:off x="4077665"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4077665" y="6589652"/>
            <a:ext cx="179941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21 May 2026 - 19 Jun 2026</a:t>
            </a:r>
            <a:endParaRPr lang="en-US" sz="1000" dirty="0"/>
          </a:p>
        </p:txBody>
      </p:sp>
      <p:sp>
        <p:nvSpPr>
          <p:cNvPr id="11" name="Text 8"/>
          <p:cNvSpPr/>
          <p:nvPr/>
        </p:nvSpPr>
        <p:spPr>
          <a:xfrm>
            <a:off x="6029504"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6029504"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866433"/>
            <a:ext cx="5713571" cy="3021844"/>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Between June 20 and July 19, SILVANA's Instagram profile experienced a dynamic growth phase highlighted by significant increases in engagement and reach. The follower base grew modestly by 504 new followers, representing a growth rate of 0.85%.Notably, the posting activity more than doubled, with 55 posts made compared to just 21 in the previous period, predominantly consisting of reels. This surge in content production drove remarkable enhancements in audience interaction, with total engagement soaring to 178,707 from 22,743 previously, and average engagement per post nearly tripling to 3,249.22.Likes and comments also rose considerably, indicating strong audience involvement. The profile's content reached over 6.7 million accounts, a vast improvement over 990,430 before, leading to over 10.7 million total impressions and an engagement rate per post at 5.41%, significantly up from 1.82%.These factors contributed to elevated earned media values, underscoring the increased brand exposure and influence during this timeframe. Overall, SILVANA's strategic increase in posting frequency, especially with reels, effectively enhanced visibility and audience engagement.</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A strong period — most metrics moved in the right direction.</a:t>
            </a:r>
            <a:endParaRPr lang="en-US" sz="2999" dirty="0"/>
          </a:p>
        </p:txBody>
      </p:sp>
      <p:sp>
        <p:nvSpPr>
          <p:cNvPr id="7" name="Text 4"/>
          <p:cNvSpPr/>
          <p:nvPr/>
        </p:nvSpPr>
        <p:spPr>
          <a:xfrm>
            <a:off x="342814" y="3916971"/>
            <a:ext cx="2196687"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5.41 %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1069770"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197.29%</a:t>
            </a:r>
            <a:endParaRPr lang="en-US" sz="1800" dirty="0"/>
          </a:p>
        </p:txBody>
      </p:sp>
      <p:sp>
        <p:nvSpPr>
          <p:cNvPr id="10" name="Text 7"/>
          <p:cNvSpPr/>
          <p:nvPr/>
        </p:nvSpPr>
        <p:spPr>
          <a:xfrm>
            <a:off x="4547546" y="3916971"/>
            <a:ext cx="199953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10.8M</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1134828"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579.02%</a:t>
            </a:r>
            <a:endParaRPr lang="en-US" sz="1800" dirty="0"/>
          </a:p>
        </p:txBody>
      </p:sp>
      <p:sp>
        <p:nvSpPr>
          <p:cNvPr id="13" name="Text 10"/>
          <p:cNvSpPr/>
          <p:nvPr/>
        </p:nvSpPr>
        <p:spPr>
          <a:xfrm>
            <a:off x="8752378" y="3916971"/>
            <a:ext cx="167870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6.7M</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1134828"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579.02%</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We posted 161.90% more, and got 685.77% more engagement.</a:t>
            </a:r>
            <a:endParaRPr lang="en-US" sz="3599" dirty="0"/>
          </a:p>
        </p:txBody>
      </p:sp>
      <p:sp>
        <p:nvSpPr>
          <p:cNvPr id="8" name="Text 5"/>
          <p:cNvSpPr/>
          <p:nvPr/>
        </p:nvSpPr>
        <p:spPr>
          <a:xfrm>
            <a:off x="374556" y="2558410"/>
            <a:ext cx="4658272"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The engagement gain ran 4.2x ahead of the output increase. Quality compounded.</a:t>
            </a:r>
            <a:endParaRPr lang="en-US" sz="900" dirty="0"/>
          </a:p>
        </p:txBody>
      </p:sp>
      <p:sp>
        <p:nvSpPr>
          <p:cNvPr id="9" name="Text 6"/>
          <p:cNvSpPr/>
          <p:nvPr/>
        </p:nvSpPr>
        <p:spPr>
          <a:xfrm>
            <a:off x="501525" y="4107423"/>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10" name="Text 7"/>
          <p:cNvSpPr/>
          <p:nvPr/>
        </p:nvSpPr>
        <p:spPr>
          <a:xfrm>
            <a:off x="501525" y="4685128"/>
            <a:ext cx="611754"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55</a:t>
            </a:r>
            <a:endParaRPr lang="en-US" sz="2999" dirty="0"/>
          </a:p>
        </p:txBody>
      </p:sp>
      <p:sp>
        <p:nvSpPr>
          <p:cNvPr id="11" name="Text 8"/>
          <p:cNvSpPr/>
          <p:nvPr/>
        </p:nvSpPr>
        <p:spPr>
          <a:xfrm>
            <a:off x="691977" y="5269182"/>
            <a:ext cx="795604"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161.9%</a:t>
            </a:r>
            <a:endParaRPr lang="en-US" sz="1500" dirty="0"/>
          </a:p>
        </p:txBody>
      </p:sp>
      <p:sp>
        <p:nvSpPr>
          <p:cNvPr id="12" name="Text 9"/>
          <p:cNvSpPr/>
          <p:nvPr/>
        </p:nvSpPr>
        <p:spPr>
          <a:xfrm>
            <a:off x="3399575" y="4107423"/>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3" name="Text 10"/>
          <p:cNvSpPr/>
          <p:nvPr/>
        </p:nvSpPr>
        <p:spPr>
          <a:xfrm>
            <a:off x="3399575" y="4685128"/>
            <a:ext cx="134213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178.7K</a:t>
            </a:r>
            <a:endParaRPr lang="en-US" sz="2999" dirty="0"/>
          </a:p>
        </p:txBody>
      </p:sp>
      <p:sp>
        <p:nvSpPr>
          <p:cNvPr id="14" name="Text 11"/>
          <p:cNvSpPr/>
          <p:nvPr/>
        </p:nvSpPr>
        <p:spPr>
          <a:xfrm>
            <a:off x="3590027" y="5269182"/>
            <a:ext cx="966992"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685.77%</a:t>
            </a:r>
            <a:endParaRPr lang="en-US" sz="1500" dirty="0"/>
          </a:p>
        </p:txBody>
      </p:sp>
      <p:sp>
        <p:nvSpPr>
          <p:cNvPr id="15" name="Text 12"/>
          <p:cNvSpPr/>
          <p:nvPr/>
        </p:nvSpPr>
        <p:spPr>
          <a:xfrm>
            <a:off x="6297625" y="4107423"/>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6" name="Text 13"/>
          <p:cNvSpPr/>
          <p:nvPr/>
        </p:nvSpPr>
        <p:spPr>
          <a:xfrm>
            <a:off x="6297625" y="4685128"/>
            <a:ext cx="121696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3,249</a:t>
            </a:r>
            <a:endParaRPr lang="en-US" sz="2999" dirty="0"/>
          </a:p>
        </p:txBody>
      </p:sp>
      <p:sp>
        <p:nvSpPr>
          <p:cNvPr id="17" name="Text 14"/>
          <p:cNvSpPr/>
          <p:nvPr/>
        </p:nvSpPr>
        <p:spPr>
          <a:xfrm>
            <a:off x="6488078" y="5269182"/>
            <a:ext cx="992566"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200.02%</a:t>
            </a:r>
            <a:endParaRPr lang="en-US" sz="1500" dirty="0"/>
          </a:p>
        </p:txBody>
      </p:sp>
      <p:sp>
        <p:nvSpPr>
          <p:cNvPr id="18" name="Text 15"/>
          <p:cNvSpPr/>
          <p:nvPr/>
        </p:nvSpPr>
        <p:spPr>
          <a:xfrm>
            <a:off x="9195676" y="4107423"/>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9" name="Text 16"/>
          <p:cNvSpPr/>
          <p:nvPr/>
        </p:nvSpPr>
        <p:spPr>
          <a:xfrm>
            <a:off x="9195676" y="4685128"/>
            <a:ext cx="1171766"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5,957</a:t>
            </a:r>
            <a:endParaRPr lang="en-US" sz="2999" dirty="0"/>
          </a:p>
        </p:txBody>
      </p:sp>
      <p:sp>
        <p:nvSpPr>
          <p:cNvPr id="20" name="Text 17"/>
          <p:cNvSpPr/>
          <p:nvPr/>
        </p:nvSpPr>
        <p:spPr>
          <a:xfrm>
            <a:off x="9386128" y="5269182"/>
            <a:ext cx="966992"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685.77%</a:t>
            </a:r>
            <a:endParaRPr lang="en-US" sz="1500" dirty="0"/>
          </a:p>
        </p:txBody>
      </p:sp>
      <p:sp>
        <p:nvSpPr>
          <p:cNvPr id="21" name="Text 1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2" name="Text 1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1961659"/>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 made up the majority of posts published during this period.</a:t>
            </a:r>
            <a:endParaRPr lang="en-US" sz="3599" dirty="0"/>
          </a:p>
        </p:txBody>
      </p:sp>
      <p:sp>
        <p:nvSpPr>
          <p:cNvPr id="7" name="Text 4"/>
          <p:cNvSpPr/>
          <p:nvPr/>
        </p:nvSpPr>
        <p:spPr>
          <a:xfrm>
            <a:off x="374556" y="3497975"/>
            <a:ext cx="3461323"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Reel accounted for 100% of posts and 100% of engagement.</a:t>
            </a:r>
            <a:endParaRPr lang="en-US" sz="900" dirty="0"/>
          </a:p>
        </p:txBody>
      </p:sp>
      <p:sp>
        <p:nvSpPr>
          <p:cNvPr id="8" name="Text 5"/>
          <p:cNvSpPr/>
          <p:nvPr/>
        </p:nvSpPr>
        <p:spPr>
          <a:xfrm>
            <a:off x="679280" y="4374056"/>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0" name="Text 7"/>
          <p:cNvSpPr/>
          <p:nvPr/>
        </p:nvSpPr>
        <p:spPr>
          <a:xfrm>
            <a:off x="11537645" y="3237690"/>
            <a:ext cx="276751"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55</a:t>
            </a:r>
            <a:endParaRPr lang="en-US" sz="800" dirty="0"/>
          </a:p>
        </p:txBody>
      </p:sp>
      <p:sp>
        <p:nvSpPr>
          <p:cNvPr id="11" name="Text 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2" name="Text 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688753"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SILVANA</a:t>
            </a:r>
            <a:endParaRPr lang="en-US" sz="1000" dirty="0"/>
          </a:p>
        </p:txBody>
      </p:sp>
      <p:sp>
        <p:nvSpPr>
          <p:cNvPr id="6" name="Text 3"/>
          <p:cNvSpPr/>
          <p:nvPr/>
        </p:nvSpPr>
        <p:spPr>
          <a:xfrm>
            <a:off x="1422044" y="1187153"/>
            <a:ext cx="76915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60012 followers</a:t>
            </a:r>
            <a:endParaRPr lang="en-US" sz="650" dirty="0"/>
          </a:p>
        </p:txBody>
      </p:sp>
      <p:sp>
        <p:nvSpPr>
          <p:cNvPr id="7" name="Text 4"/>
          <p:cNvSpPr/>
          <p:nvPr/>
        </p:nvSpPr>
        <p:spPr>
          <a:xfrm>
            <a:off x="3061621" y="1022094"/>
            <a:ext cx="765331"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02,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Chandi hali ho jae… uska kala sach 😎✅ Sabko lagta hai silver sirf sa...</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635839"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175.26%</a:t>
            </a:r>
            <a:endParaRPr lang="en-US" sz="900" dirty="0"/>
          </a:p>
        </p:txBody>
      </p:sp>
      <p:sp>
        <p:nvSpPr>
          <p:cNvPr id="13" name="Text 10"/>
          <p:cNvSpPr/>
          <p:nvPr/>
        </p:nvSpPr>
        <p:spPr>
          <a:xfrm>
            <a:off x="1091927" y="4862884"/>
            <a:ext cx="39826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5.7M</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49988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104.6K</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32252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551</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40734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3.6M</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688753"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SILVANA</a:t>
            </a:r>
            <a:endParaRPr lang="en-US" sz="1000" dirty="0"/>
          </a:p>
        </p:txBody>
      </p:sp>
      <p:sp>
        <p:nvSpPr>
          <p:cNvPr id="22" name="Text 19"/>
          <p:cNvSpPr/>
          <p:nvPr/>
        </p:nvSpPr>
        <p:spPr>
          <a:xfrm>
            <a:off x="5133683" y="1187153"/>
            <a:ext cx="76915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60012 followers</a:t>
            </a:r>
            <a:endParaRPr lang="en-US" sz="650" dirty="0"/>
          </a:p>
        </p:txBody>
      </p:sp>
      <p:sp>
        <p:nvSpPr>
          <p:cNvPr id="23" name="Text 20"/>
          <p:cNvSpPr/>
          <p:nvPr/>
        </p:nvSpPr>
        <p:spPr>
          <a:xfrm>
            <a:off x="6739435" y="1022094"/>
            <a:ext cx="799206"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Jun 30,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 BREAKING: Historic Gold Rate Update! 📉😱 आज Gold Rate में एक और ब...</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520564"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9.82%</a:t>
            </a:r>
            <a:endParaRPr lang="en-US" sz="900" dirty="0"/>
          </a:p>
        </p:txBody>
      </p:sp>
      <p:sp>
        <p:nvSpPr>
          <p:cNvPr id="29" name="Text 26"/>
          <p:cNvSpPr/>
          <p:nvPr/>
        </p:nvSpPr>
        <p:spPr>
          <a:xfrm>
            <a:off x="4803566" y="4862884"/>
            <a:ext cx="51218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478.5K</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43427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5,789</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32783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105</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48788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298.1K</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688753"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SILVANA</a:t>
            </a:r>
            <a:endParaRPr lang="en-US" sz="1000" dirty="0"/>
          </a:p>
        </p:txBody>
      </p:sp>
      <p:sp>
        <p:nvSpPr>
          <p:cNvPr id="38" name="Text 35"/>
          <p:cNvSpPr/>
          <p:nvPr/>
        </p:nvSpPr>
        <p:spPr>
          <a:xfrm>
            <a:off x="8845422" y="1187153"/>
            <a:ext cx="76915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60012 followers</a:t>
            </a:r>
            <a:endParaRPr lang="en-US" sz="650" dirty="0"/>
          </a:p>
        </p:txBody>
      </p:sp>
      <p:sp>
        <p:nvSpPr>
          <p:cNvPr id="39" name="Text 36"/>
          <p:cNvSpPr/>
          <p:nvPr/>
        </p:nvSpPr>
        <p:spPr>
          <a:xfrm>
            <a:off x="10456431" y="1022094"/>
            <a:ext cx="793948"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Jun 25,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 HISTORIC DROP IN GOLD RATE! 💥💥 At the beginning of the year, g...</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530049"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8.49%</a:t>
            </a:r>
            <a:endParaRPr lang="en-US" sz="900" dirty="0"/>
          </a:p>
        </p:txBody>
      </p:sp>
      <p:sp>
        <p:nvSpPr>
          <p:cNvPr id="45" name="Text 42"/>
          <p:cNvSpPr/>
          <p:nvPr/>
        </p:nvSpPr>
        <p:spPr>
          <a:xfrm>
            <a:off x="8515304" y="4862884"/>
            <a:ext cx="52052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346.2K</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44260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5,029</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28429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69</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48446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215.7K</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173.9K Total Organic Likes — a volatile period.</a:t>
            </a:r>
            <a:endParaRPr lang="en-US" sz="2999" dirty="0"/>
          </a:p>
        </p:txBody>
      </p:sp>
      <p:sp>
        <p:nvSpPr>
          <p:cNvPr id="8" name="Text 5"/>
          <p:cNvSpPr/>
          <p:nvPr/>
        </p:nvSpPr>
        <p:spPr>
          <a:xfrm>
            <a:off x="374556" y="2983754"/>
            <a:ext cx="3781472"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Total Organic Likes and Total Organic Comments improved this period.</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112337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173.9K</a:t>
            </a:r>
            <a:endParaRPr lang="en-US" sz="2399" dirty="0"/>
          </a:p>
        </p:txBody>
      </p:sp>
      <p:sp>
        <p:nvSpPr>
          <p:cNvPr id="11" name="Text 8"/>
          <p:cNvSpPr/>
          <p:nvPr/>
        </p:nvSpPr>
        <p:spPr>
          <a:xfrm>
            <a:off x="526918" y="4754961"/>
            <a:ext cx="812547"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705.34%</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183729" y="4278830"/>
            <a:ext cx="91670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4,761</a:t>
            </a:r>
            <a:endParaRPr lang="en-US" sz="2399" dirty="0"/>
          </a:p>
        </p:txBody>
      </p:sp>
      <p:sp>
        <p:nvSpPr>
          <p:cNvPr id="14" name="Text 11"/>
          <p:cNvSpPr/>
          <p:nvPr/>
        </p:nvSpPr>
        <p:spPr>
          <a:xfrm>
            <a:off x="3336091" y="4754961"/>
            <a:ext cx="736589"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316.17%</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Reels was mixed — some metrics increased while others decreased.</a:t>
            </a:r>
            <a:endParaRPr lang="en-US" sz="3599" dirty="0"/>
          </a:p>
        </p:txBody>
      </p:sp>
      <p:sp>
        <p:nvSpPr>
          <p:cNvPr id="8" name="Text 5"/>
          <p:cNvSpPr/>
          <p:nvPr/>
        </p:nvSpPr>
        <p:spPr>
          <a:xfrm>
            <a:off x="501525" y="2926618"/>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504324"/>
            <a:ext cx="636676"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1.7</a:t>
            </a:r>
            <a:endParaRPr lang="en-US" sz="2999" dirty="0"/>
          </a:p>
        </p:txBody>
      </p:sp>
      <p:sp>
        <p:nvSpPr>
          <p:cNvPr id="10" name="Text 7"/>
          <p:cNvSpPr/>
          <p:nvPr/>
        </p:nvSpPr>
        <p:spPr>
          <a:xfrm>
            <a:off x="691977" y="4088378"/>
            <a:ext cx="811041"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15.72%</a:t>
            </a:r>
            <a:endParaRPr lang="en-US" sz="1500" dirty="0"/>
          </a:p>
        </p:txBody>
      </p:sp>
      <p:sp>
        <p:nvSpPr>
          <p:cNvPr id="11" name="Text 8"/>
          <p:cNvSpPr/>
          <p:nvPr/>
        </p:nvSpPr>
        <p:spPr>
          <a:xfrm>
            <a:off x="4365526" y="2926618"/>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504324"/>
            <a:ext cx="1216961"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3,249</a:t>
            </a:r>
            <a:endParaRPr lang="en-US" sz="2999" dirty="0"/>
          </a:p>
        </p:txBody>
      </p:sp>
      <p:sp>
        <p:nvSpPr>
          <p:cNvPr id="13" name="Text 10"/>
          <p:cNvSpPr/>
          <p:nvPr/>
        </p:nvSpPr>
        <p:spPr>
          <a:xfrm>
            <a:off x="4555978" y="4088378"/>
            <a:ext cx="992566"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200.02%</a:t>
            </a:r>
            <a:endParaRPr lang="en-US" sz="1500" dirty="0"/>
          </a:p>
        </p:txBody>
      </p:sp>
      <p:sp>
        <p:nvSpPr>
          <p:cNvPr id="14" name="Text 11"/>
          <p:cNvSpPr/>
          <p:nvPr/>
        </p:nvSpPr>
        <p:spPr>
          <a:xfrm>
            <a:off x="8229626" y="2926618"/>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504324"/>
            <a:ext cx="39823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0</a:t>
            </a:r>
            <a:endParaRPr lang="en-US" sz="2999" dirty="0"/>
          </a:p>
        </p:txBody>
      </p:sp>
      <p:sp>
        <p:nvSpPr>
          <p:cNvPr id="16" name="Text 13"/>
          <p:cNvSpPr/>
          <p:nvPr/>
        </p:nvSpPr>
        <p:spPr>
          <a:xfrm>
            <a:off x="8229626" y="4088378"/>
            <a:ext cx="464451"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0%</a:t>
            </a:r>
            <a:endParaRPr lang="en-US" sz="1500" dirty="0"/>
          </a:p>
        </p:txBody>
      </p:sp>
      <p:sp>
        <p:nvSpPr>
          <p:cNvPr id="17" name="Text 14"/>
          <p:cNvSpPr/>
          <p:nvPr/>
        </p:nvSpPr>
        <p:spPr>
          <a:xfrm>
            <a:off x="450737"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56170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122.3K Avg Reach / Post — holding steady.</a:t>
            </a:r>
            <a:endParaRPr lang="en-US" sz="2999" dirty="0"/>
          </a:p>
        </p:txBody>
      </p:sp>
      <p:sp>
        <p:nvSpPr>
          <p:cNvPr id="8" name="Text 5"/>
          <p:cNvSpPr/>
          <p:nvPr/>
        </p:nvSpPr>
        <p:spPr>
          <a:xfrm>
            <a:off x="374556" y="2882179"/>
            <a:ext cx="4022810"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Reach / Post and Avg Engagement Rate by Reach improved this period.</a:t>
            </a:r>
            <a:endParaRPr lang="en-US" sz="800" dirty="0"/>
          </a:p>
        </p:txBody>
      </p:sp>
      <p:sp>
        <p:nvSpPr>
          <p:cNvPr id="9" name="Text 6"/>
          <p:cNvSpPr/>
          <p:nvPr/>
        </p:nvSpPr>
        <p:spPr>
          <a:xfrm>
            <a:off x="374556" y="3891577"/>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177255"/>
            <a:ext cx="1139590"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122.3K</a:t>
            </a:r>
            <a:endParaRPr lang="en-US" sz="2399" dirty="0"/>
          </a:p>
        </p:txBody>
      </p:sp>
      <p:sp>
        <p:nvSpPr>
          <p:cNvPr id="11" name="Text 8"/>
          <p:cNvSpPr/>
          <p:nvPr/>
        </p:nvSpPr>
        <p:spPr>
          <a:xfrm>
            <a:off x="526918" y="4653386"/>
            <a:ext cx="807340"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579.02%</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456586"/>
            <a:ext cx="497631"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2.5</a:t>
            </a:r>
            <a:endParaRPr lang="en-US" sz="1800" dirty="0"/>
          </a:p>
        </p:txBody>
      </p:sp>
      <p:sp>
        <p:nvSpPr>
          <p:cNvPr id="14" name="Text 11"/>
          <p:cNvSpPr/>
          <p:nvPr/>
        </p:nvSpPr>
        <p:spPr>
          <a:xfrm>
            <a:off x="3589928"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725430"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26.99%</a:t>
            </a:r>
            <a:endParaRPr lang="en-US" sz="1200" dirty="0"/>
          </a:p>
        </p:txBody>
      </p:sp>
      <p:sp>
        <p:nvSpPr>
          <p:cNvPr id="16" name="Text 13"/>
          <p:cNvSpPr/>
          <p:nvPr/>
        </p:nvSpPr>
        <p:spPr>
          <a:xfrm>
            <a:off x="6399200"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7" name="Text 14"/>
          <p:cNvSpPr/>
          <p:nvPr/>
        </p:nvSpPr>
        <p:spPr>
          <a:xfrm>
            <a:off x="11417818" y="3237690"/>
            <a:ext cx="396577"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6.7M</a:t>
            </a:r>
            <a:endParaRPr lang="en-US" sz="800" dirty="0"/>
          </a:p>
        </p:txBody>
      </p:sp>
      <p:sp>
        <p:nvSpPr>
          <p:cNvPr id="18" name="Text 15"/>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9" name="Text 16"/>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56170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196.3K Avg Views / Post — a volatile period.</a:t>
            </a:r>
            <a:endParaRPr lang="en-US" sz="2999" dirty="0"/>
          </a:p>
        </p:txBody>
      </p:sp>
      <p:sp>
        <p:nvSpPr>
          <p:cNvPr id="8" name="Text 5"/>
          <p:cNvSpPr/>
          <p:nvPr/>
        </p:nvSpPr>
        <p:spPr>
          <a:xfrm>
            <a:off x="374556" y="2882179"/>
            <a:ext cx="4001980"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Views / Post and Avg Engagement Rate by Views improved this period.</a:t>
            </a:r>
            <a:endParaRPr lang="en-US" sz="800" dirty="0"/>
          </a:p>
        </p:txBody>
      </p:sp>
      <p:sp>
        <p:nvSpPr>
          <p:cNvPr id="9" name="Text 6"/>
          <p:cNvSpPr/>
          <p:nvPr/>
        </p:nvSpPr>
        <p:spPr>
          <a:xfrm>
            <a:off x="374556" y="3891577"/>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177255"/>
            <a:ext cx="1138102"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196.3K</a:t>
            </a:r>
            <a:endParaRPr lang="en-US" sz="2399" dirty="0"/>
          </a:p>
        </p:txBody>
      </p:sp>
      <p:sp>
        <p:nvSpPr>
          <p:cNvPr id="11" name="Text 8"/>
          <p:cNvSpPr/>
          <p:nvPr/>
        </p:nvSpPr>
        <p:spPr>
          <a:xfrm>
            <a:off x="526918" y="4653386"/>
            <a:ext cx="78673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159.26%</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456586"/>
            <a:ext cx="454333"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1.6</a:t>
            </a:r>
            <a:endParaRPr lang="en-US" sz="1800" dirty="0"/>
          </a:p>
        </p:txBody>
      </p:sp>
      <p:sp>
        <p:nvSpPr>
          <p:cNvPr id="14" name="Text 11"/>
          <p:cNvSpPr/>
          <p:nvPr/>
        </p:nvSpPr>
        <p:spPr>
          <a:xfrm>
            <a:off x="3546680"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725430"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26.99%</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504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73279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504</a:t>
            </a:r>
            <a:endParaRPr lang="en-US" sz="2399" dirty="0"/>
          </a:p>
        </p:txBody>
      </p:sp>
      <p:sp>
        <p:nvSpPr>
          <p:cNvPr id="11" name="Text 8"/>
          <p:cNvSpPr/>
          <p:nvPr/>
        </p:nvSpPr>
        <p:spPr>
          <a:xfrm>
            <a:off x="526918" y="4754961"/>
            <a:ext cx="717991"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64.73%</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61763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0.8</a:t>
            </a:r>
            <a:endParaRPr lang="en-US" sz="2399" dirty="0"/>
          </a:p>
        </p:txBody>
      </p:sp>
      <p:sp>
        <p:nvSpPr>
          <p:cNvPr id="14" name="Text 11"/>
          <p:cNvSpPr/>
          <p:nvPr/>
        </p:nvSpPr>
        <p:spPr>
          <a:xfrm>
            <a:off x="3336091" y="4754961"/>
            <a:ext cx="625740"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65.6%</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6454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20 Jun 2026 - 19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29866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21 May 2026 - 19 Jun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57817"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55</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2026-07-19T06:20:14Z</dcterms:created>
  <dcterms:modified xsi:type="dcterms:W3CDTF">2026-07-19T06:20:14Z</dcterms:modified>
</cp:coreProperties>
</file>