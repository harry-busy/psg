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65399"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VARDHMANJEWELS1985</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5589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@vardhmanjewels1985</a:t>
            </a:r>
            <a:endParaRPr lang="en-US" sz="1000" dirty="0"/>
          </a:p>
        </p:txBody>
      </p:sp>
      <p:sp>
        <p:nvSpPr>
          <p:cNvPr id="7" name="Text 4"/>
          <p:cNvSpPr/>
          <p:nvPr/>
        </p:nvSpPr>
        <p:spPr>
          <a:xfrm>
            <a:off x="1962255"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62255" y="6589652"/>
            <a:ext cx="1716030"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18 Jun 2026 - 17 Jul 2026</a:t>
            </a:r>
            <a:endParaRPr lang="en-US" sz="1000" dirty="0"/>
          </a:p>
        </p:txBody>
      </p:sp>
      <p:sp>
        <p:nvSpPr>
          <p:cNvPr id="9" name="Text 6"/>
          <p:cNvSpPr/>
          <p:nvPr/>
        </p:nvSpPr>
        <p:spPr>
          <a:xfrm>
            <a:off x="3830672"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30672" y="6589652"/>
            <a:ext cx="1793712"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19 May 2026 - 17 Jun 2026</a:t>
            </a:r>
            <a:endParaRPr lang="en-US" sz="1000" dirty="0"/>
          </a:p>
        </p:txBody>
      </p:sp>
      <p:sp>
        <p:nvSpPr>
          <p:cNvPr id="11" name="Text 8"/>
          <p:cNvSpPr/>
          <p:nvPr/>
        </p:nvSpPr>
        <p:spPr>
          <a:xfrm>
            <a:off x="577675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675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18 and July 17, VardhmanJewels' Instagram activity showed a decrease in most engagement metrics despite maintaining a consistent posting schedule, with 12 posts made during this period compared to 18 previously. The follower count updated to 4,973, establishing the community size during this timeframe.Engagement per post and daily averages dropped significantly, reflecting lower interaction levels, with likes and comments also following this downward trend. Reach and impressions nearly halved compared to the previous period, which impacted overall exposure and engagement rates.Video views fell sharply from over 19,000 to 3,559, indicating less traction on video content. Additionally, the earned media value and awareness contributions decreased notably, showing diminished earned media effectiveness.However, the use of hashtags per post slightly increased, possibly as an effort to enhance discoverability even though the overall reach fell.</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17188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0.18 %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9918"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57.77%</a:t>
            </a:r>
            <a:endParaRPr lang="en-US" sz="1800" dirty="0"/>
          </a:p>
        </p:txBody>
      </p:sp>
      <p:sp>
        <p:nvSpPr>
          <p:cNvPr id="10" name="Text 7"/>
          <p:cNvSpPr/>
          <p:nvPr/>
        </p:nvSpPr>
        <p:spPr>
          <a:xfrm>
            <a:off x="4547546" y="3916971"/>
            <a:ext cx="178224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8,130</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691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61.22%</a:t>
            </a:r>
            <a:endParaRPr lang="en-US" sz="1800" dirty="0"/>
          </a:p>
        </p:txBody>
      </p:sp>
      <p:sp>
        <p:nvSpPr>
          <p:cNvPr id="13" name="Text 10"/>
          <p:cNvSpPr/>
          <p:nvPr/>
        </p:nvSpPr>
        <p:spPr>
          <a:xfrm>
            <a:off x="8752378" y="3916971"/>
            <a:ext cx="18907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6,372</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9922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53.07%</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33.33%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45170"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a:t>
            </a:r>
            <a:endParaRPr lang="en-US" sz="2999" dirty="0"/>
          </a:p>
        </p:txBody>
      </p:sp>
      <p:sp>
        <p:nvSpPr>
          <p:cNvPr id="10" name="Text 7"/>
          <p:cNvSpPr/>
          <p:nvPr/>
        </p:nvSpPr>
        <p:spPr>
          <a:xfrm>
            <a:off x="691977" y="5104124"/>
            <a:ext cx="86786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33.33%</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78602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105</a:t>
            </a:r>
            <a:endParaRPr lang="en-US" sz="2999" dirty="0"/>
          </a:p>
        </p:txBody>
      </p:sp>
      <p:sp>
        <p:nvSpPr>
          <p:cNvPr id="13" name="Text 10"/>
          <p:cNvSpPr/>
          <p:nvPr/>
        </p:nvSpPr>
        <p:spPr>
          <a:xfrm>
            <a:off x="3590027"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96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8.8</a:t>
            </a:r>
            <a:endParaRPr lang="en-US" sz="2999" dirty="0"/>
          </a:p>
        </p:txBody>
      </p:sp>
      <p:sp>
        <p:nvSpPr>
          <p:cNvPr id="16" name="Text 13"/>
          <p:cNvSpPr/>
          <p:nvPr/>
        </p:nvSpPr>
        <p:spPr>
          <a:xfrm>
            <a:off x="6488078" y="5104124"/>
            <a:ext cx="8169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57.77%</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9" name="Text 16"/>
          <p:cNvSpPr/>
          <p:nvPr/>
        </p:nvSpPr>
        <p:spPr>
          <a:xfrm>
            <a:off x="9386128"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5641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50% of posts and 29%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97062" y="2805998"/>
            <a:ext cx="21733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9839" y="3237690"/>
            <a:ext cx="21455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19083" y="3669382"/>
            <a:ext cx="19531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6" name="Text 3"/>
          <p:cNvSpPr/>
          <p:nvPr/>
        </p:nvSpPr>
        <p:spPr>
          <a:xfrm>
            <a:off x="1422044"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7" name="Text 4"/>
          <p:cNvSpPr/>
          <p:nvPr/>
        </p:nvSpPr>
        <p:spPr>
          <a:xfrm>
            <a:off x="3032954"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Real stories, pure trust! ✨ (Vardhaman Jewels customer review, best...</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31946"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0.48%</a:t>
            </a:r>
            <a:endParaRPr lang="en-US" sz="900" dirty="0"/>
          </a:p>
        </p:txBody>
      </p:sp>
      <p:sp>
        <p:nvSpPr>
          <p:cNvPr id="13" name="Text 10"/>
          <p:cNvSpPr/>
          <p:nvPr/>
        </p:nvSpPr>
        <p:spPr>
          <a:xfrm>
            <a:off x="1091927" y="4862884"/>
            <a:ext cx="35238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930</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8190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395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579</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22" name="Text 19"/>
          <p:cNvSpPr/>
          <p:nvPr/>
        </p:nvSpPr>
        <p:spPr>
          <a:xfrm>
            <a:off x="5133683"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23" name="Text 20"/>
          <p:cNvSpPr/>
          <p:nvPr/>
        </p:nvSpPr>
        <p:spPr>
          <a:xfrm>
            <a:off x="6775244"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If you know , you know. That “hmm” isn’t just a sound ; it’s the sound...</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848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0.30%</a:t>
            </a:r>
            <a:endParaRPr lang="en-US" sz="900" dirty="0"/>
          </a:p>
        </p:txBody>
      </p:sp>
      <p:sp>
        <p:nvSpPr>
          <p:cNvPr id="29" name="Text 26"/>
          <p:cNvSpPr/>
          <p:nvPr/>
        </p:nvSpPr>
        <p:spPr>
          <a:xfrm>
            <a:off x="4803566" y="4862884"/>
            <a:ext cx="344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476</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648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3939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297</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38" name="Text 35"/>
          <p:cNvSpPr/>
          <p:nvPr/>
        </p:nvSpPr>
        <p:spPr>
          <a:xfrm>
            <a:off x="8845422"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39" name="Text 36"/>
          <p:cNvSpPr/>
          <p:nvPr/>
        </p:nvSpPr>
        <p:spPr>
          <a:xfrm>
            <a:off x="10504341"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The wait ends here. Unveiling our newest jewellery collection—crafte...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776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0.24%</a:t>
            </a:r>
            <a:endParaRPr lang="en-US" sz="900" dirty="0"/>
          </a:p>
        </p:txBody>
      </p:sp>
      <p:sp>
        <p:nvSpPr>
          <p:cNvPr id="45" name="Text 42"/>
          <p:cNvSpPr/>
          <p:nvPr/>
        </p:nvSpPr>
        <p:spPr>
          <a:xfrm>
            <a:off x="8515304" y="4862884"/>
            <a:ext cx="33076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801</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601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12</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298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499</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102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66331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102</a:t>
            </a:r>
            <a:endParaRPr lang="en-US" sz="2399" dirty="0"/>
          </a:p>
        </p:txBody>
      </p:sp>
      <p:sp>
        <p:nvSpPr>
          <p:cNvPr id="11" name="Text 8"/>
          <p:cNvSpPr/>
          <p:nvPr/>
        </p:nvSpPr>
        <p:spPr>
          <a:xfrm>
            <a:off x="526918" y="4754961"/>
            <a:ext cx="67908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71.67%</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34340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a:t>
            </a:r>
            <a:endParaRPr lang="en-US" sz="2399" dirty="0"/>
          </a:p>
        </p:txBody>
      </p:sp>
      <p:sp>
        <p:nvSpPr>
          <p:cNvPr id="14" name="Text 11"/>
          <p:cNvSpPr/>
          <p:nvPr/>
        </p:nvSpPr>
        <p:spPr>
          <a:xfrm>
            <a:off x="3336091" y="4754961"/>
            <a:ext cx="71412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76.92%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639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1.8</a:t>
            </a:r>
            <a:endParaRPr lang="en-US" sz="2999" dirty="0"/>
          </a:p>
        </p:txBody>
      </p:sp>
      <p:sp>
        <p:nvSpPr>
          <p:cNvPr id="10" name="Text 7"/>
          <p:cNvSpPr/>
          <p:nvPr/>
        </p:nvSpPr>
        <p:spPr>
          <a:xfrm>
            <a:off x="691977" y="4088378"/>
            <a:ext cx="74008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2.79%</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89110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12.8</a:t>
            </a:r>
            <a:endParaRPr lang="en-US" sz="2999" dirty="0"/>
          </a:p>
        </p:txBody>
      </p:sp>
      <p:sp>
        <p:nvSpPr>
          <p:cNvPr id="13" name="Text 10"/>
          <p:cNvSpPr/>
          <p:nvPr/>
        </p:nvSpPr>
        <p:spPr>
          <a:xfrm>
            <a:off x="4555978" y="4088378"/>
            <a:ext cx="823130"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65.61%</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531 Avg Reach / Post — declining this period.</a:t>
            </a:r>
            <a:endParaRPr lang="en-US" sz="2999" dirty="0"/>
          </a:p>
        </p:txBody>
      </p:sp>
      <p:sp>
        <p:nvSpPr>
          <p:cNvPr id="8" name="Text 5"/>
          <p:cNvSpPr/>
          <p:nvPr/>
        </p:nvSpPr>
        <p:spPr>
          <a:xfrm>
            <a:off x="374556" y="2882179"/>
            <a:ext cx="3985117"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declined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65363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531</a:t>
            </a:r>
            <a:endParaRPr lang="en-US" sz="2399" dirty="0"/>
          </a:p>
        </p:txBody>
      </p:sp>
      <p:sp>
        <p:nvSpPr>
          <p:cNvPr id="11" name="Text 8"/>
          <p:cNvSpPr/>
          <p:nvPr/>
        </p:nvSpPr>
        <p:spPr>
          <a:xfrm>
            <a:off x="526918" y="4653386"/>
            <a:ext cx="7122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53.07%</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3469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3.1</a:t>
            </a:r>
            <a:endParaRPr lang="en-US" sz="1800" dirty="0"/>
          </a:p>
        </p:txBody>
      </p:sp>
      <p:sp>
        <p:nvSpPr>
          <p:cNvPr id="14" name="Text 11"/>
          <p:cNvSpPr/>
          <p:nvPr/>
        </p:nvSpPr>
        <p:spPr>
          <a:xfrm>
            <a:off x="3527039"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02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10.43%</a:t>
            </a:r>
            <a:endParaRPr lang="en-US" sz="1200" dirty="0"/>
          </a:p>
        </p:txBody>
      </p:sp>
      <p:sp>
        <p:nvSpPr>
          <p:cNvPr id="16" name="Text 13"/>
          <p:cNvSpPr/>
          <p:nvPr/>
        </p:nvSpPr>
        <p:spPr>
          <a:xfrm>
            <a:off x="6399200"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7328" y="2805998"/>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18" name="Text 15"/>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527328" y="3237690"/>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527328" y="3669382"/>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677.5 Avg Views / Post — a volatile period.</a:t>
            </a:r>
            <a:endParaRPr lang="en-US" sz="2999" dirty="0"/>
          </a:p>
        </p:txBody>
      </p:sp>
      <p:sp>
        <p:nvSpPr>
          <p:cNvPr id="8" name="Text 5"/>
          <p:cNvSpPr/>
          <p:nvPr/>
        </p:nvSpPr>
        <p:spPr>
          <a:xfrm>
            <a:off x="374556" y="2882179"/>
            <a:ext cx="3964286"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declined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93291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677.5</a:t>
            </a:r>
            <a:endParaRPr lang="en-US" sz="2399" dirty="0"/>
          </a:p>
        </p:txBody>
      </p:sp>
      <p:sp>
        <p:nvSpPr>
          <p:cNvPr id="11" name="Text 8"/>
          <p:cNvSpPr/>
          <p:nvPr/>
        </p:nvSpPr>
        <p:spPr>
          <a:xfrm>
            <a:off x="526918" y="4653386"/>
            <a:ext cx="6968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41.83%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59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11.35%</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841040"/>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212671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0 Follower Growth — holding steady.</a:t>
            </a:r>
            <a:endParaRPr lang="en-US" sz="2999" dirty="0"/>
          </a:p>
        </p:txBody>
      </p:sp>
      <p:sp>
        <p:nvSpPr>
          <p:cNvPr id="8" name="Text 5"/>
          <p:cNvSpPr/>
          <p:nvPr/>
        </p:nvSpPr>
        <p:spPr>
          <a:xfrm>
            <a:off x="374556" y="3161509"/>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4170907"/>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1" name="Text 8"/>
          <p:cNvSpPr/>
          <p:nvPr/>
        </p:nvSpPr>
        <p:spPr>
          <a:xfrm>
            <a:off x="3183729" y="4170907"/>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2" name="Text 9"/>
          <p:cNvSpPr/>
          <p:nvPr/>
        </p:nvSpPr>
        <p:spPr>
          <a:xfrm>
            <a:off x="3183729"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405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18 Jun 2026 - 17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475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19 May 2026 - 17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271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12</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2026-07-17T10:21:52Z</dcterms:created>
  <dcterms:modified xsi:type="dcterms:W3CDTF">2026-07-17T10:21:52Z</dcterms:modified>
</cp:coreProperties>
</file>