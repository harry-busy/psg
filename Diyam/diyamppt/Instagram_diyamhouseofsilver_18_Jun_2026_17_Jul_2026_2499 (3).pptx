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094" y="2729817"/>
            <a:ext cx="149988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DIYAMHOUSEOFSILVER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33217" y="3091677"/>
            <a:ext cx="388890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Report</a:t>
            </a:r>
            <a:endParaRPr lang="en-US" sz="3599" dirty="0"/>
          </a:p>
        </p:txBody>
      </p:sp>
      <p:sp>
        <p:nvSpPr>
          <p:cNvPr id="5" name="Text 2"/>
          <p:cNvSpPr/>
          <p:nvPr/>
        </p:nvSpPr>
        <p:spPr>
          <a:xfrm>
            <a:off x="253937" y="6399200"/>
            <a:ext cx="595697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53937" y="6589652"/>
            <a:ext cx="146674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@diyamhouseofsilver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73079" y="6399200"/>
            <a:ext cx="69239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3079" y="6589652"/>
            <a:ext cx="171603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41496" y="6399200"/>
            <a:ext cx="1726235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1496" y="6589652"/>
            <a:ext cx="17937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82" y="6399200"/>
            <a:ext cx="85934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82" y="6589652"/>
            <a:ext cx="7597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34515" y="114271"/>
            <a:ext cx="267224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7713" y="139665"/>
            <a:ext cx="53075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9783" y="2221944"/>
            <a:ext cx="5713571" cy="23108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June 18 and July 17, 2026, DIYAMHOUSEOFSILVER's Instagram profile experienced modest follower growth, adding 4 new followers, though the growth rate slowed compared to the previous period. The account published 39 posts, a decrease from before, but successfully increased its use of hashtags per post significantly, which contributed to a broader reach and higher total impressions of 5,383.Engagement rates per post and per follower saw a slight decline, indicating somewhat less interaction per post despite the increased visibility. Video views more than doubled, highlighting strong interest in video content, especially reels, which also showed a rise in engagement with 31 reels posted.The earned media value increased to $179, demonstrating growing brand awareness and audience engagement value over the period.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387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6225" y="139665"/>
            <a:ext cx="53224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2814" y="1136366"/>
            <a:ext cx="159872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month, three numbers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814" y="1409348"/>
            <a:ext cx="862749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 positive period, with some room for improvement.</a:t>
            </a:r>
            <a:endParaRPr lang="en-US" sz="2999" dirty="0"/>
          </a:p>
        </p:txBody>
      </p:sp>
      <p:sp>
        <p:nvSpPr>
          <p:cNvPr id="7" name="Text 4"/>
          <p:cNvSpPr/>
          <p:nvPr/>
        </p:nvSpPr>
        <p:spPr>
          <a:xfrm>
            <a:off x="342814" y="3916971"/>
            <a:ext cx="2222416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1.26 %</a:t>
            </a:r>
            <a:endParaRPr lang="en-US" sz="4999" dirty="0"/>
          </a:p>
        </p:txBody>
      </p:sp>
      <p:sp>
        <p:nvSpPr>
          <p:cNvPr id="8" name="Text 5"/>
          <p:cNvSpPr/>
          <p:nvPr/>
        </p:nvSpPr>
        <p:spPr>
          <a:xfrm>
            <a:off x="342814" y="4856536"/>
            <a:ext cx="3093760" cy="4697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Engagement Rate by Followers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357" y="5485028"/>
            <a:ext cx="9174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47546" y="3916971"/>
            <a:ext cx="1926694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5,383</a:t>
            </a:r>
            <a:endParaRPr lang="en-US" sz="4999" dirty="0"/>
          </a:p>
        </p:txBody>
      </p:sp>
      <p:sp>
        <p:nvSpPr>
          <p:cNvPr id="11" name="Text 8"/>
          <p:cNvSpPr/>
          <p:nvPr/>
        </p:nvSpPr>
        <p:spPr>
          <a:xfrm>
            <a:off x="4547546" y="4856536"/>
            <a:ext cx="200267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Views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76089" y="5243789"/>
            <a:ext cx="924140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52378" y="3916971"/>
            <a:ext cx="1943743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3,383</a:t>
            </a:r>
            <a:endParaRPr lang="en-US" sz="4999" dirty="0"/>
          </a:p>
        </p:txBody>
      </p:sp>
      <p:sp>
        <p:nvSpPr>
          <p:cNvPr id="14" name="Text 11"/>
          <p:cNvSpPr/>
          <p:nvPr/>
        </p:nvSpPr>
        <p:spPr>
          <a:xfrm>
            <a:off x="8752378" y="4856536"/>
            <a:ext cx="202219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Reach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80921" y="5243789"/>
            <a:ext cx="100805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17421" y="6710272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964209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18197" y="114271"/>
            <a:ext cx="270483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PERFORMANCE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0769" y="139665"/>
            <a:ext cx="537637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171925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ENGAGEMENT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91346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posted 18.75% less, and engagement followed.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3472582"/>
            <a:ext cx="103786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4050287"/>
            <a:ext cx="63109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634341"/>
            <a:ext cx="81234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18.75%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99575" y="3472582"/>
            <a:ext cx="15992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ENGAGEMENT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9575" y="4050287"/>
            <a:ext cx="789001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3590027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7625" y="3472582"/>
            <a:ext cx="197435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POST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7625" y="4050287"/>
            <a:ext cx="723533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6488078" y="4634341"/>
            <a:ext cx="7489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9.66%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95676" y="3472582"/>
            <a:ext cx="186980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DAY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95676" y="4050287"/>
            <a:ext cx="734692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2999" dirty="0"/>
          </a:p>
        </p:txBody>
      </p:sp>
      <p:sp>
        <p:nvSpPr>
          <p:cNvPr id="19" name="Text 16"/>
          <p:cNvSpPr/>
          <p:nvPr/>
        </p:nvSpPr>
        <p:spPr>
          <a:xfrm>
            <a:off x="9386128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70887" y="139665"/>
            <a:ext cx="5275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1136366"/>
            <a:ext cx="152378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PUBLISHED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409348"/>
            <a:ext cx="5516770" cy="19616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made up the majority of posts published during this period.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374556" y="3497975"/>
            <a:ext cx="335118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accounted for 79% of posts and 93% of engagement.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9280" y="4374056"/>
            <a:ext cx="3862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49987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54408" y="3021844"/>
            <a:ext cx="25993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9987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96963" y="3453536"/>
            <a:ext cx="2173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1621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Adjustable Rakhi. Available in stock. Get yours before its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0787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94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021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61258" y="1022094"/>
            <a:ext cx="77743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21,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Earings Oxidise Finish. Available in Stock. For more detail...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2768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2816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69822" y="1022094"/>
            <a:ext cx="780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27,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oxadise Necklace. Available in stock. For more details Dm o...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2610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2863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296362" y="114271"/>
            <a:ext cx="174859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76045" y="139665"/>
            <a:ext cx="52238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280077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 Total Organic Likes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517817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 fell while Total Organic Comments held — Total Organic Comments is the bright spot.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84590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66092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24389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33453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COMMENTS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33611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0037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45611" y="114271"/>
            <a:ext cx="85004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6027" y="139665"/>
            <a:ext cx="53243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314126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for reels published during the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39839" cy="1022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was mixed — some metrics increased while others decreased.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2926618"/>
            <a:ext cx="1352807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REEL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3504324"/>
            <a:ext cx="75254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088378"/>
            <a:ext cx="86981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34.59%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5526" y="2926618"/>
            <a:ext cx="19314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REEL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65526" y="3504324"/>
            <a:ext cx="62960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4555978" y="4088378"/>
            <a:ext cx="726602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26" y="2926618"/>
            <a:ext cx="1378994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REEL LENGTH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26" y="3504324"/>
            <a:ext cx="39823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8229626" y="4088378"/>
            <a:ext cx="464451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0737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147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788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08909" y="114271"/>
            <a:ext cx="9234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29871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performance broken down by post 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 Avg Reach / Post — declining this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41482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 grew but Avg Engagement Rate by Reach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7391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78725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228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REACH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365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5979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728257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44.35%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99200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5940" y="3021844"/>
            <a:ext cx="2884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99200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9411" y="3453536"/>
            <a:ext cx="2849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30335" y="114271"/>
            <a:ext cx="880619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86275" y="139665"/>
            <a:ext cx="61221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1355646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138.0 Avg Views / Post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39399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 grew but Avg Engagement Rate by Views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4802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66167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3398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93.49%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VIEWS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187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4193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6182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398135" y="114271"/>
            <a:ext cx="15450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28928" y="139665"/>
            <a:ext cx="56953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301113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Follower Growth — growth slowing.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338529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Follower Growth and Followers Growth % declined this period.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720395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352337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31903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01076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 GROWTH 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571208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9225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44.71%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470054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390242" y="139665"/>
            <a:ext cx="6082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799900"/>
            <a:ext cx="317418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 and reference materials for this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072882"/>
            <a:ext cx="502898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&amp; Resources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749113" y="2609198"/>
            <a:ext cx="53742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751" y="2964709"/>
            <a:ext cx="46998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751" y="3212297"/>
            <a:ext cx="12405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6751" y="3447188"/>
            <a:ext cx="10937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6751" y="3694776"/>
            <a:ext cx="129475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6751" y="3929667"/>
            <a:ext cx="8828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Channel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751" y="4177255"/>
            <a:ext cx="570799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6751" y="4412147"/>
            <a:ext cx="18358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Analysis (posts analyzed)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751" y="4659735"/>
            <a:ext cx="26237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18495" y="2609198"/>
            <a:ext cx="8041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66133" y="2964709"/>
            <a:ext cx="77098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66133" y="3212297"/>
            <a:ext cx="237070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sum of likes and comments on the organic posts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266133" y="3447188"/>
            <a:ext cx="165971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 by Followers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66133" y="3694776"/>
            <a:ext cx="295192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divided by follower count, expressed as a percentage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266133" y="3929667"/>
            <a:ext cx="45807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66133" y="4177255"/>
            <a:ext cx="225678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unique accounts that saw your content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266133" y="4412147"/>
            <a:ext cx="45242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66133" y="4659735"/>
            <a:ext cx="224511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times your content was displayed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59285" y="2571107"/>
            <a:ext cx="79185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06923" y="2926618"/>
            <a:ext cx="10303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Blog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06923" y="3174206"/>
            <a:ext cx="98910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socialinsider.io/blog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106923" y="3409098"/>
            <a:ext cx="139506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Help Center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06923" y="3656686"/>
            <a:ext cx="15274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https://howto.socialinsider.io/en/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106923" y="3891577"/>
            <a:ext cx="118135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Studies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06923" y="4139165"/>
            <a:ext cx="164579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https://www.socialinsider.io/reports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2026-07-17T04:40:56Z</dcterms:created>
  <dcterms:modified xsi:type="dcterms:W3CDTF">2026-07-17T04:40:56Z</dcterms:modified>
</cp:coreProperties>
</file>