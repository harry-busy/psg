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2094" y="2729817"/>
            <a:ext cx="149988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DIYAMHOUSEOFSILVER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933217" y="3091677"/>
            <a:ext cx="388890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Report</a:t>
            </a:r>
            <a:endParaRPr lang="en-US" sz="3599" dirty="0"/>
          </a:p>
        </p:txBody>
      </p:sp>
      <p:sp>
        <p:nvSpPr>
          <p:cNvPr id="5" name="Text 2"/>
          <p:cNvSpPr/>
          <p:nvPr/>
        </p:nvSpPr>
        <p:spPr>
          <a:xfrm>
            <a:off x="253937" y="6399200"/>
            <a:ext cx="595697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53937" y="6589652"/>
            <a:ext cx="146674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@diyamhouseofsilver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873079" y="6399200"/>
            <a:ext cx="69239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73079" y="6589652"/>
            <a:ext cx="171603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41496" y="6399200"/>
            <a:ext cx="1726235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1496" y="6589652"/>
            <a:ext cx="179371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687582" y="6399200"/>
            <a:ext cx="859342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87582" y="6589652"/>
            <a:ext cx="7597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34515" y="114271"/>
            <a:ext cx="267224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7713" y="139665"/>
            <a:ext cx="53075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69783" y="2221944"/>
            <a:ext cx="5713571" cy="231082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June 18 and July 17, 2026, DIYAMHOUSEOFSILVER's Instagram profile experienced modest follower growth, adding 4 new followers, though the growth rate slowed compared to the previous period. The account published 39 posts, a decrease from before, but successfully increased its use of hashtags per post significantly, which contributed to a broader reach and higher total impressions of 5,383.Engagement rates per post and per follower saw a slight decline, indicating somewhat less interaction per post despite the increased visibility. Video views more than doubled, highlighting strong interest in video content, especially reels, which also showed a rise in engagement with 31 reels posted.The earned media value increased to $179, demonstrating growing brand awareness and audience engagement value over the period.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387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6225" y="139665"/>
            <a:ext cx="53224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42814" y="1136366"/>
            <a:ext cx="159872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DDDC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month, three numbers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42814" y="1409348"/>
            <a:ext cx="862749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 positive period, with some room for improvement.</a:t>
            </a:r>
            <a:endParaRPr lang="en-US" sz="2999" dirty="0"/>
          </a:p>
        </p:txBody>
      </p:sp>
      <p:sp>
        <p:nvSpPr>
          <p:cNvPr id="7" name="Text 4"/>
          <p:cNvSpPr/>
          <p:nvPr/>
        </p:nvSpPr>
        <p:spPr>
          <a:xfrm>
            <a:off x="342814" y="3916971"/>
            <a:ext cx="2222416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1.26 %</a:t>
            </a:r>
            <a:endParaRPr lang="en-US" sz="4999" dirty="0"/>
          </a:p>
        </p:txBody>
      </p:sp>
      <p:sp>
        <p:nvSpPr>
          <p:cNvPr id="8" name="Text 5"/>
          <p:cNvSpPr/>
          <p:nvPr/>
        </p:nvSpPr>
        <p:spPr>
          <a:xfrm>
            <a:off x="342814" y="4856536"/>
            <a:ext cx="3093760" cy="46978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Engagement Rate by Followers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1357" y="5485028"/>
            <a:ext cx="9174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11.59%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47546" y="3916971"/>
            <a:ext cx="1926694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5,383</a:t>
            </a:r>
            <a:endParaRPr lang="en-US" sz="4999" dirty="0"/>
          </a:p>
        </p:txBody>
      </p:sp>
      <p:sp>
        <p:nvSpPr>
          <p:cNvPr id="11" name="Text 8"/>
          <p:cNvSpPr/>
          <p:nvPr/>
        </p:nvSpPr>
        <p:spPr>
          <a:xfrm>
            <a:off x="4547546" y="4856536"/>
            <a:ext cx="200267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Views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776089" y="5243789"/>
            <a:ext cx="924140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57.21%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752378" y="3916971"/>
            <a:ext cx="1943743" cy="76815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999" b="1" dirty="0">
                <a:solidFill>
                  <a:srgbClr val="A79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3,383</a:t>
            </a:r>
            <a:endParaRPr lang="en-US" sz="4999" dirty="0"/>
          </a:p>
        </p:txBody>
      </p:sp>
      <p:sp>
        <p:nvSpPr>
          <p:cNvPr id="14" name="Text 11"/>
          <p:cNvSpPr/>
          <p:nvPr/>
        </p:nvSpPr>
        <p:spPr>
          <a:xfrm>
            <a:off x="8752378" y="4856536"/>
            <a:ext cx="202219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FEF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Organic Posts Reach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980921" y="5243789"/>
            <a:ext cx="1008058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17421" y="6710272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964209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818197" y="114271"/>
            <a:ext cx="270483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PERFORMANCE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0769" y="139665"/>
            <a:ext cx="537637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1719254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POSTS TO ENGAGEMENT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91346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posted 18.75% less, and engagement followed.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3472582"/>
            <a:ext cx="103786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POSTS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4050287"/>
            <a:ext cx="63109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634341"/>
            <a:ext cx="81234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18.75%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399575" y="3472582"/>
            <a:ext cx="15992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ENGAGEMENT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99575" y="4050287"/>
            <a:ext cx="789001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3590027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97625" y="3472582"/>
            <a:ext cx="197435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POST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97625" y="4050287"/>
            <a:ext cx="723533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6488078" y="4634341"/>
            <a:ext cx="7489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9.66%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95676" y="3472582"/>
            <a:ext cx="1869806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DAY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95676" y="4050287"/>
            <a:ext cx="734692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</a:t>
            </a:r>
            <a:endParaRPr lang="en-US" sz="2999" dirty="0"/>
          </a:p>
        </p:txBody>
      </p:sp>
      <p:sp>
        <p:nvSpPr>
          <p:cNvPr id="19" name="Text 16"/>
          <p:cNvSpPr/>
          <p:nvPr/>
        </p:nvSpPr>
        <p:spPr>
          <a:xfrm>
            <a:off x="9386128" y="4634341"/>
            <a:ext cx="7452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26.6%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70887" y="139665"/>
            <a:ext cx="52759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1136366"/>
            <a:ext cx="152378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PUBLISHED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409348"/>
            <a:ext cx="5516770" cy="19616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made up the majority of posts published during this period.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374556" y="3497975"/>
            <a:ext cx="3351181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 accounted for 79% of posts and 93% of engagement.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9280" y="4374056"/>
            <a:ext cx="3862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449987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54408" y="3021844"/>
            <a:ext cx="25993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49987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96963" y="3453536"/>
            <a:ext cx="2173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796576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CONTENT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422044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422044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61621" y="1022094"/>
            <a:ext cx="76533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02, 2026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181646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142714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91927" y="4253436"/>
            <a:ext cx="2581622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Adjustable Rakhi. Available in stock. Get yours before its ...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218895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2966792" y="4539115"/>
            <a:ext cx="520787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2.85%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91927" y="4862884"/>
            <a:ext cx="35094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208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91927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966792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66792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091927" y="5193001"/>
            <a:ext cx="19615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91927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2966792" y="5193001"/>
            <a:ext cx="33021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966792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133683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133683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761258" y="1022094"/>
            <a:ext cx="77743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21, 2026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893384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854353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803566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Earings Oxidise Finish. Available in Stock. For more detail...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30534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78431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803566" y="4862884"/>
            <a:ext cx="32768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03566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678431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431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03566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03566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678431" y="5193001"/>
            <a:ext cx="28166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8431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8845422" y="1015746"/>
            <a:ext cx="139699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...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45422" y="1187153"/>
            <a:ext cx="664906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281 followers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469822" y="1022094"/>
            <a:ext cx="780607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27, 2026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605122" y="1180805"/>
            <a:ext cx="542603" cy="1015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7777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post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8566092" y="1479180"/>
            <a:ext cx="311847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8515304" y="4253436"/>
            <a:ext cx="2581721" cy="2348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925 silver oxadise Necklace. Available in stock. For more details Dm o...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8642272" y="4551812"/>
            <a:ext cx="1064270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390169" y="4539115"/>
            <a:ext cx="530049" cy="13331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2.49%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515304" y="4862884"/>
            <a:ext cx="32610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515304" y="5008897"/>
            <a:ext cx="45067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0390169" y="4862884"/>
            <a:ext cx="2114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0390169" y="5008897"/>
            <a:ext cx="4100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LIKES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8515304" y="5193001"/>
            <a:ext cx="22085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515304" y="5339015"/>
            <a:ext cx="70175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10390169" y="5193001"/>
            <a:ext cx="32863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0390169" y="5339015"/>
            <a:ext cx="465778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1E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296362" y="114271"/>
            <a:ext cx="174859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76045" y="139665"/>
            <a:ext cx="522386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280077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 Total Organic Likes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517817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 fell while Total Organic Comments held — Total Organic Comments is the bright spot.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84590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LIKES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66092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133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24389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28.88%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33453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ORGANIC COMMENTS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336119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0037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45611" y="114271"/>
            <a:ext cx="850043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6027" y="139665"/>
            <a:ext cx="53243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136366"/>
            <a:ext cx="314126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metrics for reels published during the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409348"/>
            <a:ext cx="11439839" cy="102209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Reels was mixed — some metrics increased while others decreased.</a:t>
            </a:r>
            <a:endParaRPr lang="en-US" sz="3599" dirty="0"/>
          </a:p>
        </p:txBody>
      </p:sp>
      <p:sp>
        <p:nvSpPr>
          <p:cNvPr id="8" name="Text 5"/>
          <p:cNvSpPr/>
          <p:nvPr/>
        </p:nvSpPr>
        <p:spPr>
          <a:xfrm>
            <a:off x="501525" y="2926618"/>
            <a:ext cx="1352807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REEL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1525" y="3504324"/>
            <a:ext cx="752547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</a:t>
            </a:r>
            <a:endParaRPr lang="en-US" sz="2999" dirty="0"/>
          </a:p>
        </p:txBody>
      </p:sp>
      <p:sp>
        <p:nvSpPr>
          <p:cNvPr id="10" name="Text 7"/>
          <p:cNvSpPr/>
          <p:nvPr/>
        </p:nvSpPr>
        <p:spPr>
          <a:xfrm>
            <a:off x="691977" y="4088378"/>
            <a:ext cx="869813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34.59%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65526" y="2926618"/>
            <a:ext cx="1931405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/ REEL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65526" y="3504324"/>
            <a:ext cx="62960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</a:t>
            </a:r>
            <a:endParaRPr lang="en-US" sz="2999" dirty="0"/>
          </a:p>
        </p:txBody>
      </p:sp>
      <p:sp>
        <p:nvSpPr>
          <p:cNvPr id="13" name="Text 10"/>
          <p:cNvSpPr/>
          <p:nvPr/>
        </p:nvSpPr>
        <p:spPr>
          <a:xfrm>
            <a:off x="4555978" y="4088378"/>
            <a:ext cx="726602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27.4%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26" y="2926618"/>
            <a:ext cx="1378994" cy="4570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REEL LENGTH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26" y="3504324"/>
            <a:ext cx="398239" cy="4570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99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999" dirty="0"/>
          </a:p>
        </p:txBody>
      </p:sp>
      <p:sp>
        <p:nvSpPr>
          <p:cNvPr id="16" name="Text 13"/>
          <p:cNvSpPr/>
          <p:nvPr/>
        </p:nvSpPr>
        <p:spPr>
          <a:xfrm>
            <a:off x="8229626" y="4088378"/>
            <a:ext cx="464451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BAF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0737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3147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178838" y="4691477"/>
            <a:ext cx="78750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Observation: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08909" y="114271"/>
            <a:ext cx="923471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65729" y="139665"/>
            <a:ext cx="53270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2987139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performance broken down by post type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 Avg Reach / Post — declining this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41482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 grew but Avg Engagement Rate by Reach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7391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REACH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78725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86.7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228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40.37%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REACH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365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5979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728257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44.35%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99200" y="3021844"/>
            <a:ext cx="36404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1525940" y="3021844"/>
            <a:ext cx="28840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3K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399200" y="3453536"/>
            <a:ext cx="4538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529411" y="3453536"/>
            <a:ext cx="28498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730335" y="114271"/>
            <a:ext cx="880619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386275" y="139665"/>
            <a:ext cx="612219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561709"/>
            <a:ext cx="1355646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performance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847388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138.0 Avg Views / Post — a volatile period.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882179"/>
            <a:ext cx="439399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 grew but Avg Engagement Rate by Views dropped — worth monitoring.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891577"/>
            <a:ext cx="1548021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VIEWS / POST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177255"/>
            <a:ext cx="661673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138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653386"/>
            <a:ext cx="73398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7BC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93.49%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891577"/>
            <a:ext cx="2529842" cy="3872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ENGAGEMENT RATE BY VIEWS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456586"/>
            <a:ext cx="50187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94193" y="4456586"/>
            <a:ext cx="379342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336091" y="4856536"/>
            <a:ext cx="618226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2946097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DIYAM HOUSE OF SILVER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5398135" y="114271"/>
            <a:ext cx="1545045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428928" y="139665"/>
            <a:ext cx="569534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11/12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74556" y="1663284"/>
            <a:ext cx="301113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 trend over the selected period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74556" y="1948963"/>
            <a:ext cx="5465983" cy="8506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2999" b="1" dirty="0">
                <a:solidFill>
                  <a:srgbClr val="3E3E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Follower Growth — growth slowing.</a:t>
            </a:r>
            <a:endParaRPr lang="en-US" sz="2999" dirty="0"/>
          </a:p>
        </p:txBody>
      </p:sp>
      <p:sp>
        <p:nvSpPr>
          <p:cNvPr id="8" name="Text 5"/>
          <p:cNvSpPr/>
          <p:nvPr/>
        </p:nvSpPr>
        <p:spPr>
          <a:xfrm>
            <a:off x="374556" y="2983754"/>
            <a:ext cx="338529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B5B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Follower Growth and Followers Growth % declined this period.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74556" y="3993151"/>
            <a:ext cx="1720395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 GROWTH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556" y="4278830"/>
            <a:ext cx="352337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399" dirty="0"/>
          </a:p>
        </p:txBody>
      </p:sp>
      <p:sp>
        <p:nvSpPr>
          <p:cNvPr id="11" name="Text 8"/>
          <p:cNvSpPr/>
          <p:nvPr/>
        </p:nvSpPr>
        <p:spPr>
          <a:xfrm>
            <a:off x="526918" y="4754961"/>
            <a:ext cx="731903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42.86%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183729" y="3993151"/>
            <a:ext cx="201076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828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FOLLOWERS GROWTH 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83729" y="4278830"/>
            <a:ext cx="571208" cy="3745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99" dirty="0">
                <a:solidFill>
                  <a:srgbClr val="6D57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</a:t>
            </a:r>
            <a:endParaRPr lang="en-US" sz="2399" dirty="0"/>
          </a:p>
        </p:txBody>
      </p:sp>
      <p:sp>
        <p:nvSpPr>
          <p:cNvPr id="14" name="Text 11"/>
          <p:cNvSpPr/>
          <p:nvPr/>
        </p:nvSpPr>
        <p:spPr>
          <a:xfrm>
            <a:off x="3336091" y="4754961"/>
            <a:ext cx="692250" cy="1841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24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44.71%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814" y="114271"/>
            <a:ext cx="1470054" cy="2793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1390242" y="139665"/>
            <a:ext cx="608220" cy="2285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12/12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74556" y="799900"/>
            <a:ext cx="3174181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 and reference materials for this report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74556" y="1072882"/>
            <a:ext cx="5028984" cy="5523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3599" b="1" dirty="0">
                <a:solidFill>
                  <a:srgbClr val="0808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Glossary &amp; Resources</a:t>
            </a:r>
            <a:endParaRPr lang="en-US" sz="3599" dirty="0"/>
          </a:p>
        </p:txBody>
      </p:sp>
      <p:sp>
        <p:nvSpPr>
          <p:cNvPr id="7" name="Text 4"/>
          <p:cNvSpPr/>
          <p:nvPr/>
        </p:nvSpPr>
        <p:spPr>
          <a:xfrm>
            <a:off x="749113" y="2609198"/>
            <a:ext cx="537420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6751" y="2964709"/>
            <a:ext cx="469981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6751" y="3212297"/>
            <a:ext cx="12405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Jun 2026 - 17 Jul 2026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96751" y="3447188"/>
            <a:ext cx="109376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 Period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6751" y="3694776"/>
            <a:ext cx="129475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May 2026 - 17 Jun 2026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6751" y="3929667"/>
            <a:ext cx="882826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Channel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6751" y="4177255"/>
            <a:ext cx="570799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6751" y="4412147"/>
            <a:ext cx="1835832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Analysis (posts analyzed)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6751" y="4659735"/>
            <a:ext cx="26237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418495" y="2609198"/>
            <a:ext cx="8041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66133" y="2964709"/>
            <a:ext cx="770985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66133" y="3212297"/>
            <a:ext cx="237070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sum of likes and comments on the organic posts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266133" y="3447188"/>
            <a:ext cx="1659713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Rate by Followers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66133" y="3694776"/>
            <a:ext cx="295192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divided by follower count, expressed as a percentage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266133" y="3929667"/>
            <a:ext cx="45807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66133" y="4177255"/>
            <a:ext cx="225678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 of unique accounts that saw your content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266133" y="4412147"/>
            <a:ext cx="45242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66133" y="4659735"/>
            <a:ext cx="2245112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number of times your content was displayed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8259285" y="2571107"/>
            <a:ext cx="79185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106923" y="2926618"/>
            <a:ext cx="1030328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Blog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106923" y="3174206"/>
            <a:ext cx="989106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socialinsider.io/blog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106923" y="3409098"/>
            <a:ext cx="1395064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Help Center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8106923" y="3656686"/>
            <a:ext cx="1527494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https://howto.socialinsider.io/en/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8106923" y="3891577"/>
            <a:ext cx="1181350" cy="1269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Socialinsider Studies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106923" y="4139165"/>
            <a:ext cx="1645795" cy="107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513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https://www.socialinsider.io/reports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317421" y="6335716"/>
            <a:ext cx="1433328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Socialinsider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17421" y="6589652"/>
            <a:ext cx="2452793" cy="152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8A8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range: 18 Jun 2026 - 17 Jul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2026-07-17T04:40:15Z</dcterms:created>
  <dcterms:modified xsi:type="dcterms:W3CDTF">2026-07-17T04:40:15Z</dcterms:modified>
</cp:coreProperties>
</file>